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67" r:id="rId3"/>
    <p:sldId id="257" r:id="rId4"/>
    <p:sldId id="259" r:id="rId5"/>
    <p:sldId id="296" r:id="rId6"/>
    <p:sldId id="263" r:id="rId7"/>
    <p:sldId id="270" r:id="rId8"/>
    <p:sldId id="271" r:id="rId9"/>
    <p:sldId id="272" r:id="rId10"/>
    <p:sldId id="273" r:id="rId11"/>
    <p:sldId id="274" r:id="rId12"/>
    <p:sldId id="275" r:id="rId13"/>
    <p:sldId id="276" r:id="rId14"/>
    <p:sldId id="277" r:id="rId15"/>
    <p:sldId id="279" r:id="rId16"/>
    <p:sldId id="280" r:id="rId17"/>
    <p:sldId id="293" r:id="rId18"/>
    <p:sldId id="268" r:id="rId19"/>
    <p:sldId id="258" r:id="rId20"/>
    <p:sldId id="289" r:id="rId21"/>
    <p:sldId id="290" r:id="rId22"/>
    <p:sldId id="269" r:id="rId23"/>
    <p:sldId id="291" r:id="rId24"/>
    <p:sldId id="311" r:id="rId25"/>
    <p:sldId id="281" r:id="rId26"/>
    <p:sldId id="282" r:id="rId27"/>
    <p:sldId id="304" r:id="rId28"/>
    <p:sldId id="285" r:id="rId29"/>
    <p:sldId id="300" r:id="rId30"/>
    <p:sldId id="298" r:id="rId31"/>
    <p:sldId id="305" r:id="rId32"/>
    <p:sldId id="299" r:id="rId33"/>
    <p:sldId id="302" r:id="rId34"/>
    <p:sldId id="301" r:id="rId35"/>
    <p:sldId id="306" r:id="rId36"/>
    <p:sldId id="264" r:id="rId37"/>
    <p:sldId id="308" r:id="rId38"/>
    <p:sldId id="307" r:id="rId39"/>
    <p:sldId id="309" r:id="rId40"/>
    <p:sldId id="310" r:id="rId41"/>
    <p:sldId id="312" r:id="rId42"/>
    <p:sldId id="313" r:id="rId43"/>
    <p:sldId id="314" r:id="rId44"/>
    <p:sldId id="315" r:id="rId45"/>
    <p:sldId id="316" r:id="rId46"/>
    <p:sldId id="297" r:id="rId47"/>
    <p:sldId id="294" r:id="rId48"/>
    <p:sldId id="295" r:id="rId49"/>
    <p:sldId id="262"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D563-3A55-4CB0-B32F-9004DC49904C}" type="datetimeFigureOut">
              <a:rPr lang="en-IN" smtClean="0"/>
              <a:t>30-12-2025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3FA91-85EA-4470-9236-12B1581D8B7E}" type="slidenum">
              <a:rPr lang="en-IN" smtClean="0"/>
              <a:t>‹#›</a:t>
            </a:fld>
            <a:endParaRPr lang="en-IN"/>
          </a:p>
        </p:txBody>
      </p:sp>
    </p:spTree>
    <p:extLst>
      <p:ext uri="{BB962C8B-B14F-4D97-AF65-F5344CB8AC3E}">
        <p14:creationId xmlns:p14="http://schemas.microsoft.com/office/powerpoint/2010/main" val="1349938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5D3FA91-85EA-4470-9236-12B1581D8B7E}" type="slidenum">
              <a:rPr lang="en-IN" smtClean="0"/>
              <a:t>36</a:t>
            </a:fld>
            <a:endParaRPr lang="en-IN"/>
          </a:p>
        </p:txBody>
      </p:sp>
    </p:spTree>
    <p:extLst>
      <p:ext uri="{BB962C8B-B14F-4D97-AF65-F5344CB8AC3E}">
        <p14:creationId xmlns:p14="http://schemas.microsoft.com/office/powerpoint/2010/main" val="3875630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309D-F763-8B90-AC93-047BB8BF2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857E0-5C0F-296F-0492-CE7803998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66112-7D30-7B86-0BB3-24470F1D71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7C605CA-A646-96D3-9F0F-C73323C3FFD0}"/>
              </a:ext>
            </a:extLst>
          </p:cNvPr>
          <p:cNvSpPr>
            <a:spLocks noGrp="1"/>
          </p:cNvSpPr>
          <p:nvPr>
            <p:ph type="sldNum" sz="quarter" idx="5"/>
          </p:nvPr>
        </p:nvSpPr>
        <p:spPr/>
        <p:txBody>
          <a:bodyPr/>
          <a:lstStyle/>
          <a:p>
            <a:fld id="{75D3FA91-85EA-4470-9236-12B1581D8B7E}" type="slidenum">
              <a:rPr lang="en-IN" smtClean="0"/>
              <a:t>37</a:t>
            </a:fld>
            <a:endParaRPr lang="en-IN"/>
          </a:p>
        </p:txBody>
      </p:sp>
    </p:spTree>
    <p:extLst>
      <p:ext uri="{BB962C8B-B14F-4D97-AF65-F5344CB8AC3E}">
        <p14:creationId xmlns:p14="http://schemas.microsoft.com/office/powerpoint/2010/main" val="2648167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8A777-041C-C180-8743-B517656F2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A8CAE-90B5-D1C8-16F1-62191F2BCA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B5FCE-C1E2-0DAB-7242-F6252C28C30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146295C-A170-E4F3-CFB9-FC783AFD80A2}"/>
              </a:ext>
            </a:extLst>
          </p:cNvPr>
          <p:cNvSpPr>
            <a:spLocks noGrp="1"/>
          </p:cNvSpPr>
          <p:nvPr>
            <p:ph type="sldNum" sz="quarter" idx="5"/>
          </p:nvPr>
        </p:nvSpPr>
        <p:spPr/>
        <p:txBody>
          <a:bodyPr/>
          <a:lstStyle/>
          <a:p>
            <a:fld id="{75D3FA91-85EA-4470-9236-12B1581D8B7E}" type="slidenum">
              <a:rPr lang="en-IN" smtClean="0"/>
              <a:t>38</a:t>
            </a:fld>
            <a:endParaRPr lang="en-IN"/>
          </a:p>
        </p:txBody>
      </p:sp>
    </p:spTree>
    <p:extLst>
      <p:ext uri="{BB962C8B-B14F-4D97-AF65-F5344CB8AC3E}">
        <p14:creationId xmlns:p14="http://schemas.microsoft.com/office/powerpoint/2010/main" val="4106977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98A22-0825-4BD5-3450-588D42DE0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A62B8-B777-1E53-18B7-B5F0AFA5E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3A15B-7734-795B-66DC-F5B7EAA7D5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DCCB60-E209-A8B7-C21E-38B6E889D058}"/>
              </a:ext>
            </a:extLst>
          </p:cNvPr>
          <p:cNvSpPr>
            <a:spLocks noGrp="1"/>
          </p:cNvSpPr>
          <p:nvPr>
            <p:ph type="sldNum" sz="quarter" idx="5"/>
          </p:nvPr>
        </p:nvSpPr>
        <p:spPr/>
        <p:txBody>
          <a:bodyPr/>
          <a:lstStyle/>
          <a:p>
            <a:fld id="{75D3FA91-85EA-4470-9236-12B1581D8B7E}" type="slidenum">
              <a:rPr lang="en-IN" smtClean="0"/>
              <a:t>39</a:t>
            </a:fld>
            <a:endParaRPr lang="en-IN"/>
          </a:p>
        </p:txBody>
      </p:sp>
    </p:spTree>
    <p:extLst>
      <p:ext uri="{BB962C8B-B14F-4D97-AF65-F5344CB8AC3E}">
        <p14:creationId xmlns:p14="http://schemas.microsoft.com/office/powerpoint/2010/main" val="2725421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5D3FA91-85EA-4470-9236-12B1581D8B7E}" type="slidenum">
              <a:rPr lang="en-IN" smtClean="0"/>
              <a:t>42</a:t>
            </a:fld>
            <a:endParaRPr lang="en-IN"/>
          </a:p>
        </p:txBody>
      </p:sp>
    </p:spTree>
    <p:extLst>
      <p:ext uri="{BB962C8B-B14F-4D97-AF65-F5344CB8AC3E}">
        <p14:creationId xmlns:p14="http://schemas.microsoft.com/office/powerpoint/2010/main" val="3295804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35EDC-8156-08D4-0EA9-064EF8388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8BCFC-E85A-A510-14B5-DC6879726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93914-A83B-3972-F41E-F76625D6FD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13DABA8-5543-04E6-6EE2-AA2385803185}"/>
              </a:ext>
            </a:extLst>
          </p:cNvPr>
          <p:cNvSpPr>
            <a:spLocks noGrp="1"/>
          </p:cNvSpPr>
          <p:nvPr>
            <p:ph type="sldNum" sz="quarter" idx="5"/>
          </p:nvPr>
        </p:nvSpPr>
        <p:spPr/>
        <p:txBody>
          <a:bodyPr/>
          <a:lstStyle/>
          <a:p>
            <a:fld id="{75D3FA91-85EA-4470-9236-12B1581D8B7E}" type="slidenum">
              <a:rPr lang="en-IN" smtClean="0"/>
              <a:t>43</a:t>
            </a:fld>
            <a:endParaRPr lang="en-IN"/>
          </a:p>
        </p:txBody>
      </p:sp>
    </p:spTree>
    <p:extLst>
      <p:ext uri="{BB962C8B-B14F-4D97-AF65-F5344CB8AC3E}">
        <p14:creationId xmlns:p14="http://schemas.microsoft.com/office/powerpoint/2010/main" val="4119226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C490F-8E04-7C82-A97E-38E8CA7FC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249E9-6F56-7E7C-187A-7629E8293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250E7-5C72-F142-4643-DB910915A4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A6BCE2-FDCC-69CD-F84B-CA721E4672B3}"/>
              </a:ext>
            </a:extLst>
          </p:cNvPr>
          <p:cNvSpPr>
            <a:spLocks noGrp="1"/>
          </p:cNvSpPr>
          <p:nvPr>
            <p:ph type="sldNum" sz="quarter" idx="5"/>
          </p:nvPr>
        </p:nvSpPr>
        <p:spPr/>
        <p:txBody>
          <a:bodyPr/>
          <a:lstStyle/>
          <a:p>
            <a:fld id="{75D3FA91-85EA-4470-9236-12B1581D8B7E}" type="slidenum">
              <a:rPr lang="en-IN" smtClean="0"/>
              <a:t>44</a:t>
            </a:fld>
            <a:endParaRPr lang="en-IN"/>
          </a:p>
        </p:txBody>
      </p:sp>
    </p:spTree>
    <p:extLst>
      <p:ext uri="{BB962C8B-B14F-4D97-AF65-F5344CB8AC3E}">
        <p14:creationId xmlns:p14="http://schemas.microsoft.com/office/powerpoint/2010/main" val="3353868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33684-7476-D07A-DE2C-D11E0A40A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B3010-4D20-9D46-9E2A-0808583E5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2B87D-46BA-8817-1ABE-3603C9BDB96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4F2353-8991-3F06-F5A6-2BB038EDC502}"/>
              </a:ext>
            </a:extLst>
          </p:cNvPr>
          <p:cNvSpPr>
            <a:spLocks noGrp="1"/>
          </p:cNvSpPr>
          <p:nvPr>
            <p:ph type="sldNum" sz="quarter" idx="5"/>
          </p:nvPr>
        </p:nvSpPr>
        <p:spPr/>
        <p:txBody>
          <a:bodyPr/>
          <a:lstStyle/>
          <a:p>
            <a:fld id="{75D3FA91-85EA-4470-9236-12B1581D8B7E}" type="slidenum">
              <a:rPr lang="en-IN" smtClean="0"/>
              <a:t>45</a:t>
            </a:fld>
            <a:endParaRPr lang="en-IN"/>
          </a:p>
        </p:txBody>
      </p:sp>
    </p:spTree>
    <p:extLst>
      <p:ext uri="{BB962C8B-B14F-4D97-AF65-F5344CB8AC3E}">
        <p14:creationId xmlns:p14="http://schemas.microsoft.com/office/powerpoint/2010/main" val="2783768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7E89-F862-618E-8D4C-15CBDA4F8A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1AF9AE-CB03-4316-0B64-82B65B6809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496C3E-BE84-61C6-4586-36B9B005796F}"/>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5" name="Footer Placeholder 4">
            <a:extLst>
              <a:ext uri="{FF2B5EF4-FFF2-40B4-BE49-F238E27FC236}">
                <a16:creationId xmlns:a16="http://schemas.microsoft.com/office/drawing/2014/main" id="{0A85873A-1D9B-545D-AEB8-7F543FB3A3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7B28E7-EACB-DB93-9867-69AA10BAD610}"/>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23773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0FBCC-2BA1-CCE8-E30E-FD9CA058C8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26B920-E957-ECD5-5237-190443506E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A1A858-9AB0-8C0D-7BC7-779B79B45326}"/>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5" name="Footer Placeholder 4">
            <a:extLst>
              <a:ext uri="{FF2B5EF4-FFF2-40B4-BE49-F238E27FC236}">
                <a16:creationId xmlns:a16="http://schemas.microsoft.com/office/drawing/2014/main" id="{8A05A455-B88E-FFE2-9DBD-22938F1B6F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818E8D-5350-B1F8-ECF2-5734F918B982}"/>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330869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9C3E2-0F16-A9BC-BC18-F22896EF14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25399B-D3CB-B469-47D4-CD20939186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EB0335-4487-DB22-8C3A-756389AC1716}"/>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5" name="Footer Placeholder 4">
            <a:extLst>
              <a:ext uri="{FF2B5EF4-FFF2-40B4-BE49-F238E27FC236}">
                <a16:creationId xmlns:a16="http://schemas.microsoft.com/office/drawing/2014/main" id="{EE22D737-EBA7-70DD-B1ED-5418086028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5B6EC8-27A9-EFFA-14D9-A2DA0083696D}"/>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81382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083FF-C286-93F4-61A0-7FCF1A9E36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407E73-B353-70C1-E767-B11970AFF2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78B888-EA10-BB57-2355-1EB2DF65D8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C433EE-8277-BA12-E5D3-DC018A84E2BF}"/>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6" name="Footer Placeholder 5">
            <a:extLst>
              <a:ext uri="{FF2B5EF4-FFF2-40B4-BE49-F238E27FC236}">
                <a16:creationId xmlns:a16="http://schemas.microsoft.com/office/drawing/2014/main" id="{90FB97CC-5338-1369-02B9-5159A90C44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B83052-C313-B549-115D-6BDAA21E1F7D}"/>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102298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B149A-85A0-ADE3-8D46-9AE446CA6C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F3F84C-D407-2F9F-E030-5CFD2F3203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83AD6-10E5-7DF1-2302-FDAA9F4461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E3CF74-171C-AC76-BF89-4D642EF177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C5A644-75B1-C0E6-652C-51C5D5C960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2983D4-98E2-28D6-AC0A-A66C041AF9F6}"/>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8" name="Footer Placeholder 7">
            <a:extLst>
              <a:ext uri="{FF2B5EF4-FFF2-40B4-BE49-F238E27FC236}">
                <a16:creationId xmlns:a16="http://schemas.microsoft.com/office/drawing/2014/main" id="{07EC611A-8FF6-44D7-E81A-577C851284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99D865-DA14-3D81-12CE-E87D2127B667}"/>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2915541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ADB92-AE23-2B35-76F5-69A010C782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B94C5C-CD32-34F0-3565-6BB7CF5D5BBF}"/>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4" name="Footer Placeholder 3">
            <a:extLst>
              <a:ext uri="{FF2B5EF4-FFF2-40B4-BE49-F238E27FC236}">
                <a16:creationId xmlns:a16="http://schemas.microsoft.com/office/drawing/2014/main" id="{A4F8A7F4-4C54-96CA-C7A3-7B7E932E93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590DF6-0668-85D5-3467-553E92436D1C}"/>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2783574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080FC7-5F81-7BFA-D307-8F3BBB2CADBC}"/>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3" name="Footer Placeholder 2">
            <a:extLst>
              <a:ext uri="{FF2B5EF4-FFF2-40B4-BE49-F238E27FC236}">
                <a16:creationId xmlns:a16="http://schemas.microsoft.com/office/drawing/2014/main" id="{02B95131-3279-BF0E-8CCC-3CDA2FF117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7A93AF-F019-4AC5-062F-8F1C24D6BF63}"/>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1710521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908C-7D45-7C80-D384-AA05359E8A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DBA3D1-E169-1679-9623-613A01411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B56520-115F-3FF5-45D3-E54A0C63CE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CDF3E0-914C-729A-D44F-F8E75B552B69}"/>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6" name="Footer Placeholder 5">
            <a:extLst>
              <a:ext uri="{FF2B5EF4-FFF2-40B4-BE49-F238E27FC236}">
                <a16:creationId xmlns:a16="http://schemas.microsoft.com/office/drawing/2014/main" id="{FC1CDAAA-490E-88CA-7F90-39235392DB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7B22FA-BD5A-6697-B5E8-5B494D509C0D}"/>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256683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26AF-88FB-90CC-1EF1-8E14BBD1EE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DA1947-C49D-D7B4-1A42-19BAEF2341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9B52F2-1D3D-19F2-DA6F-7DB58D4F2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F406A8-ABF6-C980-EF01-DCFA25AB4632}"/>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6" name="Footer Placeholder 5">
            <a:extLst>
              <a:ext uri="{FF2B5EF4-FFF2-40B4-BE49-F238E27FC236}">
                <a16:creationId xmlns:a16="http://schemas.microsoft.com/office/drawing/2014/main" id="{13C2DC0C-2C0C-9558-36D9-2387C39978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91321C-2A85-B61B-97BC-40D7591F563F}"/>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180494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1729-2766-DA07-5E65-EB26DFCDFD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106891-BFB6-C7D0-356D-5749567682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8B5B77-4F5C-D314-C4EB-4EC7B66F4E70}"/>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5" name="Footer Placeholder 4">
            <a:extLst>
              <a:ext uri="{FF2B5EF4-FFF2-40B4-BE49-F238E27FC236}">
                <a16:creationId xmlns:a16="http://schemas.microsoft.com/office/drawing/2014/main" id="{EFE037C8-8E7B-8FD4-7326-41235B5A50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4416F8-163B-CA9D-166F-036CFA27F655}"/>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1727597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49BDDE-18E5-FA19-4578-4C6B257522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42E163-2E54-307B-3B47-CD6975184D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408253-CE4B-9AEE-363D-95D7ED3538E2}"/>
              </a:ext>
            </a:extLst>
          </p:cNvPr>
          <p:cNvSpPr>
            <a:spLocks noGrp="1"/>
          </p:cNvSpPr>
          <p:nvPr>
            <p:ph type="dt" sz="half" idx="10"/>
          </p:nvPr>
        </p:nvSpPr>
        <p:spPr/>
        <p:txBody>
          <a:bodyPr/>
          <a:lstStyle/>
          <a:p>
            <a:fld id="{3D4B5749-2F5F-4289-8EE6-12DAF88FAF92}" type="datetimeFigureOut">
              <a:rPr lang="en-IN" smtClean="0"/>
              <a:t>30-12-2025</a:t>
            </a:fld>
            <a:endParaRPr lang="en-IN"/>
          </a:p>
        </p:txBody>
      </p:sp>
      <p:sp>
        <p:nvSpPr>
          <p:cNvPr id="5" name="Footer Placeholder 4">
            <a:extLst>
              <a:ext uri="{FF2B5EF4-FFF2-40B4-BE49-F238E27FC236}">
                <a16:creationId xmlns:a16="http://schemas.microsoft.com/office/drawing/2014/main" id="{1F962E6B-6851-6106-3727-6C2DB9A9C0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8295CD-323D-C97D-EDA1-0D32800E1C87}"/>
              </a:ext>
            </a:extLst>
          </p:cNvPr>
          <p:cNvSpPr>
            <a:spLocks noGrp="1"/>
          </p:cNvSpPr>
          <p:nvPr>
            <p:ph type="sldNum" sz="quarter" idx="12"/>
          </p:nvPr>
        </p:nvSpPr>
        <p:spPr/>
        <p:txBody>
          <a:bodyPr/>
          <a:lstStyle/>
          <a:p>
            <a:fld id="{7BECB0C6-1902-4774-97F1-D5D102DBE681}" type="slidenum">
              <a:rPr lang="en-IN" smtClean="0"/>
              <a:t>‹#›</a:t>
            </a:fld>
            <a:endParaRPr lang="en-IN"/>
          </a:p>
        </p:txBody>
      </p:sp>
    </p:spTree>
    <p:extLst>
      <p:ext uri="{BB962C8B-B14F-4D97-AF65-F5344CB8AC3E}">
        <p14:creationId xmlns:p14="http://schemas.microsoft.com/office/powerpoint/2010/main" val="850505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A2CDF-A813-4DA7-F0E7-79F5C4DBA5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4B9690-808B-2EFE-4508-2DD075404D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17E2F3-6615-7132-A3B0-C49C725E00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B5749-2F5F-4289-8EE6-12DAF88FAF92}" type="datetimeFigureOut">
              <a:rPr lang="en-IN" smtClean="0"/>
              <a:t>30-12-2025</a:t>
            </a:fld>
            <a:endParaRPr lang="en-IN"/>
          </a:p>
        </p:txBody>
      </p:sp>
      <p:sp>
        <p:nvSpPr>
          <p:cNvPr id="5" name="Footer Placeholder 4">
            <a:extLst>
              <a:ext uri="{FF2B5EF4-FFF2-40B4-BE49-F238E27FC236}">
                <a16:creationId xmlns:a16="http://schemas.microsoft.com/office/drawing/2014/main" id="{05534767-EE0A-81E3-281A-A0263E5E41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962677-5246-FDD4-E105-E1D8493173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ECB0C6-1902-4774-97F1-D5D102DBE681}" type="slidenum">
              <a:rPr lang="en-IN" smtClean="0"/>
              <a:t>‹#›</a:t>
            </a:fld>
            <a:endParaRPr lang="en-IN"/>
          </a:p>
        </p:txBody>
      </p:sp>
    </p:spTree>
    <p:extLst>
      <p:ext uri="{BB962C8B-B14F-4D97-AF65-F5344CB8AC3E}">
        <p14:creationId xmlns:p14="http://schemas.microsoft.com/office/powerpoint/2010/main" val="4291785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www.unb.ca/cic/datasets/ids-2017.html" TargetMode="External"/><Relationship Id="rId2" Type="http://schemas.openxmlformats.org/officeDocument/2006/relationships/hyperlink" Target="https://ieeexplore.ieee.org/Xplore/home.jsp"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631187-AA4A-8741-BB8F-DFCD692CD3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5560" y="1385359"/>
            <a:ext cx="2126487" cy="2494280"/>
          </a:xfrm>
          <a:prstGeom prst="rect">
            <a:avLst/>
          </a:prstGeom>
        </p:spPr>
      </p:pic>
      <p:grpSp>
        <p:nvGrpSpPr>
          <p:cNvPr id="5" name="Group 4">
            <a:extLst>
              <a:ext uri="{FF2B5EF4-FFF2-40B4-BE49-F238E27FC236}">
                <a16:creationId xmlns:a16="http://schemas.microsoft.com/office/drawing/2014/main" id="{F813A289-044D-47B5-5044-3369463F9BA4}"/>
              </a:ext>
            </a:extLst>
          </p:cNvPr>
          <p:cNvGrpSpPr/>
          <p:nvPr/>
        </p:nvGrpSpPr>
        <p:grpSpPr>
          <a:xfrm>
            <a:off x="864353" y="4310488"/>
            <a:ext cx="2312480" cy="1935486"/>
            <a:chOff x="0" y="0"/>
            <a:chExt cx="1066895" cy="1078155"/>
          </a:xfrm>
          <a:solidFill>
            <a:schemeClr val="accent2">
              <a:lumMod val="75000"/>
            </a:schemeClr>
          </a:solidFill>
        </p:grpSpPr>
        <p:sp>
          <p:nvSpPr>
            <p:cNvPr id="6" name="Rectangle 5">
              <a:extLst>
                <a:ext uri="{FF2B5EF4-FFF2-40B4-BE49-F238E27FC236}">
                  <a16:creationId xmlns:a16="http://schemas.microsoft.com/office/drawing/2014/main" id="{A60CE493-FFCF-C2EC-A73A-38E4DA8D5266}"/>
                </a:ext>
              </a:extLst>
            </p:cNvPr>
            <p:cNvSpPr/>
            <p:nvPr/>
          </p:nvSpPr>
          <p:spPr>
            <a:xfrm rot="5400000">
              <a:off x="510588" y="521848"/>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7" name="Rectangle 6">
              <a:extLst>
                <a:ext uri="{FF2B5EF4-FFF2-40B4-BE49-F238E27FC236}">
                  <a16:creationId xmlns:a16="http://schemas.microsoft.com/office/drawing/2014/main" id="{BA014860-51CA-0ED0-DD49-DF11BFF79B0C}"/>
                </a:ext>
              </a:extLst>
            </p:cNvPr>
            <p:cNvSpPr/>
            <p:nvPr/>
          </p:nvSpPr>
          <p:spPr>
            <a:xfrm rot="10800000">
              <a:off x="0" y="0"/>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pSp>
      <p:grpSp>
        <p:nvGrpSpPr>
          <p:cNvPr id="8" name="Group 7">
            <a:extLst>
              <a:ext uri="{FF2B5EF4-FFF2-40B4-BE49-F238E27FC236}">
                <a16:creationId xmlns:a16="http://schemas.microsoft.com/office/drawing/2014/main" id="{88EF8455-385E-575D-E062-D42DA0DEB3A9}"/>
              </a:ext>
            </a:extLst>
          </p:cNvPr>
          <p:cNvGrpSpPr/>
          <p:nvPr/>
        </p:nvGrpSpPr>
        <p:grpSpPr>
          <a:xfrm flipH="1" flipV="1">
            <a:off x="9692638" y="619548"/>
            <a:ext cx="1615439" cy="1531622"/>
            <a:chOff x="0" y="0"/>
            <a:chExt cx="1066895" cy="1078155"/>
          </a:xfrm>
          <a:solidFill>
            <a:schemeClr val="accent2">
              <a:lumMod val="75000"/>
            </a:schemeClr>
          </a:solidFill>
        </p:grpSpPr>
        <p:sp>
          <p:nvSpPr>
            <p:cNvPr id="9" name="Rectangle 8">
              <a:extLst>
                <a:ext uri="{FF2B5EF4-FFF2-40B4-BE49-F238E27FC236}">
                  <a16:creationId xmlns:a16="http://schemas.microsoft.com/office/drawing/2014/main" id="{DC197D2F-0F71-805D-B490-19487DE1269C}"/>
                </a:ext>
              </a:extLst>
            </p:cNvPr>
            <p:cNvSpPr/>
            <p:nvPr/>
          </p:nvSpPr>
          <p:spPr>
            <a:xfrm rot="5400000">
              <a:off x="510588" y="521848"/>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0" name="Rectangle 9">
              <a:extLst>
                <a:ext uri="{FF2B5EF4-FFF2-40B4-BE49-F238E27FC236}">
                  <a16:creationId xmlns:a16="http://schemas.microsoft.com/office/drawing/2014/main" id="{6788200E-FD3B-D4C3-52FD-2267F5DC61C3}"/>
                </a:ext>
              </a:extLst>
            </p:cNvPr>
            <p:cNvSpPr/>
            <p:nvPr/>
          </p:nvSpPr>
          <p:spPr>
            <a:xfrm rot="10800000">
              <a:off x="0" y="0"/>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pSp>
      <p:sp>
        <p:nvSpPr>
          <p:cNvPr id="11" name="TextBox 10">
            <a:extLst>
              <a:ext uri="{FF2B5EF4-FFF2-40B4-BE49-F238E27FC236}">
                <a16:creationId xmlns:a16="http://schemas.microsoft.com/office/drawing/2014/main" id="{EF92C6B4-C7EB-6E57-A885-52A73745590D}"/>
              </a:ext>
            </a:extLst>
          </p:cNvPr>
          <p:cNvSpPr txBox="1"/>
          <p:nvPr/>
        </p:nvSpPr>
        <p:spPr>
          <a:xfrm>
            <a:off x="4196077" y="2032334"/>
            <a:ext cx="7112000" cy="175432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AI-BASED INTRUSION DETECTION SYSTEM (AI-IDS) WITH ENSEMBLE LEARNING AND ACTIVE DEFENSE</a:t>
            </a:r>
          </a:p>
          <a:p>
            <a:endParaRPr lang="en-IN"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D333301-F433-1D24-A74E-6AC95E0307C4}"/>
              </a:ext>
            </a:extLst>
          </p:cNvPr>
          <p:cNvSpPr txBox="1"/>
          <p:nvPr/>
        </p:nvSpPr>
        <p:spPr>
          <a:xfrm>
            <a:off x="1700756" y="4688221"/>
            <a:ext cx="3574250"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Presented By:</a:t>
            </a:r>
          </a:p>
          <a:p>
            <a:r>
              <a:rPr lang="en-US" b="1" dirty="0">
                <a:latin typeface="Times New Roman" panose="02020603050405020304" pitchFamily="18" charset="0"/>
                <a:cs typeface="Times New Roman" panose="02020603050405020304" pitchFamily="18" charset="0"/>
              </a:rPr>
              <a:t>Name : Chaithanya S</a:t>
            </a:r>
          </a:p>
          <a:p>
            <a:r>
              <a:rPr lang="en-US" b="1" dirty="0">
                <a:latin typeface="Times New Roman" panose="02020603050405020304" pitchFamily="18" charset="0"/>
                <a:cs typeface="Times New Roman" panose="02020603050405020304" pitchFamily="18" charset="0"/>
              </a:rPr>
              <a:t>SRN     : PES1PG24CA233</a:t>
            </a:r>
            <a:endParaRPr lang="en-IN"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53DC412-083E-2DAC-EA78-A830F0FE32A0}"/>
              </a:ext>
            </a:extLst>
          </p:cNvPr>
          <p:cNvSpPr txBox="1"/>
          <p:nvPr/>
        </p:nvSpPr>
        <p:spPr>
          <a:xfrm>
            <a:off x="7044647" y="4549722"/>
            <a:ext cx="4315338"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Guided By:</a:t>
            </a:r>
          </a:p>
          <a:p>
            <a:r>
              <a:rPr lang="en-US" b="1" dirty="0">
                <a:latin typeface="Times New Roman" panose="02020603050405020304" pitchFamily="18" charset="0"/>
                <a:cs typeface="Times New Roman" panose="02020603050405020304" pitchFamily="18" charset="0"/>
              </a:rPr>
              <a:t>Dr. Veena S</a:t>
            </a:r>
          </a:p>
          <a:p>
            <a:r>
              <a:rPr lang="en-US" b="1" dirty="0">
                <a:latin typeface="Times New Roman" panose="02020603050405020304" pitchFamily="18" charset="0"/>
                <a:cs typeface="Times New Roman" panose="02020603050405020304" pitchFamily="18" charset="0"/>
              </a:rPr>
              <a:t>Professor And Chairperson</a:t>
            </a:r>
          </a:p>
          <a:p>
            <a:r>
              <a:rPr lang="en-US" b="1" dirty="0">
                <a:latin typeface="Times New Roman" panose="02020603050405020304" pitchFamily="18" charset="0"/>
                <a:cs typeface="Times New Roman" panose="02020603050405020304" pitchFamily="18" charset="0"/>
              </a:rPr>
              <a:t>Department Of Computer Applications</a:t>
            </a:r>
            <a:endParaRPr lang="en-IN" b="1"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12A0AED9-7AE0-42AE-ABCD-691BFF2BE235}"/>
              </a:ext>
            </a:extLst>
          </p:cNvPr>
          <p:cNvCxnSpPr>
            <a:cxnSpLocks/>
          </p:cNvCxnSpPr>
          <p:nvPr/>
        </p:nvCxnSpPr>
        <p:spPr>
          <a:xfrm>
            <a:off x="4196077" y="3586979"/>
            <a:ext cx="6401056"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5461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603E3C-0F27-85B2-5109-808340B232D3}"/>
              </a:ext>
            </a:extLst>
          </p:cNvPr>
          <p:cNvSpPr txBox="1"/>
          <p:nvPr/>
        </p:nvSpPr>
        <p:spPr>
          <a:xfrm>
            <a:off x="304800" y="466199"/>
            <a:ext cx="22860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CONTENT </a:t>
            </a:r>
          </a:p>
        </p:txBody>
      </p:sp>
      <p:sp>
        <p:nvSpPr>
          <p:cNvPr id="4" name="TextBox 3">
            <a:extLst>
              <a:ext uri="{FF2B5EF4-FFF2-40B4-BE49-F238E27FC236}">
                <a16:creationId xmlns:a16="http://schemas.microsoft.com/office/drawing/2014/main" id="{80BC02C2-A888-D294-557D-B36EE9CFED48}"/>
              </a:ext>
            </a:extLst>
          </p:cNvPr>
          <p:cNvSpPr txBox="1"/>
          <p:nvPr/>
        </p:nvSpPr>
        <p:spPr>
          <a:xfrm>
            <a:off x="501054" y="1513869"/>
            <a:ext cx="10220324" cy="4191981"/>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000" b="0" i="0" dirty="0">
                <a:solidFill>
                  <a:srgbClr val="222222"/>
                </a:solidFill>
                <a:effectLst/>
                <a:latin typeface="Times New Roman" panose="02020603050405020304" pitchFamily="18" charset="0"/>
                <a:cs typeface="Times New Roman" panose="02020603050405020304" pitchFamily="18" charset="0"/>
              </a:rPr>
              <a:t>Abstract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 (Problem Scenario, Proposed Solution , Purpose, Scope)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Literature Survey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Tools &amp; Technologies  used.</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Functional Requirements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Non-Functional Requirements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Implementation </a:t>
            </a:r>
          </a:p>
        </p:txBody>
      </p:sp>
      <p:cxnSp>
        <p:nvCxnSpPr>
          <p:cNvPr id="5" name="Straight Connector 4">
            <a:extLst>
              <a:ext uri="{FF2B5EF4-FFF2-40B4-BE49-F238E27FC236}">
                <a16:creationId xmlns:a16="http://schemas.microsoft.com/office/drawing/2014/main" id="{7C957FA3-E58E-01BD-A157-0DC811DF492E}"/>
              </a:ext>
            </a:extLst>
          </p:cNvPr>
          <p:cNvCxnSpPr>
            <a:cxnSpLocks/>
          </p:cNvCxnSpPr>
          <p:nvPr/>
        </p:nvCxnSpPr>
        <p:spPr>
          <a:xfrm>
            <a:off x="501054" y="1277087"/>
            <a:ext cx="1107440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6" name="Picture 2">
            <a:extLst>
              <a:ext uri="{FF2B5EF4-FFF2-40B4-BE49-F238E27FC236}">
                <a16:creationId xmlns:a16="http://schemas.microsoft.com/office/drawing/2014/main" id="{685E1BDF-FE68-9456-4B8B-B82FA5E3F0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946" y="0"/>
            <a:ext cx="2286000" cy="1264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357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16EAE8-896F-311C-473D-3071CB92A267}"/>
              </a:ext>
            </a:extLst>
          </p:cNvPr>
          <p:cNvSpPr txBox="1"/>
          <p:nvPr/>
        </p:nvSpPr>
        <p:spPr>
          <a:xfrm>
            <a:off x="501054" y="585184"/>
            <a:ext cx="2082599"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ABSTRACT</a:t>
            </a:r>
            <a:endParaRPr lang="en-IN" sz="24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B921301B-DC96-6CCA-B047-3714CBBBA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946" y="0"/>
            <a:ext cx="2286000" cy="142239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4F05F66F-5DA0-B9D2-BAB7-2EBA93F38E89}"/>
              </a:ext>
            </a:extLst>
          </p:cNvPr>
          <p:cNvCxnSpPr>
            <a:cxnSpLocks/>
          </p:cNvCxnSpPr>
          <p:nvPr/>
        </p:nvCxnSpPr>
        <p:spPr>
          <a:xfrm>
            <a:off x="398272" y="1234622"/>
            <a:ext cx="1107440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3" name="Rectangle 2">
            <a:extLst>
              <a:ext uri="{FF2B5EF4-FFF2-40B4-BE49-F238E27FC236}">
                <a16:creationId xmlns:a16="http://schemas.microsoft.com/office/drawing/2014/main" id="{59D9539C-E0A5-C450-0EBC-CE4A1D8D3E44}"/>
              </a:ext>
            </a:extLst>
          </p:cNvPr>
          <p:cNvSpPr>
            <a:spLocks noChangeArrowheads="1"/>
          </p:cNvSpPr>
          <p:nvPr/>
        </p:nvSpPr>
        <p:spPr bwMode="auto">
          <a:xfrm>
            <a:off x="398272" y="1610170"/>
            <a:ext cx="10481056"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sz="2200" dirty="0">
                <a:latin typeface="Times New Roman" panose="02020603050405020304" pitchFamily="18" charset="0"/>
                <a:cs typeface="Times New Roman" panose="02020603050405020304" pitchFamily="18" charset="0"/>
              </a:rPr>
              <a:t>The rise of sophisticated cyber threats has exposed the limitations of conventional Intrusion Detection Systems (IDS), which primarily rely on static, signature-based methods. These approaches are ineffective against zero-day attacks and advanced persistent threats. To address this challenge, this project presents an </a:t>
            </a:r>
            <a:r>
              <a:rPr lang="en-US" sz="2200" b="1" dirty="0">
                <a:latin typeface="Times New Roman" panose="02020603050405020304" pitchFamily="18" charset="0"/>
                <a:cs typeface="Times New Roman" panose="02020603050405020304" pitchFamily="18" charset="0"/>
              </a:rPr>
              <a:t>AI-driven IDS</a:t>
            </a:r>
            <a:r>
              <a:rPr lang="en-US" sz="2200" dirty="0">
                <a:latin typeface="Times New Roman" panose="02020603050405020304" pitchFamily="18" charset="0"/>
                <a:cs typeface="Times New Roman" panose="02020603050405020304" pitchFamily="18" charset="0"/>
              </a:rPr>
              <a:t> that leverages both </a:t>
            </a:r>
            <a:r>
              <a:rPr lang="en-US" sz="2200" b="1" dirty="0">
                <a:latin typeface="Times New Roman" panose="02020603050405020304" pitchFamily="18" charset="0"/>
                <a:cs typeface="Times New Roman" panose="02020603050405020304" pitchFamily="18" charset="0"/>
              </a:rPr>
              <a:t>machine learning and deep learning techniques</a:t>
            </a:r>
            <a:r>
              <a:rPr lang="en-US" sz="2200" dirty="0">
                <a:latin typeface="Times New Roman" panose="02020603050405020304" pitchFamily="18" charset="0"/>
                <a:cs typeface="Times New Roman" panose="02020603050405020304" pitchFamily="18" charset="0"/>
              </a:rPr>
              <a:t> for accurate and adaptive threat detection.</a:t>
            </a:r>
            <a:endParaRPr lang="en-IN" sz="22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944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43AAC9C8-B884-F098-5271-09F02E507E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CAE421-5E5F-02D9-97EA-215679C78EFB}"/>
              </a:ext>
            </a:extLst>
          </p:cNvPr>
          <p:cNvSpPr txBox="1"/>
          <p:nvPr/>
        </p:nvSpPr>
        <p:spPr>
          <a:xfrm>
            <a:off x="314631" y="371104"/>
            <a:ext cx="2640269"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INTRODUCTION</a:t>
            </a:r>
          </a:p>
        </p:txBody>
      </p:sp>
      <p:pic>
        <p:nvPicPr>
          <p:cNvPr id="1026" name="Picture 2">
            <a:extLst>
              <a:ext uri="{FF2B5EF4-FFF2-40B4-BE49-F238E27FC236}">
                <a16:creationId xmlns:a16="http://schemas.microsoft.com/office/drawing/2014/main" id="{7801ABD0-AFE9-BFC3-7B0E-DC7C5602A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946" y="0"/>
            <a:ext cx="2286000" cy="142239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DB91D342-A0E3-3271-7B12-11E636B1B8F6}"/>
              </a:ext>
            </a:extLst>
          </p:cNvPr>
          <p:cNvCxnSpPr>
            <a:cxnSpLocks/>
          </p:cNvCxnSpPr>
          <p:nvPr/>
        </p:nvCxnSpPr>
        <p:spPr>
          <a:xfrm>
            <a:off x="412564" y="1068161"/>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10" name="Rectangle 6">
            <a:extLst>
              <a:ext uri="{FF2B5EF4-FFF2-40B4-BE49-F238E27FC236}">
                <a16:creationId xmlns:a16="http://schemas.microsoft.com/office/drawing/2014/main" id="{3C08229A-84FA-AB22-CA44-FDF80BEDD87A}"/>
              </a:ext>
            </a:extLst>
          </p:cNvPr>
          <p:cNvSpPr>
            <a:spLocks noChangeArrowheads="1"/>
          </p:cNvSpPr>
          <p:nvPr/>
        </p:nvSpPr>
        <p:spPr bwMode="auto">
          <a:xfrm>
            <a:off x="412564" y="1055486"/>
            <a:ext cx="10883900" cy="692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8088" tIns="0" rIns="-38088" bIns="0" numCol="1" anchor="ctr" anchorCtr="0" compatLnSpc="1">
            <a:prstTxWarp prst="textNoShape">
              <a:avLst/>
            </a:prstTxWarp>
            <a:spAutoFit/>
          </a:bodyPr>
          <a:lstStyle/>
          <a:p>
            <a:pPr>
              <a:lnSpc>
                <a:spcPct val="150000"/>
              </a:lnSpc>
            </a:pPr>
            <a:r>
              <a:rPr lang="en-US" b="1" dirty="0">
                <a:latin typeface="Times New Roman" panose="02020603050405020304" pitchFamily="18" charset="0"/>
                <a:cs typeface="Times New Roman" panose="02020603050405020304" pitchFamily="18" charset="0"/>
              </a:rPr>
              <a:t>PROBLEM SCENARIO:</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Today’s networks face rapidly evolving threats such as DDoS, port scans, brute-force attempts, and AI-powered malware.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rule-based IDS systems cannot keep up with new attack variants, resulting in delayed detection and high false positives.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PROPOSED SOLUTION:</a:t>
            </a: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AI-Based Intrusion Detection System (IDS)</a:t>
            </a:r>
            <a:r>
              <a:rPr lang="en-US" dirty="0">
                <a:latin typeface="Times New Roman" panose="02020603050405020304" pitchFamily="18" charset="0"/>
                <a:cs typeface="Times New Roman" panose="02020603050405020304" pitchFamily="18" charset="0"/>
              </a:rPr>
              <a:t> — a unified, intelligent security model that uses </a:t>
            </a:r>
            <a:r>
              <a:rPr lang="en-US" b="1" dirty="0">
                <a:latin typeface="Times New Roman" panose="02020603050405020304" pitchFamily="18" charset="0"/>
                <a:cs typeface="Times New Roman" panose="02020603050405020304" pitchFamily="18" charset="0"/>
              </a:rPr>
              <a:t>machine learning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real-time traffic analysis</a:t>
            </a:r>
            <a:r>
              <a:rPr lang="en-US" dirty="0">
                <a:latin typeface="Times New Roman" panose="02020603050405020304" pitchFamily="18" charset="0"/>
                <a:cs typeface="Times New Roman" panose="02020603050405020304" pitchFamily="18" charset="0"/>
              </a:rPr>
              <a:t> to detect both known and unknown attacks.</a:t>
            </a:r>
          </a:p>
          <a:p>
            <a:pPr>
              <a:lnSpc>
                <a:spcPct val="150000"/>
              </a:lnSpc>
            </a:pPr>
            <a:r>
              <a:rPr lang="en-US" dirty="0">
                <a:latin typeface="Times New Roman" panose="02020603050405020304" pitchFamily="18" charset="0"/>
                <a:cs typeface="Times New Roman" panose="02020603050405020304" pitchFamily="18" charset="0"/>
              </a:rPr>
              <a:t>The system combines: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ML-based threat classification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packet/flow monitoring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Alerting + dashboard visualization.</a:t>
            </a:r>
          </a:p>
          <a:p>
            <a:pPr>
              <a:lnSpc>
                <a:spcPct val="150000"/>
              </a:lnSpc>
            </a:pPr>
            <a:endParaRPr lang="en-US" dirty="0"/>
          </a:p>
          <a:p>
            <a:pPr>
              <a:lnSpc>
                <a:spcPct val="150000"/>
              </a:lnSpc>
            </a:pPr>
            <a:endParaRPr lang="en-US" dirty="0"/>
          </a:p>
          <a:p>
            <a:pPr>
              <a:lnSpc>
                <a:spcPct val="150000"/>
              </a:lnSpc>
            </a:pPr>
            <a:endParaRPr lang="en-US" dirty="0"/>
          </a:p>
          <a:p>
            <a:endParaRPr lang="en-US" dirty="0"/>
          </a:p>
        </p:txBody>
      </p:sp>
    </p:spTree>
    <p:extLst>
      <p:ext uri="{BB962C8B-B14F-4D97-AF65-F5344CB8AC3E}">
        <p14:creationId xmlns:p14="http://schemas.microsoft.com/office/powerpoint/2010/main" val="79297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78C49468-A2EB-0CE2-CDCD-B41635C25D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938714-226D-779A-2643-C730BB8109FF}"/>
              </a:ext>
            </a:extLst>
          </p:cNvPr>
          <p:cNvSpPr txBox="1"/>
          <p:nvPr/>
        </p:nvSpPr>
        <p:spPr>
          <a:xfrm>
            <a:off x="302228" y="480365"/>
            <a:ext cx="267959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INTRODUCTION</a:t>
            </a:r>
          </a:p>
        </p:txBody>
      </p:sp>
      <p:pic>
        <p:nvPicPr>
          <p:cNvPr id="1026" name="Picture 2">
            <a:extLst>
              <a:ext uri="{FF2B5EF4-FFF2-40B4-BE49-F238E27FC236}">
                <a16:creationId xmlns:a16="http://schemas.microsoft.com/office/drawing/2014/main" id="{1945AE88-7D2E-68A2-2906-AB79AF354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946" y="0"/>
            <a:ext cx="2286000" cy="142239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086A44B8-9A3D-F963-4CD4-F3213A1707BE}"/>
              </a:ext>
            </a:extLst>
          </p:cNvPr>
          <p:cNvCxnSpPr>
            <a:cxnSpLocks/>
          </p:cNvCxnSpPr>
          <p:nvPr/>
        </p:nvCxnSpPr>
        <p:spPr>
          <a:xfrm>
            <a:off x="302228" y="120237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10" name="Rectangle 6">
            <a:extLst>
              <a:ext uri="{FF2B5EF4-FFF2-40B4-BE49-F238E27FC236}">
                <a16:creationId xmlns:a16="http://schemas.microsoft.com/office/drawing/2014/main" id="{4652438F-5D58-2662-CB1A-4907E973E274}"/>
              </a:ext>
            </a:extLst>
          </p:cNvPr>
          <p:cNvSpPr>
            <a:spLocks noChangeArrowheads="1"/>
          </p:cNvSpPr>
          <p:nvPr/>
        </p:nvSpPr>
        <p:spPr bwMode="auto">
          <a:xfrm>
            <a:off x="411448" y="1329725"/>
            <a:ext cx="10883900" cy="484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8088" tIns="0" rIns="-38088" bIns="0" numCol="1" anchor="ctr" anchorCtr="0" compatLnSpc="1">
            <a:prstTxWarp prst="textNoShape">
              <a:avLst/>
            </a:prstTxWarp>
            <a:spAutoFit/>
          </a:bodyPr>
          <a:lstStyle/>
          <a:p>
            <a:pPr algn="just">
              <a:lnSpc>
                <a:spcPct val="150000"/>
              </a:lnSpc>
            </a:pPr>
            <a:r>
              <a:rPr lang="en-US" b="1" dirty="0">
                <a:latin typeface="Times New Roman" panose="02020603050405020304" pitchFamily="18" charset="0"/>
                <a:cs typeface="Times New Roman" panose="02020603050405020304" pitchFamily="18" charset="0"/>
              </a:rPr>
              <a:t>PURPOSE:</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 smart IDS that can automatically analyze network traffic, detect intrusions with high accuracy, and provide real-time alerts, improving security responsiveness and reducing false positives.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SCOPE:</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project is a security application featuring three core modules:</a:t>
            </a:r>
          </a:p>
          <a:p>
            <a:pPr lvl="1" algn="just">
              <a:lnSpc>
                <a:spcPct val="150000"/>
              </a:lnSpc>
            </a:pPr>
            <a:r>
              <a:rPr lang="en-IN" dirty="0">
                <a:latin typeface="Times New Roman" panose="02020603050405020304" pitchFamily="18" charset="0"/>
                <a:cs typeface="Times New Roman" panose="02020603050405020304" pitchFamily="18" charset="0"/>
              </a:rPr>
              <a:t>1. </a:t>
            </a:r>
            <a:r>
              <a:rPr lang="en-IN" b="1" dirty="0">
                <a:latin typeface="Times New Roman" panose="02020603050405020304" pitchFamily="18" charset="0"/>
                <a:cs typeface="Times New Roman" panose="02020603050405020304" pitchFamily="18" charset="0"/>
              </a:rPr>
              <a:t>Real-Time Traffic Monitoring</a:t>
            </a:r>
            <a:endParaRPr lang="en-US" dirty="0">
              <a:latin typeface="Times New Roman" panose="02020603050405020304" pitchFamily="18" charset="0"/>
              <a:cs typeface="Times New Roman" panose="02020603050405020304" pitchFamily="18" charset="0"/>
            </a:endParaRPr>
          </a:p>
          <a:p>
            <a:pPr lvl="1" algn="just">
              <a:lnSpc>
                <a:spcPct val="150000"/>
              </a:lnSpc>
            </a:pPr>
            <a:r>
              <a:rPr lang="en-IN"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AI-Based Detection Engine</a:t>
            </a:r>
          </a:p>
          <a:p>
            <a:pPr lvl="1" algn="just">
              <a:lnSpc>
                <a:spcPct val="150000"/>
              </a:lnSpc>
            </a:pPr>
            <a:r>
              <a:rPr lang="en-IN" dirty="0">
                <a:latin typeface="Times New Roman" panose="02020603050405020304" pitchFamily="18" charset="0"/>
                <a:cs typeface="Times New Roman" panose="02020603050405020304" pitchFamily="18" charset="0"/>
              </a:rPr>
              <a:t>3. </a:t>
            </a:r>
            <a:r>
              <a:rPr lang="en-IN" b="1" dirty="0">
                <a:latin typeface="Times New Roman" panose="02020603050405020304" pitchFamily="18" charset="0"/>
                <a:cs typeface="Times New Roman" panose="02020603050405020304" pitchFamily="18" charset="0"/>
              </a:rPr>
              <a:t>Alert &amp; Visualization Dashboard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12425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1D0E7B-3454-6617-B3AB-73BAC33E852E}"/>
              </a:ext>
            </a:extLst>
          </p:cNvPr>
          <p:cNvSpPr txBox="1"/>
          <p:nvPr/>
        </p:nvSpPr>
        <p:spPr>
          <a:xfrm>
            <a:off x="-196620" y="527682"/>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07D49093-97FA-FC19-97DD-07568E2D5AD3}"/>
              </a:ext>
            </a:extLst>
          </p:cNvPr>
          <p:cNvCxnSpPr>
            <a:cxnSpLocks/>
          </p:cNvCxnSpPr>
          <p:nvPr/>
        </p:nvCxnSpPr>
        <p:spPr>
          <a:xfrm>
            <a:off x="470154" y="1234901"/>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EC17C994-33C5-9AD6-7D43-A261F43E30D6}"/>
              </a:ext>
            </a:extLst>
          </p:cNvPr>
          <p:cNvSpPr txBox="1"/>
          <p:nvPr/>
        </p:nvSpPr>
        <p:spPr>
          <a:xfrm>
            <a:off x="879302" y="3897972"/>
            <a:ext cx="9639247" cy="1323439"/>
          </a:xfrm>
          <a:prstGeom prst="rect">
            <a:avLst/>
          </a:prstGeom>
          <a:noFill/>
        </p:spPr>
        <p:txBody>
          <a:bodyPr wrap="square" rtlCol="0">
            <a:spAutoFit/>
          </a:bodyPr>
          <a:lstStyle/>
          <a:p>
            <a:pPr algn="just"/>
            <a:endParaRPr lang="en-US" sz="2000" b="1"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3106BB5B-4E40-874F-915C-BF65D3938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2764" y="0"/>
            <a:ext cx="1937346" cy="120545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7C1A726F-554A-986C-EA39-C824EAA4B4E0}"/>
              </a:ext>
            </a:extLst>
          </p:cNvPr>
          <p:cNvSpPr>
            <a:spLocks noChangeArrowheads="1"/>
          </p:cNvSpPr>
          <p:nvPr/>
        </p:nvSpPr>
        <p:spPr bwMode="auto">
          <a:xfrm rot="10800000" flipV="1">
            <a:off x="470155" y="1642238"/>
            <a:ext cx="10993119"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AI-IDS: Application of Deep Learning to Real-Time Web Intrusion Detection.</a:t>
            </a:r>
          </a:p>
          <a:p>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Aechan</a:t>
            </a:r>
            <a:r>
              <a:rPr lang="en-IN" dirty="0">
                <a:latin typeface="Times New Roman" panose="02020603050405020304" pitchFamily="18" charset="0"/>
                <a:cs typeface="Times New Roman" panose="02020603050405020304" pitchFamily="18" charset="0"/>
              </a:rPr>
              <a:t> Kim , </a:t>
            </a:r>
            <a:r>
              <a:rPr lang="en-IN" dirty="0" err="1">
                <a:latin typeface="Times New Roman" panose="02020603050405020304" pitchFamily="18" charset="0"/>
                <a:cs typeface="Times New Roman" panose="02020603050405020304" pitchFamily="18" charset="0"/>
              </a:rPr>
              <a:t>Mohyun</a:t>
            </a:r>
            <a:r>
              <a:rPr lang="en-IN" dirty="0">
                <a:latin typeface="Times New Roman" panose="02020603050405020304" pitchFamily="18" charset="0"/>
                <a:cs typeface="Times New Roman" panose="02020603050405020304" pitchFamily="18" charset="0"/>
              </a:rPr>
              <a:t> Park, And Dong Hoon Lee.</a:t>
            </a:r>
          </a:p>
          <a:p>
            <a:r>
              <a:rPr lang="en-US" sz="2000" b="1" dirty="0">
                <a:latin typeface="Times New Roman" panose="02020603050405020304" pitchFamily="18" charset="0"/>
                <a:cs typeface="Times New Roman" panose="02020603050405020304" pitchFamily="18" charset="0"/>
              </a:rPr>
              <a:t>Published In: </a:t>
            </a:r>
            <a:r>
              <a:rPr lang="en-US" sz="2000" dirty="0">
                <a:latin typeface="Times New Roman" panose="02020603050405020304" pitchFamily="18" charset="0"/>
                <a:cs typeface="Times New Roman" panose="02020603050405020304" pitchFamily="18" charset="0"/>
              </a:rPr>
              <a:t>April 10, 2020, date of current version April 24, 2020.</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Highlights: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Proposes a CNN-LSTM–based AI-IDS for real-time detection of web intrusions on large-scale traffic.</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Uses Normalized UTF-8 encoding for fast HTTP request/payload preprocessing.</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Trained on public + real-time datasets, aiming to detect obfuscated attacks and deployed using Docker for scalability.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Relevance to AI-IDS:</a:t>
            </a:r>
            <a:endParaRPr 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Highly relevant due to its deep learning + real-time detection focus.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Directly supports sequence-model component for payload analysis.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Offers insights into handling large-scale, real-time web traffic.</a:t>
            </a:r>
          </a:p>
          <a:p>
            <a:endParaRPr lang="en-US" dirty="0">
              <a:latin typeface="Arial" panose="020B0604020202020204" pitchFamily="34"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552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E54FD7-50D8-3B6D-F3C1-B1D889B64C7E}"/>
              </a:ext>
            </a:extLst>
          </p:cNvPr>
          <p:cNvSpPr txBox="1"/>
          <p:nvPr/>
        </p:nvSpPr>
        <p:spPr>
          <a:xfrm>
            <a:off x="402668" y="1644452"/>
            <a:ext cx="11288278" cy="501675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Title:</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 Enhanced AI-Based Network Intrusion Detection System Using Generative Adversarial Networks.</a:t>
            </a:r>
          </a:p>
          <a:p>
            <a:pPr>
              <a:buNone/>
            </a:pPr>
            <a:r>
              <a:rPr lang="en-IN" sz="2000" b="1" dirty="0">
                <a:latin typeface="Times New Roman" panose="02020603050405020304" pitchFamily="18" charset="0"/>
                <a:cs typeface="Times New Roman" panose="02020603050405020304" pitchFamily="18" charset="0"/>
              </a:rPr>
              <a:t>Authors: </a:t>
            </a:r>
            <a:r>
              <a:rPr lang="en-US" sz="2000" dirty="0" err="1">
                <a:latin typeface="Times New Roman" panose="02020603050405020304" pitchFamily="18" charset="0"/>
                <a:cs typeface="Times New Roman" panose="02020603050405020304" pitchFamily="18" charset="0"/>
              </a:rPr>
              <a:t>Cheolhee</a:t>
            </a:r>
            <a:r>
              <a:rPr lang="en-US" sz="2000" dirty="0">
                <a:latin typeface="Times New Roman" panose="02020603050405020304" pitchFamily="18" charset="0"/>
                <a:cs typeface="Times New Roman" panose="02020603050405020304" pitchFamily="18" charset="0"/>
              </a:rPr>
              <a:t> Park , </a:t>
            </a:r>
            <a:r>
              <a:rPr lang="en-US" sz="2000" dirty="0" err="1">
                <a:latin typeface="Times New Roman" panose="02020603050405020304" pitchFamily="18" charset="0"/>
                <a:cs typeface="Times New Roman" panose="02020603050405020304" pitchFamily="18" charset="0"/>
              </a:rPr>
              <a:t>Jonghoon</a:t>
            </a:r>
            <a:r>
              <a:rPr lang="en-US" sz="2000" dirty="0">
                <a:latin typeface="Times New Roman" panose="02020603050405020304" pitchFamily="18" charset="0"/>
                <a:cs typeface="Times New Roman" panose="02020603050405020304" pitchFamily="18" charset="0"/>
              </a:rPr>
              <a:t> Lee , </a:t>
            </a:r>
            <a:r>
              <a:rPr lang="en-US" sz="2000" dirty="0" err="1">
                <a:latin typeface="Times New Roman" panose="02020603050405020304" pitchFamily="18" charset="0"/>
                <a:cs typeface="Times New Roman" panose="02020603050405020304" pitchFamily="18" charset="0"/>
              </a:rPr>
              <a:t>Youngsoo</a:t>
            </a:r>
            <a:r>
              <a:rPr lang="en-US" sz="2000" dirty="0">
                <a:latin typeface="Times New Roman" panose="02020603050405020304" pitchFamily="18" charset="0"/>
                <a:cs typeface="Times New Roman" panose="02020603050405020304" pitchFamily="18" charset="0"/>
              </a:rPr>
              <a:t> Kim, Jong-Geun Park.</a:t>
            </a:r>
          </a:p>
          <a:p>
            <a:pPr>
              <a:buNone/>
            </a:pPr>
            <a:r>
              <a:rPr lang="en-IN" sz="2000" b="1" dirty="0">
                <a:latin typeface="Times New Roman" panose="02020603050405020304" pitchFamily="18" charset="0"/>
                <a:cs typeface="Times New Roman" panose="02020603050405020304" pitchFamily="18" charset="0"/>
              </a:rPr>
              <a:t>Published In: </a:t>
            </a:r>
            <a:r>
              <a:rPr lang="en-US" sz="2000" dirty="0" err="1">
                <a:latin typeface="Times New Roman" panose="02020603050405020304" pitchFamily="18" charset="0"/>
                <a:cs typeface="Times New Roman" panose="02020603050405020304" pitchFamily="18" charset="0"/>
              </a:rPr>
              <a:t>Ieee</a:t>
            </a:r>
            <a:r>
              <a:rPr lang="en-US" sz="2000" dirty="0">
                <a:latin typeface="Times New Roman" panose="02020603050405020304" pitchFamily="18" charset="0"/>
                <a:cs typeface="Times New Roman" panose="02020603050405020304" pitchFamily="18" charset="0"/>
              </a:rPr>
              <a:t> Internet Of Things Journal, Vol. 10, No. 3, 1 February 2023</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Highlights:</a:t>
            </a:r>
          </a:p>
          <a:p>
            <a:pPr lvl="0" algn="just"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Uses BEGAN (Boundary Equilibrium GAN) to generate synthetic samples for rare/minor attack classes to fix data imbalance. Augments training data for models like DNN, CNN, LSTM with an Autoencoder for feature extraction.</a:t>
            </a:r>
          </a:p>
          <a:p>
            <a:pPr lvl="0" algn="just"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Proposed models (G-DNN_AE, G-CNN_AE) significantly improve detection of rare and zero-day style attacks across multiple datasets.</a:t>
            </a:r>
          </a:p>
          <a:p>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Relevance to AI-IDS:</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Extremely relevant due to use of Autoencoders + anomaly detection, matching the hybrid design.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Validates integrating a non-traditional model to detect unknown/rare threats.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Strong evidence supporting advanced ML-based data augmentation in IDS.</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5DCBF05C-548F-9F2C-9AF4-0B335E684E94}"/>
              </a:ext>
            </a:extLst>
          </p:cNvPr>
          <p:cNvCxnSpPr>
            <a:cxnSpLocks/>
          </p:cNvCxnSpPr>
          <p:nvPr/>
        </p:nvCxnSpPr>
        <p:spPr>
          <a:xfrm>
            <a:off x="501054" y="147619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5F404990-CE43-148C-23E6-A516911014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946" y="0"/>
            <a:ext cx="2286000" cy="142239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88AC6E0-A3D3-4A46-5B44-1F9916A968D7}"/>
              </a:ext>
            </a:extLst>
          </p:cNvPr>
          <p:cNvSpPr txBox="1"/>
          <p:nvPr/>
        </p:nvSpPr>
        <p:spPr>
          <a:xfrm>
            <a:off x="-259485" y="711198"/>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323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BC8DAB-D71B-1846-536E-FBD57709564E}"/>
              </a:ext>
            </a:extLst>
          </p:cNvPr>
          <p:cNvSpPr txBox="1"/>
          <p:nvPr/>
        </p:nvSpPr>
        <p:spPr>
          <a:xfrm>
            <a:off x="436005" y="1680130"/>
            <a:ext cx="11123217" cy="563231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AI-Based Intrusion Detection System for Secure AI BOX Applications</a:t>
            </a:r>
          </a:p>
          <a:p>
            <a:pPr>
              <a:buNone/>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Jiann</a:t>
            </a:r>
            <a:r>
              <a:rPr lang="en-IN" sz="2000" dirty="0">
                <a:latin typeface="Times New Roman" panose="02020603050405020304" pitchFamily="18" charset="0"/>
                <a:cs typeface="Times New Roman" panose="02020603050405020304" pitchFamily="18" charset="0"/>
              </a:rPr>
              <a:t>-Liang Chen, Zheng-Zhun Chen, </a:t>
            </a:r>
            <a:r>
              <a:rPr lang="en-IN" sz="2000" dirty="0" err="1">
                <a:latin typeface="Times New Roman" panose="02020603050405020304" pitchFamily="18" charset="0"/>
                <a:cs typeface="Times New Roman" panose="02020603050405020304" pitchFamily="18" charset="0"/>
              </a:rPr>
              <a:t>Youg</a:t>
            </a:r>
            <a:r>
              <a:rPr lang="en-IN" sz="2000" dirty="0">
                <a:latin typeface="Times New Roman" panose="02020603050405020304" pitchFamily="18" charset="0"/>
                <a:cs typeface="Times New Roman" panose="02020603050405020304" pitchFamily="18" charset="0"/>
              </a:rPr>
              <a:t>-Sheng Chang</a:t>
            </a:r>
            <a:r>
              <a:rPr lang="en-US" sz="2000" dirty="0">
                <a:latin typeface="Times New Roman" panose="02020603050405020304" pitchFamily="18" charset="0"/>
                <a:cs typeface="Times New Roman" panose="02020603050405020304" pitchFamily="18" charset="0"/>
              </a:rPr>
              <a:t>. </a:t>
            </a:r>
          </a:p>
          <a:p>
            <a:pPr>
              <a:buNone/>
            </a:pPr>
            <a:r>
              <a:rPr lang="en-US" sz="2000" b="1" dirty="0">
                <a:latin typeface="Times New Roman" panose="02020603050405020304" pitchFamily="18" charset="0"/>
                <a:cs typeface="Times New Roman" panose="02020603050405020304" pitchFamily="18" charset="0"/>
              </a:rPr>
              <a:t>Published In: </a:t>
            </a:r>
            <a:r>
              <a:rPr lang="en-IN" sz="2000" dirty="0">
                <a:latin typeface="Times New Roman" panose="02020603050405020304" pitchFamily="18" charset="0"/>
                <a:cs typeface="Times New Roman" panose="02020603050405020304" pitchFamily="18" charset="0"/>
              </a:rPr>
              <a:t>2023 International Conference on Artificial Intelligence in Information and Communication.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Highlights:</a:t>
            </a:r>
            <a:endParaRPr 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Uses </a:t>
            </a:r>
            <a:r>
              <a:rPr lang="en-US" altLang="en-US" sz="2000" dirty="0" err="1">
                <a:latin typeface="Times New Roman" panose="02020603050405020304" pitchFamily="18" charset="0"/>
                <a:cs typeface="Times New Roman" panose="02020603050405020304" pitchFamily="18" charset="0"/>
              </a:rPr>
              <a:t>ExtraTreesClassifier</a:t>
            </a:r>
            <a:r>
              <a:rPr lang="en-US" altLang="en-US" sz="2000" dirty="0">
                <a:latin typeface="Times New Roman" panose="02020603050405020304" pitchFamily="18" charset="0"/>
                <a:cs typeface="Times New Roman" panose="02020603050405020304" pitchFamily="18" charset="0"/>
              </a:rPr>
              <a:t> for fast and accurate (99%) intrusion detection on the ITRI AI BOX embedded device.</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Features extracted using </a:t>
            </a:r>
            <a:r>
              <a:rPr lang="en-US" altLang="en-US" sz="2000" dirty="0" err="1">
                <a:latin typeface="Times New Roman" panose="02020603050405020304" pitchFamily="18" charset="0"/>
                <a:cs typeface="Times New Roman" panose="02020603050405020304" pitchFamily="18" charset="0"/>
              </a:rPr>
              <a:t>CICFlowmeter</a:t>
            </a:r>
            <a:r>
              <a:rPr lang="en-US" altLang="en-US" sz="2000" dirty="0">
                <a:latin typeface="Times New Roman" panose="02020603050405020304" pitchFamily="18" charset="0"/>
                <a:cs typeface="Times New Roman" panose="02020603050405020304" pitchFamily="18" charset="0"/>
              </a:rPr>
              <a:t>, with preprocessing steps like normalization, label encoding, and imbalance handling.</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Runs on an embedded environment built with the </a:t>
            </a:r>
            <a:r>
              <a:rPr lang="en-US" altLang="en-US" sz="2000" dirty="0" err="1">
                <a:latin typeface="Times New Roman" panose="02020603050405020304" pitchFamily="18" charset="0"/>
                <a:cs typeface="Times New Roman" panose="02020603050405020304" pitchFamily="18" charset="0"/>
              </a:rPr>
              <a:t>Yocto</a:t>
            </a:r>
            <a:r>
              <a:rPr lang="en-US" altLang="en-US" sz="2000" dirty="0">
                <a:latin typeface="Times New Roman" panose="02020603050405020304" pitchFamily="18" charset="0"/>
                <a:cs typeface="Times New Roman" panose="02020603050405020304" pitchFamily="18" charset="0"/>
              </a:rPr>
              <a:t> Project.</a:t>
            </a:r>
          </a:p>
          <a:p>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Relevance to AI-IDS: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 relevance due to strong focus on feature engineering + supervised classifiers.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use of ensemble models for network intrusion detection.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Aligns with supervised classification module.</a:t>
            </a:r>
          </a:p>
          <a:p>
            <a:pPr>
              <a:buNone/>
            </a:pPr>
            <a:endParaRPr lang="en-US" sz="2000" b="1" dirty="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797448E3-BD01-4F5C-CA27-66AFAE304553}"/>
              </a:ext>
            </a:extLst>
          </p:cNvPr>
          <p:cNvCxnSpPr>
            <a:cxnSpLocks/>
          </p:cNvCxnSpPr>
          <p:nvPr/>
        </p:nvCxnSpPr>
        <p:spPr>
          <a:xfrm>
            <a:off x="501054" y="147619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4FB611F3-C2C2-7903-22A2-0456966F3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946" y="0"/>
            <a:ext cx="2286000" cy="142239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9E4A8BB-EA33-85B6-B58A-2B313AD5F4C9}"/>
              </a:ext>
            </a:extLst>
          </p:cNvPr>
          <p:cNvSpPr txBox="1"/>
          <p:nvPr/>
        </p:nvSpPr>
        <p:spPr>
          <a:xfrm>
            <a:off x="-240435" y="756800"/>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45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AC24A7-AF18-87AE-E61A-7AD7CD8F9F54}"/>
              </a:ext>
            </a:extLst>
          </p:cNvPr>
          <p:cNvSpPr txBox="1"/>
          <p:nvPr/>
        </p:nvSpPr>
        <p:spPr>
          <a:xfrm>
            <a:off x="365379" y="1699085"/>
            <a:ext cx="11131296" cy="470898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Development of AI-based Intrusion Detection System with Real-Time Flow Feature Extraction</a:t>
            </a:r>
          </a:p>
          <a:p>
            <a:pPr>
              <a:buNone/>
            </a:pPr>
            <a:r>
              <a:rPr lang="en-US" sz="2000" b="1" dirty="0">
                <a:latin typeface="Times New Roman" panose="02020603050405020304" pitchFamily="18" charset="0"/>
                <a:cs typeface="Times New Roman" panose="02020603050405020304" pitchFamily="18" charset="0"/>
              </a:rPr>
              <a:t>Authors:</a:t>
            </a:r>
            <a:r>
              <a:rPr lang="en-IN" sz="2000" dirty="0" err="1">
                <a:latin typeface="Times New Roman" panose="02020603050405020304" pitchFamily="18" charset="0"/>
                <a:cs typeface="Times New Roman" panose="02020603050405020304" pitchFamily="18" charset="0"/>
              </a:rPr>
              <a:t>Giwon</a:t>
            </a:r>
            <a:r>
              <a:rPr lang="en-IN" sz="2000" dirty="0">
                <a:latin typeface="Times New Roman" panose="02020603050405020304" pitchFamily="18" charset="0"/>
                <a:cs typeface="Times New Roman" panose="02020603050405020304" pitchFamily="18" charset="0"/>
              </a:rPr>
              <a:t> Sur, Hyejin Kim, Seunghyun Yoon, and Hyuk Lim.</a:t>
            </a: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Published In:</a:t>
            </a:r>
            <a:r>
              <a:rPr lang="en-US" sz="2000" dirty="0">
                <a:latin typeface="Times New Roman" panose="02020603050405020304" pitchFamily="18" charset="0"/>
                <a:cs typeface="Times New Roman" panose="02020603050405020304" pitchFamily="18" charset="0"/>
              </a:rPr>
              <a:t>2023 IEEE International Conference on Big Data (</a:t>
            </a:r>
            <a:r>
              <a:rPr lang="en-US" sz="2000" dirty="0" err="1">
                <a:latin typeface="Times New Roman" panose="02020603050405020304" pitchFamily="18" charset="0"/>
                <a:cs typeface="Times New Roman" panose="02020603050405020304" pitchFamily="18" charset="0"/>
              </a:rPr>
              <a:t>BigData</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Highlights:</a:t>
            </a:r>
            <a:endParaRPr 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Addresses real-time IDS challenges by balancing inspection speed vs. flow feature extraction complexity.</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Uses parallel traffic monitors + GPU servers (RTX 4090) to capture traffic and extract features simultaneously.</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Achieves 2,800 flows/sec using </a:t>
            </a:r>
            <a:r>
              <a:rPr lang="en-US" altLang="en-US" sz="2000" dirty="0" err="1">
                <a:latin typeface="Times New Roman" panose="02020603050405020304" pitchFamily="18" charset="0"/>
                <a:cs typeface="Times New Roman" panose="02020603050405020304" pitchFamily="18" charset="0"/>
              </a:rPr>
              <a:t>tcpdump</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CICFlowmeter</a:t>
            </a:r>
            <a:r>
              <a:rPr lang="en-US" altLang="en-US" sz="2000" dirty="0">
                <a:latin typeface="Times New Roman" panose="02020603050405020304" pitchFamily="18" charset="0"/>
                <a:cs typeface="Times New Roman" panose="02020603050405020304" pitchFamily="18" charset="0"/>
              </a:rPr>
              <a:t> and an MLP model for inference.</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Relevance to AI-IDS: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Highly relevant for real-time processing and architecture design.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the need for efficient flow-based feature extraction.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Aligns with focus on live traffic handling.</a:t>
            </a:r>
          </a:p>
          <a:p>
            <a:pPr>
              <a:buNone/>
            </a:pPr>
            <a:endParaRPr lang="en-US"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A2270A8-DA3F-BD88-0673-D81940544667}"/>
              </a:ext>
            </a:extLst>
          </p:cNvPr>
          <p:cNvCxnSpPr>
            <a:cxnSpLocks/>
          </p:cNvCxnSpPr>
          <p:nvPr/>
        </p:nvCxnSpPr>
        <p:spPr>
          <a:xfrm>
            <a:off x="365379" y="1549226"/>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A2865873-FA7D-8A96-D4CB-08411E70FB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946" y="0"/>
            <a:ext cx="2286000" cy="142239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23B3071-96B4-CFA5-AD23-D970ACEABEA3}"/>
              </a:ext>
            </a:extLst>
          </p:cNvPr>
          <p:cNvSpPr txBox="1"/>
          <p:nvPr/>
        </p:nvSpPr>
        <p:spPr>
          <a:xfrm>
            <a:off x="-345210" y="810873"/>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9519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476E14-5976-EC87-17A3-4A24CACD2771}"/>
              </a:ext>
            </a:extLst>
          </p:cNvPr>
          <p:cNvSpPr txBox="1"/>
          <p:nvPr/>
        </p:nvSpPr>
        <p:spPr>
          <a:xfrm>
            <a:off x="555586" y="1439922"/>
            <a:ext cx="11277600" cy="5016758"/>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AI-Driven Real-Time Network Intrusion Detection using Machine Learning and Deep Learning</a:t>
            </a:r>
          </a:p>
          <a:p>
            <a:pPr>
              <a:buNone/>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Vivek </a:t>
            </a:r>
            <a:r>
              <a:rPr lang="en-IN" sz="2000" dirty="0" err="1">
                <a:latin typeface="Times New Roman" panose="02020603050405020304" pitchFamily="18" charset="0"/>
                <a:cs typeface="Times New Roman" panose="02020603050405020304" pitchFamily="18" charset="0"/>
              </a:rPr>
              <a:t>Bagmar</a:t>
            </a:r>
            <a:r>
              <a:rPr lang="en-IN" sz="2000" dirty="0">
                <a:latin typeface="Times New Roman" panose="02020603050405020304" pitchFamily="18" charset="0"/>
                <a:cs typeface="Times New Roman" panose="02020603050405020304" pitchFamily="18" charset="0"/>
              </a:rPr>
              <a:t>, Divyanshu Joshi.</a:t>
            </a:r>
          </a:p>
          <a:p>
            <a:pPr>
              <a:buNone/>
            </a:pPr>
            <a:r>
              <a:rPr lang="en-US" sz="2000" b="1" dirty="0">
                <a:latin typeface="Times New Roman" panose="02020603050405020304" pitchFamily="18" charset="0"/>
                <a:cs typeface="Times New Roman" panose="02020603050405020304" pitchFamily="18" charset="0"/>
              </a:rPr>
              <a:t>Published In:</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2025 3rd International Conference on Self Sustainable Artificial Intelligence Systems (ICSSAS)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Highlights:</a:t>
            </a:r>
          </a:p>
          <a:p>
            <a:pPr lvl="0" algn="just"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Proposes a real-time NIDS using a binary classifier (Normal vs Anomalous) derived from key heuristics like </a:t>
            </a:r>
            <a:r>
              <a:rPr lang="en-US" altLang="en-US" sz="2000" dirty="0" err="1">
                <a:latin typeface="Times New Roman" panose="02020603050405020304" pitchFamily="18" charset="0"/>
                <a:cs typeface="Times New Roman" panose="02020603050405020304" pitchFamily="18" charset="0"/>
              </a:rPr>
              <a:t>srv_serror_rate</a:t>
            </a:r>
            <a:r>
              <a:rPr lang="en-US" altLang="en-US" sz="2000" dirty="0">
                <a:latin typeface="Times New Roman" panose="02020603050405020304" pitchFamily="18" charset="0"/>
                <a:cs typeface="Times New Roman" panose="02020603050405020304" pitchFamily="18" charset="0"/>
              </a:rPr>
              <a:t> and </a:t>
            </a:r>
            <a:r>
              <a:rPr lang="en-US" altLang="en-US" sz="2000" dirty="0" err="1">
                <a:latin typeface="Times New Roman" panose="02020603050405020304" pitchFamily="18" charset="0"/>
                <a:cs typeface="Times New Roman" panose="02020603050405020304" pitchFamily="18" charset="0"/>
              </a:rPr>
              <a:t>rerror_rate</a:t>
            </a:r>
            <a:r>
              <a:rPr lang="en-US" altLang="en-US" sz="2000" dirty="0">
                <a:latin typeface="Times New Roman" panose="02020603050405020304" pitchFamily="18" charset="0"/>
                <a:cs typeface="Times New Roman" panose="02020603050405020304" pitchFamily="18" charset="0"/>
              </a:rPr>
              <a:t>.</a:t>
            </a:r>
          </a:p>
          <a:p>
            <a:pPr lvl="0" algn="just"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Compares NN, KNN, RF, and Naive Bayes, with Random Forest achieving 99.80% accuracy.</a:t>
            </a:r>
          </a:p>
          <a:p>
            <a:pPr lvl="0" algn="just"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Confirms ensemble models as best-performing for real-time detection.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Relevance to AI-IDS: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Extremely relevant for ML/DL-based real-time classifier module.</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using Random Forest + Neural Networks as primary classifiers.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Reinforces real-time detection strategy.</a:t>
            </a:r>
          </a:p>
          <a:p>
            <a:pPr>
              <a:buNone/>
            </a:pPr>
            <a:endParaRPr lang="en-US"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8F3CBDCA-43FB-74E6-B369-1448FB0B9262}"/>
              </a:ext>
            </a:extLst>
          </p:cNvPr>
          <p:cNvCxnSpPr>
            <a:cxnSpLocks/>
          </p:cNvCxnSpPr>
          <p:nvPr/>
        </p:nvCxnSpPr>
        <p:spPr>
          <a:xfrm>
            <a:off x="697826" y="1286336"/>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549BD05C-725A-8CAC-2ADF-238C3F41B6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857" b="28572"/>
          <a:stretch>
            <a:fillRect/>
          </a:stretch>
        </p:blipFill>
        <p:spPr bwMode="auto">
          <a:xfrm>
            <a:off x="9404946" y="401320"/>
            <a:ext cx="2286000" cy="6197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771FEB0-D2BB-4704-93DB-18A686CE8023}"/>
              </a:ext>
            </a:extLst>
          </p:cNvPr>
          <p:cNvSpPr txBox="1"/>
          <p:nvPr/>
        </p:nvSpPr>
        <p:spPr>
          <a:xfrm>
            <a:off x="-115340" y="480365"/>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944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07B964-D6A5-FD6F-BC09-32B8EA4AD153}"/>
              </a:ext>
            </a:extLst>
          </p:cNvPr>
          <p:cNvSpPr txBox="1"/>
          <p:nvPr/>
        </p:nvSpPr>
        <p:spPr>
          <a:xfrm>
            <a:off x="342265" y="1056084"/>
            <a:ext cx="11118215" cy="532453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Artificial Intelligence-Based Intrusion Detection and Prevention in Edge-Assisted SDWSN With Modified Honeycomb Structure.</a:t>
            </a:r>
          </a:p>
          <a:p>
            <a:pPr>
              <a:buNone/>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Joseph </a:t>
            </a:r>
            <a:r>
              <a:rPr lang="en-IN" sz="2000" dirty="0" err="1">
                <a:latin typeface="Times New Roman" panose="02020603050405020304" pitchFamily="18" charset="0"/>
                <a:cs typeface="Times New Roman" panose="02020603050405020304" pitchFamily="18" charset="0"/>
              </a:rPr>
              <a:t>Kipongo</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Theog</a:t>
            </a:r>
            <a:r>
              <a:rPr lang="en-IN" sz="2000" dirty="0">
                <a:latin typeface="Times New Roman" panose="02020603050405020304" pitchFamily="18" charset="0"/>
                <a:cs typeface="Times New Roman" panose="02020603050405020304" pitchFamily="18" charset="0"/>
              </a:rPr>
              <a:t>. Swart And Ebenezer </a:t>
            </a:r>
            <a:r>
              <a:rPr lang="en-IN" sz="2000" dirty="0" err="1">
                <a:latin typeface="Times New Roman" panose="02020603050405020304" pitchFamily="18" charset="0"/>
                <a:cs typeface="Times New Roman" panose="02020603050405020304" pitchFamily="18" charset="0"/>
              </a:rPr>
              <a:t>Esenogho</a:t>
            </a:r>
            <a:r>
              <a:rPr lang="en-IN" sz="2000" dirty="0">
                <a:latin typeface="Times New Roman" panose="02020603050405020304" pitchFamily="18" charset="0"/>
                <a:cs typeface="Times New Roman" panose="02020603050405020304" pitchFamily="18" charset="0"/>
              </a:rPr>
              <a:t> .</a:t>
            </a:r>
          </a:p>
          <a:p>
            <a:pPr>
              <a:buNone/>
            </a:pPr>
            <a:r>
              <a:rPr lang="en-US" sz="2000" b="1" dirty="0">
                <a:latin typeface="Times New Roman" panose="02020603050405020304" pitchFamily="18" charset="0"/>
                <a:cs typeface="Times New Roman" panose="02020603050405020304" pitchFamily="18" charset="0"/>
              </a:rPr>
              <a:t>Published In: </a:t>
            </a:r>
            <a:r>
              <a:rPr lang="en-IN" sz="2000" dirty="0">
                <a:latin typeface="Times New Roman" panose="02020603050405020304" pitchFamily="18" charset="0"/>
                <a:cs typeface="Times New Roman" panose="02020603050405020304" pitchFamily="18" charset="0"/>
              </a:rPr>
              <a:t>28 December 2023,IEEE.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Highlights: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Proposes a full security framework for SDWSN, including authentication, clustering, and RL-based routing (TLDQN).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Core IDS uses a Hybrid approach: DTO-based malicious node detection + Bi-GAN for intrusion detection.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Designed for high accuracy and scalability, supported by a hierarchical multi-blockchain structure.</a:t>
            </a:r>
          </a:p>
          <a:p>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Relevance to AI-IDS: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Highly relevant due to its Hybrid + GAN-based IDS model, similar to architecture.</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Demonstrates advanced AI integration in distributed/edge environments.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the use of deep learning + anomaly generation techniques.</a:t>
            </a:r>
          </a:p>
          <a:p>
            <a:pPr>
              <a:buNone/>
            </a:pPr>
            <a:endParaRPr lang="en-US"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806D2A50-22F7-64B0-EF58-94B2F0211CC0}"/>
              </a:ext>
            </a:extLst>
          </p:cNvPr>
          <p:cNvCxnSpPr>
            <a:cxnSpLocks/>
          </p:cNvCxnSpPr>
          <p:nvPr/>
        </p:nvCxnSpPr>
        <p:spPr>
          <a:xfrm>
            <a:off x="467360" y="998697"/>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AC5E69D4-63A4-4E17-8B4D-F687D21624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81" t="26431" r="-981" b="27443"/>
          <a:stretch>
            <a:fillRect/>
          </a:stretch>
        </p:blipFill>
        <p:spPr bwMode="auto">
          <a:xfrm>
            <a:off x="9498330" y="245402"/>
            <a:ext cx="2070696" cy="5943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D5E537E-9131-7384-3F7A-0382C748907F}"/>
              </a:ext>
            </a:extLst>
          </p:cNvPr>
          <p:cNvSpPr txBox="1"/>
          <p:nvPr/>
        </p:nvSpPr>
        <p:spPr>
          <a:xfrm>
            <a:off x="-366165" y="320656"/>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25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4CAD7B-BB28-488E-D421-01915A95BD2C}"/>
              </a:ext>
            </a:extLst>
          </p:cNvPr>
          <p:cNvSpPr txBox="1"/>
          <p:nvPr/>
        </p:nvSpPr>
        <p:spPr>
          <a:xfrm>
            <a:off x="384429" y="1291698"/>
            <a:ext cx="10696918" cy="470898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AI-based Techniques for Network-based Intrusion Detection System: A Review.</a:t>
            </a:r>
          </a:p>
          <a:p>
            <a:pPr>
              <a:buNone/>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Yudhir</a:t>
            </a:r>
            <a:r>
              <a:rPr lang="en-IN" sz="2000" dirty="0">
                <a:latin typeface="Times New Roman" panose="02020603050405020304" pitchFamily="18" charset="0"/>
                <a:cs typeface="Times New Roman" panose="02020603050405020304" pitchFamily="18" charset="0"/>
              </a:rPr>
              <a:t> Gala, Nisha </a:t>
            </a:r>
            <a:r>
              <a:rPr lang="en-IN" sz="2000" dirty="0" err="1">
                <a:latin typeface="Times New Roman" panose="02020603050405020304" pitchFamily="18" charset="0"/>
                <a:cs typeface="Times New Roman" panose="02020603050405020304" pitchFamily="18" charset="0"/>
              </a:rPr>
              <a:t>Vanjari</a:t>
            </a:r>
            <a:r>
              <a:rPr lang="en-IN" sz="2000" dirty="0">
                <a:latin typeface="Times New Roman" panose="02020603050405020304" pitchFamily="18" charset="0"/>
                <a:cs typeface="Times New Roman" panose="02020603050405020304" pitchFamily="18" charset="0"/>
              </a:rPr>
              <a:t>, Dharm Doshi, </a:t>
            </a:r>
            <a:r>
              <a:rPr lang="en-IN" sz="2000" dirty="0" err="1">
                <a:latin typeface="Times New Roman" panose="02020603050405020304" pitchFamily="18" charset="0"/>
                <a:cs typeface="Times New Roman" panose="02020603050405020304" pitchFamily="18" charset="0"/>
              </a:rPr>
              <a:t>Inshiya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Radhanpurwala</a:t>
            </a:r>
            <a:r>
              <a:rPr lang="en-IN" sz="2000" dirty="0">
                <a:latin typeface="Times New Roman" panose="02020603050405020304" pitchFamily="18" charset="0"/>
                <a:cs typeface="Times New Roman" panose="02020603050405020304" pitchFamily="18" charset="0"/>
              </a:rPr>
              <a:t>.  </a:t>
            </a:r>
          </a:p>
          <a:p>
            <a:pPr>
              <a:buNone/>
            </a:pPr>
            <a:r>
              <a:rPr lang="en-US" sz="2000" b="1" dirty="0">
                <a:latin typeface="Times New Roman" panose="02020603050405020304" pitchFamily="18" charset="0"/>
                <a:cs typeface="Times New Roman" panose="02020603050405020304" pitchFamily="18" charset="0"/>
              </a:rPr>
              <a:t>Published In:</a:t>
            </a:r>
            <a:r>
              <a:rPr lang="en-US" sz="2000" dirty="0">
                <a:latin typeface="Times New Roman" panose="02020603050405020304" pitchFamily="18" charset="0"/>
                <a:cs typeface="Times New Roman" panose="02020603050405020304" pitchFamily="18" charset="0"/>
              </a:rPr>
              <a:t> 2023 10th International Conference on Computing for Sustainable Global Development.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Highlights: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Comprehensive survey of ML &amp; DL models used in NIDS (SVM, AE, LSTM, GANs, etc.).</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Notes a strong shift toward deep learning and hybrid approaches for better feature extraction and accuracy.</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Highlights key challenges: class imbalance, outdated datasets, and need for real-time performance.</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Relevance to AI-IDS: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Highly relevant as a literature foundation validating architectural choices.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use of LSTM, AE and Hybrid Models.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Confirms alignment with current research trends.</a:t>
            </a:r>
          </a:p>
          <a:p>
            <a:pPr>
              <a:buNone/>
            </a:pPr>
            <a:endParaRPr lang="en-US"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E771CA0D-ECB4-7545-A81D-C3230C0057B1}"/>
              </a:ext>
            </a:extLst>
          </p:cNvPr>
          <p:cNvCxnSpPr>
            <a:cxnSpLocks/>
          </p:cNvCxnSpPr>
          <p:nvPr/>
        </p:nvCxnSpPr>
        <p:spPr>
          <a:xfrm>
            <a:off x="384429" y="112313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CEB76E9B-01C1-8CC8-BE1A-FE9919C71E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568" b="21308"/>
          <a:stretch>
            <a:fillRect/>
          </a:stretch>
        </p:blipFill>
        <p:spPr bwMode="auto">
          <a:xfrm>
            <a:off x="9394786" y="227408"/>
            <a:ext cx="2286000" cy="7271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2C74A19-F803-18DB-F670-409E2F809DFF}"/>
              </a:ext>
            </a:extLst>
          </p:cNvPr>
          <p:cNvSpPr txBox="1"/>
          <p:nvPr/>
        </p:nvSpPr>
        <p:spPr>
          <a:xfrm>
            <a:off x="-389660" y="360160"/>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3950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02C75-C599-648E-AB73-B4EB52CEA40F}"/>
              </a:ext>
            </a:extLst>
          </p:cNvPr>
          <p:cNvSpPr txBox="1"/>
          <p:nvPr/>
        </p:nvSpPr>
        <p:spPr>
          <a:xfrm>
            <a:off x="487006" y="1074509"/>
            <a:ext cx="11172825" cy="4708981"/>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Title:</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Artificial Intelligence based Intrusion Detection Systems.</a:t>
            </a:r>
          </a:p>
          <a:p>
            <a:pPr>
              <a:buNone/>
            </a:pPr>
            <a:r>
              <a:rPr lang="en-IN" sz="2000" b="1" dirty="0">
                <a:latin typeface="Times New Roman" panose="02020603050405020304" pitchFamily="18" charset="0"/>
                <a:cs typeface="Times New Roman" panose="02020603050405020304" pitchFamily="18" charset="0"/>
              </a:rPr>
              <a:t>Authors:</a:t>
            </a:r>
            <a:r>
              <a:rPr lang="en-IN" sz="2000" dirty="0">
                <a:latin typeface="Times New Roman" panose="02020603050405020304" pitchFamily="18" charset="0"/>
                <a:cs typeface="Times New Roman" panose="02020603050405020304" pitchFamily="18" charset="0"/>
              </a:rPr>
              <a:t> Vignesh Reddy, Sunitha R, M. Anusha .</a:t>
            </a:r>
          </a:p>
          <a:p>
            <a:pPr>
              <a:buNone/>
            </a:pPr>
            <a:r>
              <a:rPr lang="en-IN" sz="2000" b="1" dirty="0">
                <a:latin typeface="Times New Roman" panose="02020603050405020304" pitchFamily="18" charset="0"/>
                <a:cs typeface="Times New Roman" panose="02020603050405020304" pitchFamily="18" charset="0"/>
              </a:rPr>
              <a:t>Published In: </a:t>
            </a:r>
            <a:r>
              <a:rPr lang="en-US" sz="2000" dirty="0">
                <a:latin typeface="Times New Roman" panose="02020603050405020304" pitchFamily="18" charset="0"/>
                <a:cs typeface="Times New Roman" panose="02020603050405020304" pitchFamily="18" charset="0"/>
              </a:rPr>
              <a:t>2024 4th International Conference on Mobile Networks and Wireless Communications.</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Highlights: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Surveys AI-based IDS techniques with emphasis on IoT and heterogeneous networks.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Concludes that Bi-LSTM and GANs perform best in complex, dynamic traffic, while ensemble models improve robustness.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hybrid DL + ML designs to reduce latency and computational cost.</a:t>
            </a:r>
          </a:p>
          <a:p>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Relevance to AI-IDS: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Highly relevant for model justification in architecture.</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Validates use of Bi-LSTM and ensemble classifiers.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system’s mixed-model approach.</a:t>
            </a:r>
          </a:p>
          <a:p>
            <a:pPr>
              <a:buNone/>
            </a:pPr>
            <a:endParaRPr lang="en-IN"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8C24D7AB-65AC-2C9F-242B-B7BBFFF846E2}"/>
              </a:ext>
            </a:extLst>
          </p:cNvPr>
          <p:cNvCxnSpPr>
            <a:cxnSpLocks/>
          </p:cNvCxnSpPr>
          <p:nvPr/>
        </p:nvCxnSpPr>
        <p:spPr>
          <a:xfrm>
            <a:off x="487006" y="924079"/>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E54A8753-549E-7D38-C9E9-3388584F39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966" b="27857"/>
          <a:stretch>
            <a:fillRect/>
          </a:stretch>
        </p:blipFill>
        <p:spPr bwMode="auto">
          <a:xfrm>
            <a:off x="9404946" y="203419"/>
            <a:ext cx="2286000" cy="68527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17BCE8C-2E17-CF12-8B99-9D91F35F32DE}"/>
              </a:ext>
            </a:extLst>
          </p:cNvPr>
          <p:cNvSpPr txBox="1"/>
          <p:nvPr/>
        </p:nvSpPr>
        <p:spPr>
          <a:xfrm>
            <a:off x="-369340" y="315223"/>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4482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907859-3D74-2BD4-B383-8C0F083A61D5}"/>
              </a:ext>
            </a:extLst>
          </p:cNvPr>
          <p:cNvSpPr txBox="1"/>
          <p:nvPr/>
        </p:nvSpPr>
        <p:spPr>
          <a:xfrm>
            <a:off x="501054" y="1212200"/>
            <a:ext cx="11125542" cy="5016758"/>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Artificial Intelligence-Powered Network Intrusion Detection System (IDS) with Hybrid Deep Learning Approach in Cloud Environments.</a:t>
            </a:r>
          </a:p>
          <a:p>
            <a:pPr>
              <a:buNone/>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A</a:t>
            </a:r>
            <a:r>
              <a:rPr lang="en-IN" sz="2000" dirty="0" err="1">
                <a:latin typeface="Times New Roman" panose="02020603050405020304" pitchFamily="18" charset="0"/>
                <a:cs typeface="Times New Roman" panose="02020603050405020304" pitchFamily="18" charset="0"/>
              </a:rPr>
              <a:t>kshay</a:t>
            </a:r>
            <a:r>
              <a:rPr lang="en-IN" sz="2000" dirty="0">
                <a:latin typeface="Times New Roman" panose="02020603050405020304" pitchFamily="18" charset="0"/>
                <a:cs typeface="Times New Roman" panose="02020603050405020304" pitchFamily="18" charset="0"/>
              </a:rPr>
              <a:t> Sharma, Bhushan Balkrishna Chaudhari, Satish </a:t>
            </a:r>
            <a:r>
              <a:rPr lang="en-IN" sz="2000" dirty="0" err="1">
                <a:latin typeface="Times New Roman" panose="02020603050405020304" pitchFamily="18" charset="0"/>
                <a:cs typeface="Times New Roman" panose="02020603050405020304" pitchFamily="18" charset="0"/>
              </a:rPr>
              <a:t>Kabade</a:t>
            </a:r>
            <a:r>
              <a:rPr lang="en-IN" sz="2000" dirty="0">
                <a:latin typeface="Times New Roman" panose="02020603050405020304" pitchFamily="18" charset="0"/>
                <a:cs typeface="Times New Roman" panose="02020603050405020304" pitchFamily="18" charset="0"/>
              </a:rPr>
              <a:t>. </a:t>
            </a:r>
          </a:p>
          <a:p>
            <a:pPr>
              <a:buNone/>
            </a:pPr>
            <a:r>
              <a:rPr lang="en-US" sz="2000" b="1" dirty="0">
                <a:latin typeface="Times New Roman" panose="02020603050405020304" pitchFamily="18" charset="0"/>
                <a:cs typeface="Times New Roman" panose="02020603050405020304" pitchFamily="18" charset="0"/>
              </a:rPr>
              <a:t>Published In:</a:t>
            </a:r>
            <a:r>
              <a:rPr lang="en-US" sz="2000" dirty="0">
                <a:latin typeface="Times New Roman" panose="02020603050405020304" pitchFamily="18" charset="0"/>
                <a:cs typeface="Times New Roman" panose="02020603050405020304" pitchFamily="18" charset="0"/>
              </a:rPr>
              <a:t> 2025, IEEE North-East India International Energy Conversion Conference and Exhibition.</a:t>
            </a:r>
          </a:p>
          <a:p>
            <a:pPr>
              <a:buNone/>
            </a:pPr>
            <a:r>
              <a:rPr lang="en-US" sz="2000" dirty="0">
                <a:latin typeface="Times New Roman" panose="02020603050405020304" pitchFamily="18" charset="0"/>
                <a:cs typeface="Times New Roman" panose="02020603050405020304" pitchFamily="18" charset="0"/>
              </a:rPr>
              <a:t> </a:t>
            </a:r>
          </a:p>
          <a:p>
            <a:pPr>
              <a:buNone/>
            </a:pPr>
            <a:r>
              <a:rPr lang="en-US" sz="2000" b="1" dirty="0">
                <a:latin typeface="Times New Roman" panose="02020603050405020304" pitchFamily="18" charset="0"/>
                <a:cs typeface="Times New Roman" panose="02020603050405020304" pitchFamily="18" charset="0"/>
              </a:rPr>
              <a:t>Highlights: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Proposes a real-time cloud NIDS using a hybrid LSTM-Petri Net (LSTM-</a:t>
            </a:r>
            <a:r>
              <a:rPr lang="en-US" altLang="en-US" sz="2000" dirty="0" err="1">
                <a:latin typeface="Times New Roman" panose="02020603050405020304" pitchFamily="18" charset="0"/>
                <a:cs typeface="Times New Roman" panose="02020603050405020304" pitchFamily="18" charset="0"/>
              </a:rPr>
              <a:t>PNet</a:t>
            </a:r>
            <a:r>
              <a:rPr lang="en-US" altLang="en-US" sz="2000" dirty="0">
                <a:latin typeface="Times New Roman" panose="02020603050405020304" pitchFamily="18" charset="0"/>
                <a:cs typeface="Times New Roman" panose="02020603050405020304" pitchFamily="18" charset="0"/>
              </a:rPr>
              <a:t>) model for better temporal analysis + structured decision-making.</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Uses CSE-CIC-IDS2018 with strong preprocessing and PCA for dimensionality reduction.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Achieves 99.68% accuracy, outperforming DT, DNN, CNN, and MLP-PSO models.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Relevance to AI-IDS:</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Highly relevant due to its hybrid deep learning + sequence modeling approach.</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Supports focus on real-time, high-accuracy IDS design.</a:t>
            </a:r>
          </a:p>
          <a:p>
            <a:pPr lvl="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Validates feature engineering techniques like PCA.</a:t>
            </a:r>
          </a:p>
          <a:p>
            <a:pPr>
              <a:buNone/>
            </a:pPr>
            <a:endParaRPr lang="en-US" sz="2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A8B24B5C-0B1E-2C48-1399-2E556CA04635}"/>
              </a:ext>
            </a:extLst>
          </p:cNvPr>
          <p:cNvCxnSpPr>
            <a:cxnSpLocks/>
          </p:cNvCxnSpPr>
          <p:nvPr/>
        </p:nvCxnSpPr>
        <p:spPr>
          <a:xfrm>
            <a:off x="599440" y="1003761"/>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F57185FE-5FE5-F274-34D8-7C321E7529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857" b="27857"/>
          <a:stretch>
            <a:fillRect/>
          </a:stretch>
        </p:blipFill>
        <p:spPr bwMode="auto">
          <a:xfrm>
            <a:off x="9404946" y="165407"/>
            <a:ext cx="2286000" cy="62991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66DC7E6-FCA3-A3D7-079A-F55D8365C9AD}"/>
              </a:ext>
            </a:extLst>
          </p:cNvPr>
          <p:cNvSpPr txBox="1"/>
          <p:nvPr/>
        </p:nvSpPr>
        <p:spPr>
          <a:xfrm>
            <a:off x="501054" y="249532"/>
            <a:ext cx="363406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42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AF825F93-AABB-3E43-548E-1396ADEDDEFC}"/>
              </a:ext>
            </a:extLst>
          </p:cNvPr>
          <p:cNvGraphicFramePr>
            <a:graphicFrameLocks noGrp="1"/>
          </p:cNvGraphicFramePr>
          <p:nvPr>
            <p:extLst>
              <p:ext uri="{D42A27DB-BD31-4B8C-83A1-F6EECF244321}">
                <p14:modId xmlns:p14="http://schemas.microsoft.com/office/powerpoint/2010/main" val="418759203"/>
              </p:ext>
            </p:extLst>
          </p:nvPr>
        </p:nvGraphicFramePr>
        <p:xfrm>
          <a:off x="599440" y="1085652"/>
          <a:ext cx="10874694" cy="5164346"/>
        </p:xfrm>
        <a:graphic>
          <a:graphicData uri="http://schemas.openxmlformats.org/drawingml/2006/table">
            <a:tbl>
              <a:tblPr>
                <a:tableStyleId>{5C22544A-7EE6-4342-B048-85BDC9FD1C3A}</a:tableStyleId>
              </a:tblPr>
              <a:tblGrid>
                <a:gridCol w="4651479">
                  <a:extLst>
                    <a:ext uri="{9D8B030D-6E8A-4147-A177-3AD203B41FA5}">
                      <a16:colId xmlns:a16="http://schemas.microsoft.com/office/drawing/2014/main" val="1212654612"/>
                    </a:ext>
                  </a:extLst>
                </a:gridCol>
                <a:gridCol w="2627454">
                  <a:extLst>
                    <a:ext uri="{9D8B030D-6E8A-4147-A177-3AD203B41FA5}">
                      <a16:colId xmlns:a16="http://schemas.microsoft.com/office/drawing/2014/main" val="1605289944"/>
                    </a:ext>
                  </a:extLst>
                </a:gridCol>
                <a:gridCol w="3595761">
                  <a:extLst>
                    <a:ext uri="{9D8B030D-6E8A-4147-A177-3AD203B41FA5}">
                      <a16:colId xmlns:a16="http://schemas.microsoft.com/office/drawing/2014/main" val="4242911729"/>
                    </a:ext>
                  </a:extLst>
                </a:gridCol>
              </a:tblGrid>
              <a:tr h="557024">
                <a:tc>
                  <a:txBody>
                    <a:bodyPr/>
                    <a:lstStyle/>
                    <a:p>
                      <a:pPr>
                        <a:buNone/>
                      </a:pPr>
                      <a:r>
                        <a:rPr lang="en-IN" sz="1500" b="1" dirty="0">
                          <a:latin typeface="Times New Roman" panose="02020603050405020304" pitchFamily="18" charset="0"/>
                          <a:cs typeface="Times New Roman" panose="02020603050405020304" pitchFamily="18" charset="0"/>
                        </a:rPr>
                        <a:t>Research paper</a:t>
                      </a:r>
                    </a:p>
                  </a:txBody>
                  <a:tcPr marL="72731" marR="72731" marT="36367" marB="36367" anchor="ctr"/>
                </a:tc>
                <a:tc>
                  <a:txBody>
                    <a:bodyPr/>
                    <a:lstStyle/>
                    <a:p>
                      <a:pPr>
                        <a:buNone/>
                      </a:pPr>
                      <a:r>
                        <a:rPr lang="en-IN" sz="1500" b="1" dirty="0">
                          <a:latin typeface="Times New Roman" panose="02020603050405020304" pitchFamily="18" charset="0"/>
                          <a:cs typeface="Times New Roman" panose="02020603050405020304" pitchFamily="18" charset="0"/>
                        </a:rPr>
                        <a:t>Core Applications/Focus</a:t>
                      </a:r>
                    </a:p>
                  </a:txBody>
                  <a:tcPr marL="72731" marR="72731" marT="36367" marB="36367" anchor="ctr"/>
                </a:tc>
                <a:tc>
                  <a:txBody>
                    <a:bodyPr/>
                    <a:lstStyle/>
                    <a:p>
                      <a:pPr>
                        <a:buNone/>
                      </a:pPr>
                      <a:r>
                        <a:rPr lang="en-IN" sz="1500" b="1" dirty="0">
                          <a:latin typeface="Times New Roman" panose="02020603050405020304" pitchFamily="18" charset="0"/>
                          <a:cs typeface="Times New Roman" panose="02020603050405020304" pitchFamily="18" charset="0"/>
                        </a:rPr>
                        <a:t>Related to My Project</a:t>
                      </a:r>
                    </a:p>
                  </a:txBody>
                  <a:tcPr marL="72731" marR="72731" marT="36367" marB="36367" anchor="ctr"/>
                </a:tc>
                <a:extLst>
                  <a:ext uri="{0D108BD9-81ED-4DB2-BD59-A6C34878D82A}">
                    <a16:rowId xmlns:a16="http://schemas.microsoft.com/office/drawing/2014/main" val="2743954719"/>
                  </a:ext>
                </a:extLst>
              </a:tr>
              <a:tr h="797310">
                <a:tc>
                  <a:txBody>
                    <a:bodyPr/>
                    <a:lstStyle/>
                    <a:p>
                      <a:pPr>
                        <a:buNone/>
                      </a:pPr>
                      <a:r>
                        <a:rPr lang="en-US" sz="1600" b="1" dirty="0">
                          <a:latin typeface="Times New Roman" panose="02020603050405020304" pitchFamily="18" charset="0"/>
                          <a:cs typeface="Times New Roman" panose="02020603050405020304" pitchFamily="18" charset="0"/>
                        </a:rPr>
                        <a:t>AI-IDS: Application of Deep Learning to Real-Time Web Intrusion Detection</a:t>
                      </a:r>
                      <a:r>
                        <a:rPr lang="en-US" sz="1600" dirty="0">
                          <a:latin typeface="Times New Roman" panose="02020603050405020304" pitchFamily="18" charset="0"/>
                          <a:cs typeface="Times New Roman" panose="02020603050405020304" pitchFamily="18" charset="0"/>
                        </a:rPr>
                        <a:t> (A. Kim et al., 2020).</a:t>
                      </a:r>
                      <a:endParaRPr lang="en-US" sz="1500" dirty="0">
                        <a:latin typeface="Times New Roman" panose="02020603050405020304" pitchFamily="18" charset="0"/>
                        <a:cs typeface="Times New Roman" panose="02020603050405020304" pitchFamily="18" charset="0"/>
                      </a:endParaRPr>
                    </a:p>
                  </a:txBody>
                  <a:tcPr marL="72731" marR="72731" marT="36367" marB="36367" anchor="ctr"/>
                </a:tc>
                <a:tc>
                  <a:txBody>
                    <a:bodyPr/>
                    <a:lstStyle/>
                    <a:p>
                      <a:pPr>
                        <a:buNone/>
                      </a:pPr>
                      <a:r>
                        <a:rPr lang="en-US" sz="1600" b="1" dirty="0">
                          <a:latin typeface="Times New Roman" panose="02020603050405020304" pitchFamily="18" charset="0"/>
                          <a:cs typeface="Times New Roman" panose="02020603050405020304" pitchFamily="18" charset="0"/>
                        </a:rPr>
                        <a:t>Real-Time Web Traffic</a:t>
                      </a:r>
                      <a:r>
                        <a:rPr lang="en-US" sz="1600" dirty="0">
                          <a:latin typeface="Times New Roman" panose="02020603050405020304" pitchFamily="18" charset="0"/>
                          <a:cs typeface="Times New Roman" panose="02020603050405020304" pitchFamily="18" charset="0"/>
                        </a:rPr>
                        <a:t> at Big Data scale (HTTP requests).</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tc>
                  <a:txBody>
                    <a:bodyPr/>
                    <a:lstStyle/>
                    <a:p>
                      <a:pPr>
                        <a:buNone/>
                      </a:pPr>
                      <a:r>
                        <a:rPr lang="en-US" sz="1600" b="1" dirty="0">
                          <a:latin typeface="Times New Roman" panose="02020603050405020304" pitchFamily="18" charset="0"/>
                          <a:cs typeface="Times New Roman" panose="02020603050405020304" pitchFamily="18" charset="0"/>
                        </a:rPr>
                        <a:t>Architectural Blueprint:</a:t>
                      </a:r>
                      <a:r>
                        <a:rPr lang="en-US" sz="1600" dirty="0">
                          <a:latin typeface="Times New Roman" panose="02020603050405020304" pitchFamily="18" charset="0"/>
                          <a:cs typeface="Times New Roman" panose="02020603050405020304" pitchFamily="18" charset="0"/>
                        </a:rPr>
                        <a:t> Provides a validated model (</a:t>
                      </a:r>
                      <a:r>
                        <a:rPr lang="en-US" sz="1600" b="1" dirty="0">
                          <a:latin typeface="Times New Roman" panose="02020603050405020304" pitchFamily="18" charset="0"/>
                          <a:cs typeface="Times New Roman" panose="02020603050405020304" pitchFamily="18" charset="0"/>
                        </a:rPr>
                        <a:t>CNN-LSTM</a:t>
                      </a:r>
                      <a:r>
                        <a:rPr lang="en-US" sz="1600" dirty="0">
                          <a:latin typeface="Times New Roman" panose="02020603050405020304" pitchFamily="18" charset="0"/>
                          <a:cs typeface="Times New Roman" panose="02020603050405020304" pitchFamily="18" charset="0"/>
                        </a:rPr>
                        <a:t>) specifically for </a:t>
                      </a:r>
                      <a:r>
                        <a:rPr lang="en-US" sz="1600" b="1" dirty="0">
                          <a:latin typeface="Times New Roman" panose="02020603050405020304" pitchFamily="18" charset="0"/>
                          <a:cs typeface="Times New Roman" panose="02020603050405020304" pitchFamily="18" charset="0"/>
                        </a:rPr>
                        <a:t>real-time HTTP web attacks</a:t>
                      </a:r>
                      <a:r>
                        <a:rPr lang="en-US" sz="1600" dirty="0">
                          <a:latin typeface="Times New Roman" panose="02020603050405020304" pitchFamily="18" charset="0"/>
                          <a:cs typeface="Times New Roman" panose="02020603050405020304" pitchFamily="18" charset="0"/>
                        </a:rPr>
                        <a:t> (unknown/obfuscated). It is implemented using </a:t>
                      </a:r>
                      <a:r>
                        <a:rPr lang="en-US" sz="1600" b="1" dirty="0">
                          <a:latin typeface="Times New Roman" panose="02020603050405020304" pitchFamily="18" charset="0"/>
                          <a:cs typeface="Times New Roman" panose="02020603050405020304" pitchFamily="18" charset="0"/>
                        </a:rPr>
                        <a:t>Docker</a:t>
                      </a:r>
                      <a:r>
                        <a:rPr lang="en-US" sz="1600" dirty="0">
                          <a:latin typeface="Times New Roman" panose="02020603050405020304" pitchFamily="18" charset="0"/>
                          <a:cs typeface="Times New Roman" panose="02020603050405020304" pitchFamily="18" charset="0"/>
                        </a:rPr>
                        <a:t> for scalability, directly supporting your "live traffic" goal.</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extLst>
                  <a:ext uri="{0D108BD9-81ED-4DB2-BD59-A6C34878D82A}">
                    <a16:rowId xmlns:a16="http://schemas.microsoft.com/office/drawing/2014/main" val="369861297"/>
                  </a:ext>
                </a:extLst>
              </a:tr>
              <a:tr h="797310">
                <a:tc>
                  <a:txBody>
                    <a:bodyPr/>
                    <a:lstStyle/>
                    <a:p>
                      <a:pPr>
                        <a:buNone/>
                      </a:pPr>
                      <a:r>
                        <a:rPr lang="en-US" sz="1600" b="1" dirty="0">
                          <a:latin typeface="Times New Roman" panose="02020603050405020304" pitchFamily="18" charset="0"/>
                          <a:cs typeface="Times New Roman" panose="02020603050405020304" pitchFamily="18" charset="0"/>
                        </a:rPr>
                        <a:t>Development of AI-based IDS with Real-Time Flow Feature Extraction</a:t>
                      </a:r>
                      <a:r>
                        <a:rPr lang="en-US" sz="1600" dirty="0">
                          <a:latin typeface="Times New Roman" panose="02020603050405020304" pitchFamily="18" charset="0"/>
                          <a:cs typeface="Times New Roman" panose="02020603050405020304" pitchFamily="18" charset="0"/>
                        </a:rPr>
                        <a:t> (G. Sur et al., 2023)</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tc>
                  <a:txBody>
                    <a:bodyPr/>
                    <a:lstStyle/>
                    <a:p>
                      <a:pPr>
                        <a:buNone/>
                      </a:pPr>
                      <a:r>
                        <a:rPr lang="en-US" sz="1600" b="1" dirty="0">
                          <a:latin typeface="Times New Roman" panose="02020603050405020304" pitchFamily="18" charset="0"/>
                          <a:cs typeface="Times New Roman" panose="02020603050405020304" pitchFamily="18" charset="0"/>
                        </a:rPr>
                        <a:t>Real-Time Flow Feature Extraction</a:t>
                      </a:r>
                      <a:r>
                        <a:rPr lang="en-US" sz="1600" dirty="0">
                          <a:latin typeface="Times New Roman" panose="02020603050405020304" pitchFamily="18" charset="0"/>
                          <a:cs typeface="Times New Roman" panose="02020603050405020304" pitchFamily="18" charset="0"/>
                        </a:rPr>
                        <a:t> (2,800 flows/sec) via parallel monitors and GPU servers.</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tc>
                  <a:txBody>
                    <a:bodyPr/>
                    <a:lstStyle/>
                    <a:p>
                      <a:pPr>
                        <a:buNone/>
                      </a:pPr>
                      <a:r>
                        <a:rPr lang="en-US" sz="1600" b="1" dirty="0">
                          <a:latin typeface="Times New Roman" panose="02020603050405020304" pitchFamily="18" charset="0"/>
                          <a:cs typeface="Times New Roman" panose="02020603050405020304" pitchFamily="18" charset="0"/>
                        </a:rPr>
                        <a:t>Feature Engineering &amp; Scalability:</a:t>
                      </a:r>
                      <a:r>
                        <a:rPr lang="en-US" sz="1600" dirty="0">
                          <a:latin typeface="Times New Roman" panose="02020603050405020304" pitchFamily="18" charset="0"/>
                          <a:cs typeface="Times New Roman" panose="02020603050405020304" pitchFamily="18" charset="0"/>
                        </a:rPr>
                        <a:t> Validates the technical feasibility of </a:t>
                      </a:r>
                      <a:r>
                        <a:rPr lang="en-US" sz="1600" b="1" dirty="0">
                          <a:latin typeface="Times New Roman" panose="02020603050405020304" pitchFamily="18" charset="0"/>
                          <a:cs typeface="Times New Roman" panose="02020603050405020304" pitchFamily="18" charset="0"/>
                        </a:rPr>
                        <a:t>high-throughput, real-time feature extraction</a:t>
                      </a:r>
                      <a:r>
                        <a:rPr lang="en-US" sz="1600" dirty="0">
                          <a:latin typeface="Times New Roman" panose="02020603050405020304" pitchFamily="18" charset="0"/>
                          <a:cs typeface="Times New Roman" panose="02020603050405020304" pitchFamily="18" charset="0"/>
                        </a:rPr>
                        <a:t> from live traffic using parallel hardware and </a:t>
                      </a:r>
                      <a:r>
                        <a:rPr lang="en-US" sz="1600" b="1" dirty="0" err="1">
                          <a:latin typeface="Times New Roman" panose="02020603050405020304" pitchFamily="18" charset="0"/>
                          <a:cs typeface="Times New Roman" panose="02020603050405020304" pitchFamily="18" charset="0"/>
                        </a:rPr>
                        <a:t>CICFlowmeter</a:t>
                      </a:r>
                      <a:r>
                        <a:rPr lang="en-US" sz="1600" dirty="0">
                          <a:latin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extLst>
                  <a:ext uri="{0D108BD9-81ED-4DB2-BD59-A6C34878D82A}">
                    <a16:rowId xmlns:a16="http://schemas.microsoft.com/office/drawing/2014/main" val="3686463685"/>
                  </a:ext>
                </a:extLst>
              </a:tr>
              <a:tr h="797310">
                <a:tc>
                  <a:txBody>
                    <a:bodyPr/>
                    <a:lstStyle/>
                    <a:p>
                      <a:pPr>
                        <a:buNone/>
                      </a:pPr>
                      <a:r>
                        <a:rPr lang="en-US" sz="1600" b="1" dirty="0">
                          <a:latin typeface="Times New Roman" panose="02020603050405020304" pitchFamily="18" charset="0"/>
                          <a:cs typeface="Times New Roman" panose="02020603050405020304" pitchFamily="18" charset="0"/>
                        </a:rPr>
                        <a:t>AI-Driven Real-Time NIDS... in Cloud Environments</a:t>
                      </a:r>
                      <a:r>
                        <a:rPr lang="en-US" sz="1600" dirty="0">
                          <a:latin typeface="Times New Roman" panose="02020603050405020304" pitchFamily="18" charset="0"/>
                          <a:cs typeface="Times New Roman" panose="02020603050405020304" pitchFamily="18" charset="0"/>
                        </a:rPr>
                        <a:t> Ci(A. Sharma et al., 2025)</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tc>
                  <a:txBody>
                    <a:bodyPr/>
                    <a:lstStyle/>
                    <a:p>
                      <a:pPr>
                        <a:buNone/>
                      </a:pPr>
                      <a:r>
                        <a:rPr lang="en-US" sz="1600" b="1" dirty="0">
                          <a:latin typeface="Times New Roman" panose="02020603050405020304" pitchFamily="18" charset="0"/>
                          <a:cs typeface="Times New Roman" panose="02020603050405020304" pitchFamily="18" charset="0"/>
                        </a:rPr>
                        <a:t>Real-Time NIDS</a:t>
                      </a:r>
                      <a:r>
                        <a:rPr lang="en-US" sz="1600" dirty="0">
                          <a:latin typeface="Times New Roman" panose="02020603050405020304" pitchFamily="18" charset="0"/>
                          <a:cs typeface="Times New Roman" panose="02020603050405020304" pitchFamily="18" charset="0"/>
                        </a:rPr>
                        <a:t> for </a:t>
                      </a:r>
                      <a:r>
                        <a:rPr lang="en-US" sz="1600" b="1" dirty="0">
                          <a:latin typeface="Times New Roman" panose="02020603050405020304" pitchFamily="18" charset="0"/>
                          <a:cs typeface="Times New Roman" panose="02020603050405020304" pitchFamily="18" charset="0"/>
                        </a:rPr>
                        <a:t>Cloud Environments</a:t>
                      </a:r>
                      <a:r>
                        <a:rPr lang="en-US" sz="1600" dirty="0">
                          <a:latin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tc>
                  <a:txBody>
                    <a:bodyPr/>
                    <a:lstStyle/>
                    <a:p>
                      <a:pPr>
                        <a:buNone/>
                      </a:pPr>
                      <a:r>
                        <a:rPr lang="en-US" sz="1600" b="1" dirty="0">
                          <a:latin typeface="Times New Roman" panose="02020603050405020304" pitchFamily="18" charset="0"/>
                          <a:cs typeface="Times New Roman" panose="02020603050405020304" pitchFamily="18" charset="0"/>
                        </a:rPr>
                        <a:t>Context and Benchmarking:</a:t>
                      </a:r>
                      <a:r>
                        <a:rPr lang="en-US" sz="1600" dirty="0">
                          <a:latin typeface="Times New Roman" panose="02020603050405020304" pitchFamily="18" charset="0"/>
                          <a:cs typeface="Times New Roman" panose="02020603050405020304" pitchFamily="18" charset="0"/>
                        </a:rPr>
                        <a:t> Emphasizes the critical need for real-time, high-accuracy NIDS in dynamic cloud environments. This reinforces the importance of your solution for modern infrastructures.</a:t>
                      </a:r>
                      <a:endParaRPr lang="en-IN" sz="1500" dirty="0">
                        <a:latin typeface="Times New Roman" panose="02020603050405020304" pitchFamily="18" charset="0"/>
                        <a:cs typeface="Times New Roman" panose="02020603050405020304" pitchFamily="18" charset="0"/>
                      </a:endParaRPr>
                    </a:p>
                  </a:txBody>
                  <a:tcPr marL="72731" marR="72731" marT="36367" marB="36367" anchor="ctr"/>
                </a:tc>
                <a:extLst>
                  <a:ext uri="{0D108BD9-81ED-4DB2-BD59-A6C34878D82A}">
                    <a16:rowId xmlns:a16="http://schemas.microsoft.com/office/drawing/2014/main" val="2154354701"/>
                  </a:ext>
                </a:extLst>
              </a:tr>
            </a:tbl>
          </a:graphicData>
        </a:graphic>
      </p:graphicFrame>
      <p:cxnSp>
        <p:nvCxnSpPr>
          <p:cNvPr id="4" name="Straight Connector 3">
            <a:extLst>
              <a:ext uri="{FF2B5EF4-FFF2-40B4-BE49-F238E27FC236}">
                <a16:creationId xmlns:a16="http://schemas.microsoft.com/office/drawing/2014/main" id="{E77F60A4-301F-859C-5590-6525FB855F3E}"/>
              </a:ext>
            </a:extLst>
          </p:cNvPr>
          <p:cNvCxnSpPr>
            <a:cxnSpLocks/>
          </p:cNvCxnSpPr>
          <p:nvPr/>
        </p:nvCxnSpPr>
        <p:spPr>
          <a:xfrm>
            <a:off x="599440" y="90469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C943FD38-0787-FB68-1F1F-762FDDC56C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286" b="27143"/>
          <a:stretch>
            <a:fillRect/>
          </a:stretch>
        </p:blipFill>
        <p:spPr bwMode="auto">
          <a:xfrm>
            <a:off x="9415106" y="183036"/>
            <a:ext cx="2286000" cy="6197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7A42C82-3927-FBCF-E3E8-B45B3AFFA80B}"/>
              </a:ext>
            </a:extLst>
          </p:cNvPr>
          <p:cNvSpPr txBox="1"/>
          <p:nvPr/>
        </p:nvSpPr>
        <p:spPr>
          <a:xfrm>
            <a:off x="-287648" y="262080"/>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295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F2789840-62C9-B731-9976-3F781F14BD70}"/>
              </a:ext>
            </a:extLst>
          </p:cNvPr>
          <p:cNvGraphicFramePr>
            <a:graphicFrameLocks noGrp="1"/>
          </p:cNvGraphicFramePr>
          <p:nvPr>
            <p:extLst>
              <p:ext uri="{D42A27DB-BD31-4B8C-83A1-F6EECF244321}">
                <p14:modId xmlns:p14="http://schemas.microsoft.com/office/powerpoint/2010/main" val="3763671687"/>
              </p:ext>
            </p:extLst>
          </p:nvPr>
        </p:nvGraphicFramePr>
        <p:xfrm>
          <a:off x="555584" y="1222428"/>
          <a:ext cx="10929388" cy="4794639"/>
        </p:xfrm>
        <a:graphic>
          <a:graphicData uri="http://schemas.openxmlformats.org/drawingml/2006/table">
            <a:tbl>
              <a:tblPr>
                <a:tableStyleId>{5C22544A-7EE6-4342-B048-85BDC9FD1C3A}</a:tableStyleId>
              </a:tblPr>
              <a:tblGrid>
                <a:gridCol w="5266482">
                  <a:extLst>
                    <a:ext uri="{9D8B030D-6E8A-4147-A177-3AD203B41FA5}">
                      <a16:colId xmlns:a16="http://schemas.microsoft.com/office/drawing/2014/main" val="894017126"/>
                    </a:ext>
                  </a:extLst>
                </a:gridCol>
                <a:gridCol w="2974693">
                  <a:extLst>
                    <a:ext uri="{9D8B030D-6E8A-4147-A177-3AD203B41FA5}">
                      <a16:colId xmlns:a16="http://schemas.microsoft.com/office/drawing/2014/main" val="2328313077"/>
                    </a:ext>
                  </a:extLst>
                </a:gridCol>
                <a:gridCol w="2688213">
                  <a:extLst>
                    <a:ext uri="{9D8B030D-6E8A-4147-A177-3AD203B41FA5}">
                      <a16:colId xmlns:a16="http://schemas.microsoft.com/office/drawing/2014/main" val="2953193699"/>
                    </a:ext>
                  </a:extLst>
                </a:gridCol>
              </a:tblGrid>
              <a:tr h="550707">
                <a:tc>
                  <a:txBody>
                    <a:bodyPr/>
                    <a:lstStyle/>
                    <a:p>
                      <a:pPr>
                        <a:buNone/>
                      </a:pPr>
                      <a:r>
                        <a:rPr lang="en-IN" sz="1500" b="1" dirty="0">
                          <a:latin typeface="Times New Roman" panose="02020603050405020304" pitchFamily="18" charset="0"/>
                          <a:cs typeface="Times New Roman" panose="02020603050405020304" pitchFamily="18" charset="0"/>
                        </a:rPr>
                        <a:t>Research Paper</a:t>
                      </a:r>
                    </a:p>
                  </a:txBody>
                  <a:tcPr marL="63364" marR="63364" marT="31682" marB="31682" anchor="ctr"/>
                </a:tc>
                <a:tc>
                  <a:txBody>
                    <a:bodyPr/>
                    <a:lstStyle/>
                    <a:p>
                      <a:pPr>
                        <a:buNone/>
                      </a:pPr>
                      <a:r>
                        <a:rPr lang="en-IN" sz="1500" b="1" dirty="0">
                          <a:latin typeface="Times New Roman" panose="02020603050405020304" pitchFamily="18" charset="0"/>
                          <a:cs typeface="Times New Roman" panose="02020603050405020304" pitchFamily="18" charset="0"/>
                        </a:rPr>
                        <a:t>Core ML Model &amp; Result</a:t>
                      </a:r>
                    </a:p>
                  </a:txBody>
                  <a:tcPr marL="63364" marR="63364" marT="31682" marB="31682" anchor="ctr"/>
                </a:tc>
                <a:tc>
                  <a:txBody>
                    <a:bodyPr/>
                    <a:lstStyle/>
                    <a:p>
                      <a:pPr>
                        <a:buNone/>
                      </a:pPr>
                      <a:r>
                        <a:rPr lang="en-IN" sz="1500" b="1" dirty="0">
                          <a:latin typeface="Times New Roman" panose="02020603050405020304" pitchFamily="18" charset="0"/>
                          <a:cs typeface="Times New Roman" panose="02020603050405020304" pitchFamily="18" charset="0"/>
                        </a:rPr>
                        <a:t>Related to My Project</a:t>
                      </a:r>
                    </a:p>
                  </a:txBody>
                  <a:tcPr marL="63364" marR="63364" marT="31682" marB="31682" anchor="ctr"/>
                </a:tc>
                <a:extLst>
                  <a:ext uri="{0D108BD9-81ED-4DB2-BD59-A6C34878D82A}">
                    <a16:rowId xmlns:a16="http://schemas.microsoft.com/office/drawing/2014/main" val="3167106469"/>
                  </a:ext>
                </a:extLst>
              </a:tr>
              <a:tr h="765657">
                <a:tc>
                  <a:txBody>
                    <a:bodyPr/>
                    <a:lstStyle/>
                    <a:p>
                      <a:pPr>
                        <a:buNone/>
                      </a:pPr>
                      <a:r>
                        <a:rPr lang="en-US" sz="1400" b="1" dirty="0">
                          <a:latin typeface="Times New Roman" panose="02020603050405020304" pitchFamily="18" charset="0"/>
                          <a:cs typeface="Times New Roman" panose="02020603050405020304" pitchFamily="18" charset="0"/>
                        </a:rPr>
                        <a:t>AI-Driven Real-Time NIDS using ML and DL</a:t>
                      </a:r>
                      <a:r>
                        <a:rPr lang="en-US" sz="1400" dirty="0">
                          <a:latin typeface="Times New Roman" panose="02020603050405020304" pitchFamily="18" charset="0"/>
                          <a:cs typeface="Times New Roman" panose="02020603050405020304" pitchFamily="18" charset="0"/>
                        </a:rPr>
                        <a:t> (V. </a:t>
                      </a:r>
                      <a:r>
                        <a:rPr lang="en-US" sz="1400" dirty="0" err="1">
                          <a:latin typeface="Times New Roman" panose="02020603050405020304" pitchFamily="18" charset="0"/>
                          <a:cs typeface="Times New Roman" panose="02020603050405020304" pitchFamily="18" charset="0"/>
                        </a:rPr>
                        <a:t>Bagmar</a:t>
                      </a:r>
                      <a:r>
                        <a:rPr lang="en-US" sz="1400" dirty="0">
                          <a:latin typeface="Times New Roman" panose="02020603050405020304" pitchFamily="18" charset="0"/>
                          <a:cs typeface="Times New Roman" panose="02020603050405020304" pitchFamily="18" charset="0"/>
                        </a:rPr>
                        <a:t>, 2025)</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Random Forest (RF)</a:t>
                      </a:r>
                      <a:r>
                        <a:rPr lang="en-US" sz="1400" dirty="0">
                          <a:latin typeface="Times New Roman" panose="02020603050405020304" pitchFamily="18" charset="0"/>
                          <a:cs typeface="Times New Roman" panose="02020603050405020304" pitchFamily="18" charset="0"/>
                        </a:rPr>
                        <a:t>: Achieved </a:t>
                      </a:r>
                      <a:r>
                        <a:rPr lang="en-US" sz="1400" b="1" dirty="0">
                          <a:latin typeface="Times New Roman" panose="02020603050405020304" pitchFamily="18" charset="0"/>
                          <a:cs typeface="Times New Roman" panose="02020603050405020304" pitchFamily="18" charset="0"/>
                        </a:rPr>
                        <a:t>99.80% Accuracy</a:t>
                      </a:r>
                      <a:r>
                        <a:rPr lang="en-US" sz="1400" dirty="0">
                          <a:latin typeface="Times New Roman" panose="02020603050405020304" pitchFamily="18" charset="0"/>
                          <a:cs typeface="Times New Roman" panose="02020603050405020304" pitchFamily="18" charset="0"/>
                        </a:rPr>
                        <a:t>.</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ML Classifier Validation:</a:t>
                      </a:r>
                      <a:r>
                        <a:rPr lang="en-US" sz="1400" dirty="0">
                          <a:latin typeface="Times New Roman" panose="02020603050405020304" pitchFamily="18" charset="0"/>
                          <a:cs typeface="Times New Roman" panose="02020603050405020304" pitchFamily="18" charset="0"/>
                        </a:rPr>
                        <a:t> Strongly validates </a:t>
                      </a:r>
                      <a:r>
                        <a:rPr lang="en-US" sz="1400" b="1" dirty="0">
                          <a:latin typeface="Times New Roman" panose="02020603050405020304" pitchFamily="18" charset="0"/>
                          <a:cs typeface="Times New Roman" panose="02020603050405020304" pitchFamily="18" charset="0"/>
                        </a:rPr>
                        <a:t>Random Forest</a:t>
                      </a:r>
                      <a:r>
                        <a:rPr lang="en-US" sz="1400" dirty="0">
                          <a:latin typeface="Times New Roman" panose="02020603050405020304" pitchFamily="18" charset="0"/>
                          <a:cs typeface="Times New Roman" panose="02020603050405020304" pitchFamily="18" charset="0"/>
                        </a:rPr>
                        <a:t> as the </a:t>
                      </a:r>
                      <a:r>
                        <a:rPr lang="en-US" sz="1400" b="1" dirty="0">
                          <a:latin typeface="Times New Roman" panose="02020603050405020304" pitchFamily="18" charset="0"/>
                          <a:cs typeface="Times New Roman" panose="02020603050405020304" pitchFamily="18" charset="0"/>
                        </a:rPr>
                        <a:t>optimal ML classifier</a:t>
                      </a:r>
                      <a:r>
                        <a:rPr lang="en-US" sz="1400" dirty="0">
                          <a:latin typeface="Times New Roman" panose="02020603050405020304" pitchFamily="18" charset="0"/>
                          <a:cs typeface="Times New Roman" panose="02020603050405020304" pitchFamily="18" charset="0"/>
                        </a:rPr>
                        <a:t> (outperforming NN and KNN) for a real-time, high-accuracy component against </a:t>
                      </a:r>
                      <a:r>
                        <a:rPr lang="en-US" sz="1400" b="1" dirty="0">
                          <a:latin typeface="Times New Roman" panose="02020603050405020304" pitchFamily="18" charset="0"/>
                          <a:cs typeface="Times New Roman" panose="02020603050405020304" pitchFamily="18" charset="0"/>
                        </a:rPr>
                        <a:t>anomalous behavior</a:t>
                      </a:r>
                      <a:r>
                        <a:rPr lang="en-US" sz="1400" dirty="0">
                          <a:latin typeface="Times New Roman" panose="02020603050405020304" pitchFamily="18" charset="0"/>
                          <a:cs typeface="Times New Roman" panose="02020603050405020304" pitchFamily="18" charset="0"/>
                        </a:rPr>
                        <a:t>.</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extLst>
                  <a:ext uri="{0D108BD9-81ED-4DB2-BD59-A6C34878D82A}">
                    <a16:rowId xmlns:a16="http://schemas.microsoft.com/office/drawing/2014/main" val="4057440826"/>
                  </a:ext>
                </a:extLst>
              </a:tr>
              <a:tr h="765657">
                <a:tc>
                  <a:txBody>
                    <a:bodyPr/>
                    <a:lstStyle/>
                    <a:p>
                      <a:pPr>
                        <a:buNone/>
                      </a:pPr>
                      <a:r>
                        <a:rPr lang="en-IN" sz="1400" b="1" dirty="0">
                          <a:latin typeface="Times New Roman" panose="02020603050405020304" pitchFamily="18" charset="0"/>
                          <a:cs typeface="Times New Roman" panose="02020603050405020304" pitchFamily="18" charset="0"/>
                        </a:rPr>
                        <a:t>AI-Based IDS for Secure AI BOX Applications</a:t>
                      </a:r>
                      <a:r>
                        <a:rPr lang="en-IN" sz="1400" dirty="0">
                          <a:latin typeface="Times New Roman" panose="02020603050405020304" pitchFamily="18" charset="0"/>
                          <a:cs typeface="Times New Roman" panose="02020603050405020304" pitchFamily="18" charset="0"/>
                        </a:rPr>
                        <a:t> (J. Chen et al., 2023)</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Extremely Randomized Trees</a:t>
                      </a:r>
                      <a:r>
                        <a:rPr lang="en-US" sz="1400" dirty="0">
                          <a:latin typeface="Times New Roman" panose="02020603050405020304" pitchFamily="18" charset="0"/>
                          <a:cs typeface="Times New Roman" panose="02020603050405020304" pitchFamily="18" charset="0"/>
                        </a:rPr>
                        <a:t> (ensemble/variant of RF): Achieved </a:t>
                      </a:r>
                      <a:r>
                        <a:rPr lang="en-US" sz="1400" b="1" dirty="0">
                          <a:latin typeface="Times New Roman" panose="02020603050405020304" pitchFamily="18" charset="0"/>
                          <a:cs typeface="Times New Roman" panose="02020603050405020304" pitchFamily="18" charset="0"/>
                        </a:rPr>
                        <a:t>99% accuracy</a:t>
                      </a:r>
                      <a:r>
                        <a:rPr lang="en-US" sz="1400" dirty="0">
                          <a:latin typeface="Times New Roman" panose="02020603050405020304" pitchFamily="18" charset="0"/>
                          <a:cs typeface="Times New Roman" panose="02020603050405020304" pitchFamily="18" charset="0"/>
                        </a:rPr>
                        <a:t>.</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ML Classifier Validation:</a:t>
                      </a:r>
                      <a:r>
                        <a:rPr lang="en-US" sz="1400" dirty="0">
                          <a:latin typeface="Times New Roman" panose="02020603050405020304" pitchFamily="18" charset="0"/>
                          <a:cs typeface="Times New Roman" panose="02020603050405020304" pitchFamily="18" charset="0"/>
                        </a:rPr>
                        <a:t> Further reinforces the selection of </a:t>
                      </a:r>
                      <a:r>
                        <a:rPr lang="en-US" sz="1400" b="1" dirty="0">
                          <a:latin typeface="Times New Roman" panose="02020603050405020304" pitchFamily="18" charset="0"/>
                          <a:cs typeface="Times New Roman" panose="02020603050405020304" pitchFamily="18" charset="0"/>
                        </a:rPr>
                        <a:t>ensemble classifiers</a:t>
                      </a:r>
                      <a:r>
                        <a:rPr lang="en-US" sz="1400" dirty="0">
                          <a:latin typeface="Times New Roman" panose="02020603050405020304" pitchFamily="18" charset="0"/>
                          <a:cs typeface="Times New Roman" panose="02020603050405020304" pitchFamily="18" charset="0"/>
                        </a:rPr>
                        <a:t> (like RF/</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for achieving high-accuracy, efficient detection on embedded/real-time systems.</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extLst>
                  <a:ext uri="{0D108BD9-81ED-4DB2-BD59-A6C34878D82A}">
                    <a16:rowId xmlns:a16="http://schemas.microsoft.com/office/drawing/2014/main" val="319666124"/>
                  </a:ext>
                </a:extLst>
              </a:tr>
              <a:tr h="1195558">
                <a:tc>
                  <a:txBody>
                    <a:bodyPr/>
                    <a:lstStyle/>
                    <a:p>
                      <a:pPr>
                        <a:buNone/>
                      </a:pPr>
                      <a:r>
                        <a:rPr lang="en-IN" sz="1400" b="1" dirty="0">
                          <a:latin typeface="Times New Roman" panose="02020603050405020304" pitchFamily="18" charset="0"/>
                          <a:cs typeface="Times New Roman" panose="02020603050405020304" pitchFamily="18" charset="0"/>
                        </a:rPr>
                        <a:t>AI-based Techniques for NIDS: A Review</a:t>
                      </a:r>
                      <a:r>
                        <a:rPr lang="en-IN" sz="1400" dirty="0">
                          <a:latin typeface="Times New Roman" panose="02020603050405020304" pitchFamily="18" charset="0"/>
                          <a:cs typeface="Times New Roman" panose="02020603050405020304" pitchFamily="18" charset="0"/>
                        </a:rPr>
                        <a:t> (Y. Gala et al., 2023)</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IN" sz="1400" dirty="0">
                          <a:latin typeface="Times New Roman" panose="02020603050405020304" pitchFamily="18" charset="0"/>
                          <a:cs typeface="Times New Roman" panose="02020603050405020304" pitchFamily="18" charset="0"/>
                        </a:rPr>
                        <a:t>Review of </a:t>
                      </a:r>
                      <a:r>
                        <a:rPr lang="en-IN" sz="1400" b="1" dirty="0">
                          <a:latin typeface="Times New Roman" panose="02020603050405020304" pitchFamily="18" charset="0"/>
                          <a:cs typeface="Times New Roman" panose="02020603050405020304" pitchFamily="18" charset="0"/>
                        </a:rPr>
                        <a:t>SVM</a:t>
                      </a:r>
                      <a:r>
                        <a:rPr lang="en-IN" sz="1400" dirty="0">
                          <a:latin typeface="Times New Roman" panose="02020603050405020304" pitchFamily="18" charset="0"/>
                          <a:cs typeface="Times New Roman" panose="02020603050405020304" pitchFamily="18" charset="0"/>
                        </a:rPr>
                        <a:t>.</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Hybrid Rationale:</a:t>
                      </a:r>
                      <a:r>
                        <a:rPr lang="en-US" sz="1400" dirty="0">
                          <a:latin typeface="Times New Roman" panose="02020603050405020304" pitchFamily="18" charset="0"/>
                          <a:cs typeface="Times New Roman" panose="02020603050405020304" pitchFamily="18" charset="0"/>
                        </a:rPr>
                        <a:t> Supports the common hybrid approach where </a:t>
                      </a:r>
                      <a:r>
                        <a:rPr lang="en-US" sz="1400" b="1" dirty="0">
                          <a:latin typeface="Times New Roman" panose="02020603050405020304" pitchFamily="18" charset="0"/>
                          <a:cs typeface="Times New Roman" panose="02020603050405020304" pitchFamily="18" charset="0"/>
                        </a:rPr>
                        <a:t>ML models (like SVM or RF)</a:t>
                      </a:r>
                      <a:r>
                        <a:rPr lang="en-US" sz="1400" dirty="0">
                          <a:latin typeface="Times New Roman" panose="02020603050405020304" pitchFamily="18" charset="0"/>
                          <a:cs typeface="Times New Roman" panose="02020603050405020304" pitchFamily="18" charset="0"/>
                        </a:rPr>
                        <a:t> handle the final classification task after a deep learning model performs feature extraction.</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extLst>
                  <a:ext uri="{0D108BD9-81ED-4DB2-BD59-A6C34878D82A}">
                    <a16:rowId xmlns:a16="http://schemas.microsoft.com/office/drawing/2014/main" val="1869757696"/>
                  </a:ext>
                </a:extLst>
              </a:tr>
            </a:tbl>
          </a:graphicData>
        </a:graphic>
      </p:graphicFrame>
      <p:cxnSp>
        <p:nvCxnSpPr>
          <p:cNvPr id="4" name="Straight Connector 3">
            <a:extLst>
              <a:ext uri="{FF2B5EF4-FFF2-40B4-BE49-F238E27FC236}">
                <a16:creationId xmlns:a16="http://schemas.microsoft.com/office/drawing/2014/main" id="{E69CB165-3530-4C6F-9E32-7E09E95416AF}"/>
              </a:ext>
            </a:extLst>
          </p:cNvPr>
          <p:cNvCxnSpPr>
            <a:cxnSpLocks/>
          </p:cNvCxnSpPr>
          <p:nvPr/>
        </p:nvCxnSpPr>
        <p:spPr>
          <a:xfrm>
            <a:off x="491852" y="97073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E30A3959-45C7-5563-ECF1-6F0EDE383E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143" b="27142"/>
          <a:stretch>
            <a:fillRect/>
          </a:stretch>
        </p:blipFill>
        <p:spPr bwMode="auto">
          <a:xfrm>
            <a:off x="9404946" y="167796"/>
            <a:ext cx="2286000" cy="6502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E855087-3EF9-AB99-3035-85C0F1FDE4FF}"/>
              </a:ext>
            </a:extLst>
          </p:cNvPr>
          <p:cNvSpPr txBox="1"/>
          <p:nvPr/>
        </p:nvSpPr>
        <p:spPr>
          <a:xfrm>
            <a:off x="-414472" y="257384"/>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78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6AD7A-48A2-5964-F313-5DE60E982EB9}"/>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3C130145-295F-2B25-388E-63D941DC2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sketch line">
            <a:extLst>
              <a:ext uri="{FF2B5EF4-FFF2-40B4-BE49-F238E27FC236}">
                <a16:creationId xmlns:a16="http://schemas.microsoft.com/office/drawing/2014/main" id="{B4349C85-77DE-0502-CFE4-A4765AC81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4A0AC321-4E7A-4C1A-D8E6-A241120CDB94}"/>
              </a:ext>
            </a:extLst>
          </p:cNvPr>
          <p:cNvGraphicFramePr>
            <a:graphicFrameLocks noGrp="1"/>
          </p:cNvGraphicFramePr>
          <p:nvPr>
            <p:extLst>
              <p:ext uri="{D42A27DB-BD31-4B8C-83A1-F6EECF244321}">
                <p14:modId xmlns:p14="http://schemas.microsoft.com/office/powerpoint/2010/main" val="1407127115"/>
              </p:ext>
            </p:extLst>
          </p:nvPr>
        </p:nvGraphicFramePr>
        <p:xfrm>
          <a:off x="491852" y="1351720"/>
          <a:ext cx="10929388" cy="4154559"/>
        </p:xfrm>
        <a:graphic>
          <a:graphicData uri="http://schemas.openxmlformats.org/drawingml/2006/table">
            <a:tbl>
              <a:tblPr>
                <a:tableStyleId>{5C22544A-7EE6-4342-B048-85BDC9FD1C3A}</a:tableStyleId>
              </a:tblPr>
              <a:tblGrid>
                <a:gridCol w="4687748">
                  <a:extLst>
                    <a:ext uri="{9D8B030D-6E8A-4147-A177-3AD203B41FA5}">
                      <a16:colId xmlns:a16="http://schemas.microsoft.com/office/drawing/2014/main" val="894017126"/>
                    </a:ext>
                  </a:extLst>
                </a:gridCol>
                <a:gridCol w="2777924">
                  <a:extLst>
                    <a:ext uri="{9D8B030D-6E8A-4147-A177-3AD203B41FA5}">
                      <a16:colId xmlns:a16="http://schemas.microsoft.com/office/drawing/2014/main" val="2328313077"/>
                    </a:ext>
                  </a:extLst>
                </a:gridCol>
                <a:gridCol w="3463716">
                  <a:extLst>
                    <a:ext uri="{9D8B030D-6E8A-4147-A177-3AD203B41FA5}">
                      <a16:colId xmlns:a16="http://schemas.microsoft.com/office/drawing/2014/main" val="2953193699"/>
                    </a:ext>
                  </a:extLst>
                </a:gridCol>
              </a:tblGrid>
              <a:tr h="550707">
                <a:tc>
                  <a:txBody>
                    <a:bodyPr/>
                    <a:lstStyle/>
                    <a:p>
                      <a:pPr>
                        <a:buNone/>
                      </a:pPr>
                      <a:r>
                        <a:rPr lang="en-IN" sz="1500" b="1" dirty="0">
                          <a:latin typeface="Times New Roman" panose="02020603050405020304" pitchFamily="18" charset="0"/>
                          <a:cs typeface="Times New Roman" panose="02020603050405020304" pitchFamily="18" charset="0"/>
                        </a:rPr>
                        <a:t>Research Paper</a:t>
                      </a:r>
                    </a:p>
                  </a:txBody>
                  <a:tcPr marL="63364" marR="63364" marT="31682" marB="31682" anchor="ctr"/>
                </a:tc>
                <a:tc>
                  <a:txBody>
                    <a:bodyPr/>
                    <a:lstStyle/>
                    <a:p>
                      <a:pPr>
                        <a:buNone/>
                      </a:pPr>
                      <a:r>
                        <a:rPr lang="en-IN" sz="1500" b="1" dirty="0">
                          <a:latin typeface="Times New Roman" panose="02020603050405020304" pitchFamily="18" charset="0"/>
                          <a:cs typeface="Times New Roman" panose="02020603050405020304" pitchFamily="18" charset="0"/>
                        </a:rPr>
                        <a:t>Core DL/Anomaly Model</a:t>
                      </a:r>
                    </a:p>
                  </a:txBody>
                  <a:tcPr marL="63364" marR="63364" marT="31682" marB="31682" anchor="ctr"/>
                </a:tc>
                <a:tc>
                  <a:txBody>
                    <a:bodyPr/>
                    <a:lstStyle/>
                    <a:p>
                      <a:pPr>
                        <a:buNone/>
                      </a:pPr>
                      <a:r>
                        <a:rPr lang="en-IN" sz="1500" b="1" dirty="0">
                          <a:latin typeface="Times New Roman" panose="02020603050405020304" pitchFamily="18" charset="0"/>
                          <a:cs typeface="Times New Roman" panose="02020603050405020304" pitchFamily="18" charset="0"/>
                        </a:rPr>
                        <a:t>Related to My Project</a:t>
                      </a:r>
                    </a:p>
                  </a:txBody>
                  <a:tcPr marL="63364" marR="63364" marT="31682" marB="31682" anchor="ctr"/>
                </a:tc>
                <a:extLst>
                  <a:ext uri="{0D108BD9-81ED-4DB2-BD59-A6C34878D82A}">
                    <a16:rowId xmlns:a16="http://schemas.microsoft.com/office/drawing/2014/main" val="3167106469"/>
                  </a:ext>
                </a:extLst>
              </a:tr>
              <a:tr h="765657">
                <a:tc>
                  <a:txBody>
                    <a:bodyPr/>
                    <a:lstStyle/>
                    <a:p>
                      <a:pPr>
                        <a:buNone/>
                      </a:pPr>
                      <a:r>
                        <a:rPr lang="en-IN" sz="1400" b="1" dirty="0">
                          <a:latin typeface="Times New Roman" panose="02020603050405020304" pitchFamily="18" charset="0"/>
                          <a:cs typeface="Times New Roman" panose="02020603050405020304" pitchFamily="18" charset="0"/>
                        </a:rPr>
                        <a:t>An Enhanced AI-Based NIDS Using GANs</a:t>
                      </a:r>
                      <a:r>
                        <a:rPr lang="en-IN" sz="1400" dirty="0">
                          <a:latin typeface="Times New Roman" panose="02020603050405020304" pitchFamily="18" charset="0"/>
                          <a:cs typeface="Times New Roman" panose="02020603050405020304" pitchFamily="18" charset="0"/>
                        </a:rPr>
                        <a:t> (C. Park et al., 2023)</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GANs (BEGAN)</a:t>
                      </a:r>
                      <a:r>
                        <a:rPr lang="en-US" sz="1400" dirty="0">
                          <a:latin typeface="Times New Roman" panose="02020603050405020304" pitchFamily="18" charset="0"/>
                          <a:cs typeface="Times New Roman" panose="02020603050405020304" pitchFamily="18" charset="0"/>
                        </a:rPr>
                        <a:t> combined with </a:t>
                      </a:r>
                      <a:r>
                        <a:rPr lang="en-US" sz="1400" b="1" dirty="0">
                          <a:latin typeface="Times New Roman" panose="02020603050405020304" pitchFamily="18" charset="0"/>
                          <a:cs typeface="Times New Roman" panose="02020603050405020304" pitchFamily="18" charset="0"/>
                        </a:rPr>
                        <a:t>Autoencoders (AE)</a:t>
                      </a:r>
                      <a:r>
                        <a:rPr lang="en-US" sz="1400" dirty="0">
                          <a:latin typeface="Times New Roman" panose="02020603050405020304" pitchFamily="18" charset="0"/>
                          <a:cs typeface="Times New Roman" panose="02020603050405020304" pitchFamily="18" charset="0"/>
                        </a:rPr>
                        <a:t> for feature extraction.</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Unknown Attack Detection:</a:t>
                      </a:r>
                      <a:r>
                        <a:rPr lang="en-US" sz="1400" dirty="0">
                          <a:latin typeface="Times New Roman" panose="02020603050405020304" pitchFamily="18" charset="0"/>
                          <a:cs typeface="Times New Roman" panose="02020603050405020304" pitchFamily="18" charset="0"/>
                        </a:rPr>
                        <a:t> Provides the most direct evidence for using </a:t>
                      </a:r>
                      <a:r>
                        <a:rPr lang="en-US" sz="1400" b="1" dirty="0">
                          <a:latin typeface="Times New Roman" panose="02020603050405020304" pitchFamily="18" charset="0"/>
                          <a:cs typeface="Times New Roman" panose="02020603050405020304" pitchFamily="18" charset="0"/>
                        </a:rPr>
                        <a:t>GANs/AEs</a:t>
                      </a:r>
                      <a:r>
                        <a:rPr lang="en-US" sz="1400" dirty="0">
                          <a:latin typeface="Times New Roman" panose="02020603050405020304" pitchFamily="18" charset="0"/>
                          <a:cs typeface="Times New Roman" panose="02020603050405020304" pitchFamily="18" charset="0"/>
                        </a:rPr>
                        <a:t> to solve </a:t>
                      </a:r>
                      <a:r>
                        <a:rPr lang="en-US" sz="1400" b="1" dirty="0">
                          <a:latin typeface="Times New Roman" panose="02020603050405020304" pitchFamily="18" charset="0"/>
                          <a:cs typeface="Times New Roman" panose="02020603050405020304" pitchFamily="18" charset="0"/>
                        </a:rPr>
                        <a:t>data imbalance</a:t>
                      </a:r>
                      <a:r>
                        <a:rPr lang="en-US" sz="1400" dirty="0">
                          <a:latin typeface="Times New Roman" panose="02020603050405020304" pitchFamily="18" charset="0"/>
                          <a:cs typeface="Times New Roman" panose="02020603050405020304" pitchFamily="18" charset="0"/>
                        </a:rPr>
                        <a:t> and augment training to detect </a:t>
                      </a:r>
                      <a:r>
                        <a:rPr lang="en-US" sz="1400" b="1" dirty="0">
                          <a:latin typeface="Times New Roman" panose="02020603050405020304" pitchFamily="18" charset="0"/>
                          <a:cs typeface="Times New Roman" panose="02020603050405020304" pitchFamily="18" charset="0"/>
                        </a:rPr>
                        <a:t>rare/minor attacks</a:t>
                      </a:r>
                      <a:r>
                        <a:rPr lang="en-US" sz="1400" dirty="0">
                          <a:latin typeface="Times New Roman" panose="02020603050405020304" pitchFamily="18" charset="0"/>
                          <a:cs typeface="Times New Roman" panose="02020603050405020304" pitchFamily="18" charset="0"/>
                        </a:rPr>
                        <a:t> (mimicking unknown threats).</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extLst>
                  <a:ext uri="{0D108BD9-81ED-4DB2-BD59-A6C34878D82A}">
                    <a16:rowId xmlns:a16="http://schemas.microsoft.com/office/drawing/2014/main" val="4057440826"/>
                  </a:ext>
                </a:extLst>
              </a:tr>
              <a:tr h="765657">
                <a:tc>
                  <a:txBody>
                    <a:bodyPr/>
                    <a:lstStyle/>
                    <a:p>
                      <a:pPr>
                        <a:buNone/>
                      </a:pPr>
                      <a:r>
                        <a:rPr lang="en-US" sz="1400" b="1" dirty="0">
                          <a:latin typeface="Times New Roman" panose="02020603050405020304" pitchFamily="18" charset="0"/>
                          <a:cs typeface="Times New Roman" panose="02020603050405020304" pitchFamily="18" charset="0"/>
                        </a:rPr>
                        <a:t>AI-Driven Real-Time NIDS... with Hybrid Deep Learning</a:t>
                      </a:r>
                      <a:r>
                        <a:rPr lang="en-US" sz="1400" dirty="0">
                          <a:latin typeface="Times New Roman" panose="02020603050405020304" pitchFamily="18" charset="0"/>
                          <a:cs typeface="Times New Roman" panose="02020603050405020304" pitchFamily="18" charset="0"/>
                        </a:rPr>
                        <a:t> (A. Sharma et al., 2025)</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IN" sz="1400" b="1" dirty="0">
                          <a:latin typeface="Times New Roman" panose="02020603050405020304" pitchFamily="18" charset="0"/>
                          <a:cs typeface="Times New Roman" panose="02020603050405020304" pitchFamily="18" charset="0"/>
                        </a:rPr>
                        <a:t>LSTM-Petri Net (</a:t>
                      </a:r>
                      <a:r>
                        <a:rPr lang="en-IN" sz="1400" b="1" dirty="0" err="1">
                          <a:latin typeface="Times New Roman" panose="02020603050405020304" pitchFamily="18" charset="0"/>
                          <a:cs typeface="Times New Roman" panose="02020603050405020304" pitchFamily="18" charset="0"/>
                        </a:rPr>
                        <a:t>PNet</a:t>
                      </a:r>
                      <a:r>
                        <a:rPr lang="en-IN" sz="1400" b="1"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Sequence Model Innovation:</a:t>
                      </a:r>
                      <a:r>
                        <a:rPr lang="en-US" sz="1400" dirty="0">
                          <a:latin typeface="Times New Roman" panose="02020603050405020304" pitchFamily="18" charset="0"/>
                          <a:cs typeface="Times New Roman" panose="02020603050405020304" pitchFamily="18" charset="0"/>
                        </a:rPr>
                        <a:t> Validates the use of </a:t>
                      </a:r>
                      <a:r>
                        <a:rPr lang="en-US" sz="1400" b="1" dirty="0">
                          <a:latin typeface="Times New Roman" panose="02020603050405020304" pitchFamily="18" charset="0"/>
                          <a:cs typeface="Times New Roman" panose="02020603050405020304" pitchFamily="18" charset="0"/>
                        </a:rPr>
                        <a:t>LSTM</a:t>
                      </a:r>
                      <a:r>
                        <a:rPr lang="en-US" sz="1400" dirty="0">
                          <a:latin typeface="Times New Roman" panose="02020603050405020304" pitchFamily="18" charset="0"/>
                          <a:cs typeface="Times New Roman" panose="02020603050405020304" pitchFamily="18" charset="0"/>
                        </a:rPr>
                        <a:t> to capture </a:t>
                      </a:r>
                      <a:r>
                        <a:rPr lang="en-US" sz="1400" b="1" dirty="0">
                          <a:latin typeface="Times New Roman" panose="02020603050405020304" pitchFamily="18" charset="0"/>
                          <a:cs typeface="Times New Roman" panose="02020603050405020304" pitchFamily="18" charset="0"/>
                        </a:rPr>
                        <a:t>temporal patterns</a:t>
                      </a:r>
                      <a:r>
                        <a:rPr lang="en-US" sz="1400" dirty="0">
                          <a:latin typeface="Times New Roman" panose="02020603050405020304" pitchFamily="18" charset="0"/>
                          <a:cs typeface="Times New Roman" panose="02020603050405020304" pitchFamily="18" charset="0"/>
                        </a:rPr>
                        <a:t> in traffic, showing how it can be enhanced with supplementary methods (like Petri Nets) to improve structured decision-making.</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extLst>
                  <a:ext uri="{0D108BD9-81ED-4DB2-BD59-A6C34878D82A}">
                    <a16:rowId xmlns:a16="http://schemas.microsoft.com/office/drawing/2014/main" val="319666124"/>
                  </a:ext>
                </a:extLst>
              </a:tr>
              <a:tr h="1195558">
                <a:tc>
                  <a:txBody>
                    <a:bodyPr/>
                    <a:lstStyle/>
                    <a:p>
                      <a:pPr>
                        <a:buNone/>
                      </a:pPr>
                      <a:r>
                        <a:rPr lang="en-IN" sz="1400" b="1" dirty="0">
                          <a:latin typeface="Times New Roman" panose="02020603050405020304" pitchFamily="18" charset="0"/>
                          <a:cs typeface="Times New Roman" panose="02020603050405020304" pitchFamily="18" charset="0"/>
                        </a:rPr>
                        <a:t>AI-based Intrusion Detection Systems</a:t>
                      </a:r>
                      <a:r>
                        <a:rPr lang="en-IN" sz="1400" dirty="0">
                          <a:latin typeface="Times New Roman" panose="02020603050405020304" pitchFamily="18" charset="0"/>
                          <a:cs typeface="Times New Roman" panose="02020603050405020304" pitchFamily="18" charset="0"/>
                        </a:rPr>
                        <a:t> (V. Reddy et al., 2024)</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IN" sz="1400" b="1" dirty="0">
                          <a:latin typeface="Times New Roman" panose="02020603050405020304" pitchFamily="18" charset="0"/>
                          <a:cs typeface="Times New Roman" panose="02020603050405020304" pitchFamily="18" charset="0"/>
                        </a:rPr>
                        <a:t>Bi-LSTM</a:t>
                      </a:r>
                      <a:r>
                        <a:rPr lang="en-IN" sz="1400" dirty="0">
                          <a:latin typeface="Times New Roman" panose="02020603050405020304" pitchFamily="18" charset="0"/>
                          <a:cs typeface="Times New Roman" panose="02020603050405020304" pitchFamily="18" charset="0"/>
                        </a:rPr>
                        <a:t> and </a:t>
                      </a:r>
                      <a:r>
                        <a:rPr lang="en-IN" sz="1400" b="1" dirty="0">
                          <a:latin typeface="Times New Roman" panose="02020603050405020304" pitchFamily="18" charset="0"/>
                          <a:cs typeface="Times New Roman" panose="02020603050405020304" pitchFamily="18" charset="0"/>
                        </a:rPr>
                        <a:t>GANs</a:t>
                      </a:r>
                      <a:r>
                        <a:rPr lang="en-IN" sz="1400" dirty="0">
                          <a:latin typeface="Times New Roman" panose="02020603050405020304" pitchFamily="18" charset="0"/>
                          <a:cs typeface="Times New Roman" panose="02020603050405020304" pitchFamily="18" charset="0"/>
                        </a:rPr>
                        <a:t>.</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tc>
                  <a:txBody>
                    <a:bodyPr/>
                    <a:lstStyle/>
                    <a:p>
                      <a:pPr>
                        <a:buNone/>
                      </a:pPr>
                      <a:r>
                        <a:rPr lang="en-US" sz="1400" b="1" dirty="0">
                          <a:latin typeface="Times New Roman" panose="02020603050405020304" pitchFamily="18" charset="0"/>
                          <a:cs typeface="Times New Roman" panose="02020603050405020304" pitchFamily="18" charset="0"/>
                        </a:rPr>
                        <a:t>Model Justification:</a:t>
                      </a:r>
                      <a:r>
                        <a:rPr lang="en-US" sz="1400" dirty="0">
                          <a:latin typeface="Times New Roman" panose="02020603050405020304" pitchFamily="18" charset="0"/>
                          <a:cs typeface="Times New Roman" panose="02020603050405020304" pitchFamily="18" charset="0"/>
                        </a:rPr>
                        <a:t> Concludes that </a:t>
                      </a:r>
                      <a:r>
                        <a:rPr lang="en-US" sz="1400" b="1" dirty="0">
                          <a:latin typeface="Times New Roman" panose="02020603050405020304" pitchFamily="18" charset="0"/>
                          <a:cs typeface="Times New Roman" panose="02020603050405020304" pitchFamily="18" charset="0"/>
                        </a:rPr>
                        <a:t>Bi-LSTM</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GANs</a:t>
                      </a:r>
                      <a:r>
                        <a:rPr lang="en-US" sz="1400" dirty="0">
                          <a:latin typeface="Times New Roman" panose="02020603050405020304" pitchFamily="18" charset="0"/>
                          <a:cs typeface="Times New Roman" panose="02020603050405020304" pitchFamily="18" charset="0"/>
                        </a:rPr>
                        <a:t> are best for tackling </a:t>
                      </a:r>
                      <a:r>
                        <a:rPr lang="en-US" sz="1400" b="1" dirty="0">
                          <a:latin typeface="Times New Roman" panose="02020603050405020304" pitchFamily="18" charset="0"/>
                          <a:cs typeface="Times New Roman" panose="02020603050405020304" pitchFamily="18" charset="0"/>
                        </a:rPr>
                        <a:t>dynamic, complex data streams</a:t>
                      </a:r>
                      <a:r>
                        <a:rPr lang="en-US" sz="1400" dirty="0">
                          <a:latin typeface="Times New Roman" panose="02020603050405020304" pitchFamily="18" charset="0"/>
                          <a:cs typeface="Times New Roman" panose="02020603050405020304" pitchFamily="18" charset="0"/>
                        </a:rPr>
                        <a:t>, directly justifying their inclusion as the adaptive/anomaly-detecting component of your hybrid system.</a:t>
                      </a:r>
                      <a:endParaRPr lang="en-IN" sz="1300" dirty="0">
                        <a:latin typeface="Times New Roman" panose="02020603050405020304" pitchFamily="18" charset="0"/>
                        <a:cs typeface="Times New Roman" panose="02020603050405020304" pitchFamily="18" charset="0"/>
                      </a:endParaRPr>
                    </a:p>
                  </a:txBody>
                  <a:tcPr marL="63364" marR="63364" marT="31682" marB="31682" anchor="ctr"/>
                </a:tc>
                <a:extLst>
                  <a:ext uri="{0D108BD9-81ED-4DB2-BD59-A6C34878D82A}">
                    <a16:rowId xmlns:a16="http://schemas.microsoft.com/office/drawing/2014/main" val="1869757696"/>
                  </a:ext>
                </a:extLst>
              </a:tr>
            </a:tbl>
          </a:graphicData>
        </a:graphic>
      </p:graphicFrame>
      <p:cxnSp>
        <p:nvCxnSpPr>
          <p:cNvPr id="4" name="Straight Connector 3">
            <a:extLst>
              <a:ext uri="{FF2B5EF4-FFF2-40B4-BE49-F238E27FC236}">
                <a16:creationId xmlns:a16="http://schemas.microsoft.com/office/drawing/2014/main" id="{73ABA4D3-D3B8-1906-230A-4DAC593D4994}"/>
              </a:ext>
            </a:extLst>
          </p:cNvPr>
          <p:cNvCxnSpPr>
            <a:cxnSpLocks/>
          </p:cNvCxnSpPr>
          <p:nvPr/>
        </p:nvCxnSpPr>
        <p:spPr>
          <a:xfrm>
            <a:off x="491852" y="107233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360851A5-8F9A-5BE9-226E-BCC3B8B9A5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286" b="21972"/>
          <a:stretch>
            <a:fillRect/>
          </a:stretch>
        </p:blipFill>
        <p:spPr bwMode="auto">
          <a:xfrm>
            <a:off x="9404946" y="135902"/>
            <a:ext cx="2286000" cy="6933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0691A84-7051-1E48-760A-C45E340D243D}"/>
              </a:ext>
            </a:extLst>
          </p:cNvPr>
          <p:cNvSpPr txBox="1"/>
          <p:nvPr/>
        </p:nvSpPr>
        <p:spPr>
          <a:xfrm>
            <a:off x="-414472" y="257384"/>
            <a:ext cx="51169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837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D7B3D54-3E2A-E2A6-DA28-2C7534B1B5C8}"/>
              </a:ext>
            </a:extLst>
          </p:cNvPr>
          <p:cNvCxnSpPr>
            <a:cxnSpLocks/>
          </p:cNvCxnSpPr>
          <p:nvPr/>
        </p:nvCxnSpPr>
        <p:spPr>
          <a:xfrm>
            <a:off x="586990" y="107644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5A4E9833-6C56-CE74-5AAF-73BF5B394485}"/>
              </a:ext>
            </a:extLst>
          </p:cNvPr>
          <p:cNvSpPr txBox="1"/>
          <p:nvPr/>
        </p:nvSpPr>
        <p:spPr>
          <a:xfrm>
            <a:off x="-422787" y="265471"/>
            <a:ext cx="6345736"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TOOLS AND TECHNOLOGIES </a:t>
            </a:r>
            <a:r>
              <a:rPr lang="en-US" sz="2400" b="1" dirty="0">
                <a:latin typeface="Times New Roman" panose="02020603050405020304" pitchFamily="18" charset="0"/>
                <a:cs typeface="Times New Roman" panose="02020603050405020304" pitchFamily="18" charset="0"/>
              </a:rPr>
              <a:t> </a:t>
            </a:r>
            <a:endParaRPr lang="en-IN" sz="2400" b="1"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915F13ED-26CB-5CB9-6E6C-5135ACEE19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023" b="22121"/>
          <a:stretch>
            <a:fillRect/>
          </a:stretch>
        </p:blipFill>
        <p:spPr bwMode="auto">
          <a:xfrm>
            <a:off x="9642764" y="135501"/>
            <a:ext cx="1937346" cy="6733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a:extLst>
              <a:ext uri="{FF2B5EF4-FFF2-40B4-BE49-F238E27FC236}">
                <a16:creationId xmlns:a16="http://schemas.microsoft.com/office/drawing/2014/main" id="{66789069-A3C1-0CD8-BBCA-DE60D0781B01}"/>
              </a:ext>
            </a:extLst>
          </p:cNvPr>
          <p:cNvSpPr>
            <a:spLocks noChangeArrowheads="1"/>
          </p:cNvSpPr>
          <p:nvPr/>
        </p:nvSpPr>
        <p:spPr bwMode="auto">
          <a:xfrm rot="10800000" flipV="1">
            <a:off x="729672" y="20606856"/>
            <a:ext cx="102481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Closing the Security Gap</a:t>
            </a:r>
            <a:r>
              <a:rPr kumimoji="0" lang="en-US" altLang="en-US" sz="1800" b="0" i="0" u="none" strike="noStrike" cap="none" normalizeH="0" baseline="0">
                <a:ln>
                  <a:noFill/>
                </a:ln>
                <a:solidFill>
                  <a:schemeClr val="tx1"/>
                </a:solidFill>
                <a:effectLst/>
                <a:latin typeface="Arial" panose="020B0604020202020204" pitchFamily="34" charset="0"/>
              </a:rPr>
              <a:t> 🔗: Address both technical malware and the advanced social engineering tactics used in modern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Shifting to Proactive Defense</a:t>
            </a:r>
            <a:r>
              <a:rPr kumimoji="0" lang="en-US" altLang="en-US" sz="1800" b="0" i="0" u="none" strike="noStrike" cap="none" normalizeH="0" baseline="0">
                <a:ln>
                  <a:noFill/>
                </a:ln>
                <a:solidFill>
                  <a:schemeClr val="tx1"/>
                </a:solidFill>
                <a:effectLst/>
                <a:latin typeface="Arial" panose="020B0604020202020204" pitchFamily="34" charset="0"/>
              </a:rPr>
              <a:t> 🏃‍♂️: Move from a reactive model to a proactive one that stops attacks before they start.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Combating AI-Driven Threats</a:t>
            </a:r>
            <a:r>
              <a:rPr kumimoji="0" lang="en-US" altLang="en-US" sz="1800" b="0" i="0" u="none" strike="noStrike" cap="none" normalizeH="0" baseline="0">
                <a:ln>
                  <a:noFill/>
                </a:ln>
                <a:solidFill>
                  <a:schemeClr val="tx1"/>
                </a:solidFill>
                <a:effectLst/>
                <a:latin typeface="Arial" panose="020B0604020202020204" pitchFamily="34" charset="0"/>
              </a:rPr>
              <a:t> 🤖: Tackle the emerging threat of deepfake images used for deception and fraud.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Empowering the User</a:t>
            </a:r>
            <a:r>
              <a:rPr kumimoji="0" lang="en-US" altLang="en-US" sz="1800" b="0" i="0" u="none" strike="noStrike" cap="none" normalizeH="0" baseline="0">
                <a:ln>
                  <a:noFill/>
                </a:ln>
                <a:solidFill>
                  <a:schemeClr val="tx1"/>
                </a:solidFill>
                <a:effectLst/>
                <a:latin typeface="Arial" panose="020B0604020202020204" pitchFamily="34" charset="0"/>
              </a:rPr>
              <a:t> 💪: Transform the user from the "weakest link" into a strong first line of defense with advanced tools and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Contributing a Novel, Layered Solution</a:t>
            </a:r>
            <a:r>
              <a:rPr kumimoji="0" lang="en-US" altLang="en-US" sz="1800" b="0" i="0" u="none" strike="noStrike" cap="none" normalizeH="0" baseline="0">
                <a:ln>
                  <a:noFill/>
                </a:ln>
                <a:solidFill>
                  <a:schemeClr val="tx1"/>
                </a:solidFill>
                <a:effectLst/>
                <a:latin typeface="Arial" panose="020B0604020202020204" pitchFamily="34" charset="0"/>
              </a:rPr>
              <a:t> 🧩: Design a hybrid defense model that combines technical and human-layer security for a more resilient system.</a:t>
            </a:r>
          </a:p>
        </p:txBody>
      </p:sp>
      <p:sp>
        <p:nvSpPr>
          <p:cNvPr id="5" name="Rectangle 4">
            <a:extLst>
              <a:ext uri="{FF2B5EF4-FFF2-40B4-BE49-F238E27FC236}">
                <a16:creationId xmlns:a16="http://schemas.microsoft.com/office/drawing/2014/main" id="{9F8564F5-B38D-7F16-10D4-37E292AAAEB0}"/>
              </a:ext>
            </a:extLst>
          </p:cNvPr>
          <p:cNvSpPr>
            <a:spLocks noChangeArrowheads="1"/>
          </p:cNvSpPr>
          <p:nvPr/>
        </p:nvSpPr>
        <p:spPr bwMode="auto">
          <a:xfrm rot="10800000" flipV="1">
            <a:off x="586990" y="1158138"/>
            <a:ext cx="11137016"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Arial" panose="020B0604020202020204" pitchFamily="34" charset="0"/>
              <a:buChar char="•"/>
            </a:pPr>
            <a:r>
              <a:rPr lang="en-IN" sz="2000" dirty="0"/>
              <a:t> </a:t>
            </a:r>
            <a:r>
              <a:rPr lang="en-IN" sz="2000" b="1" dirty="0">
                <a:latin typeface="Times New Roman" panose="02020603050405020304" pitchFamily="18" charset="0"/>
                <a:cs typeface="Times New Roman" panose="02020603050405020304" pitchFamily="18" charset="0"/>
              </a:rPr>
              <a:t>Language &amp; notebook: </a:t>
            </a:r>
            <a:r>
              <a:rPr lang="en-IN" sz="2000" dirty="0">
                <a:latin typeface="Times New Roman" panose="02020603050405020304" pitchFamily="18" charset="0"/>
                <a:cs typeface="Times New Roman" panose="02020603050405020304" pitchFamily="18" charset="0"/>
              </a:rPr>
              <a:t>Python(3.11.7)</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 handling: </a:t>
            </a:r>
            <a:r>
              <a:rPr lang="en-IN" sz="2000" dirty="0">
                <a:latin typeface="Times New Roman" panose="02020603050405020304" pitchFamily="18" charset="0"/>
                <a:cs typeface="Times New Roman" panose="02020603050405020304" pitchFamily="18" charset="0"/>
              </a:rPr>
              <a:t>pandas(2.2.2), </a:t>
            </a:r>
            <a:r>
              <a:rPr lang="en-IN" sz="2000" dirty="0" err="1">
                <a:latin typeface="Times New Roman" panose="02020603050405020304" pitchFamily="18" charset="0"/>
                <a:cs typeface="Times New Roman" panose="02020603050405020304" pitchFamily="18" charset="0"/>
              </a:rPr>
              <a:t>numpy</a:t>
            </a:r>
            <a:r>
              <a:rPr lang="en-IN" sz="2000" dirty="0">
                <a:latin typeface="Times New Roman" panose="02020603050405020304" pitchFamily="18" charset="0"/>
                <a:cs typeface="Times New Roman" panose="02020603050405020304" pitchFamily="18" charset="0"/>
              </a:rPr>
              <a:t>(</a:t>
            </a:r>
            <a:r>
              <a:rPr lang="en-IN" sz="2000" dirty="0"/>
              <a:t>1.26.4)</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ML/Deep Learning: </a:t>
            </a:r>
            <a:r>
              <a:rPr lang="en-IN" sz="2000" dirty="0">
                <a:latin typeface="Times New Roman" panose="02020603050405020304" pitchFamily="18" charset="0"/>
                <a:cs typeface="Times New Roman" panose="02020603050405020304" pitchFamily="18" charset="0"/>
              </a:rPr>
              <a:t>scikit-learn(1.5.1),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(2.0.3), TensorFlow(2.15.0).</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Packet capture / replay: </a:t>
            </a:r>
            <a:r>
              <a:rPr lang="en-IN" sz="2000" dirty="0" err="1">
                <a:latin typeface="Times New Roman" panose="02020603050405020304" pitchFamily="18" charset="0"/>
                <a:cs typeface="Times New Roman" panose="02020603050405020304" pitchFamily="18" charset="0"/>
              </a:rPr>
              <a:t>Scapy</a:t>
            </a:r>
            <a:r>
              <a:rPr lang="en-IN" sz="2000" dirty="0">
                <a:latin typeface="Times New Roman" panose="02020603050405020304" pitchFamily="18" charset="0"/>
                <a:cs typeface="Times New Roman" panose="02020603050405020304" pitchFamily="18" charset="0"/>
              </a:rPr>
              <a:t>(2.5.0), </a:t>
            </a:r>
            <a:r>
              <a:rPr lang="en-IN" sz="2000" dirty="0" err="1">
                <a:latin typeface="Times New Roman" panose="02020603050405020304" pitchFamily="18" charset="0"/>
                <a:cs typeface="Times New Roman" panose="02020603050405020304" pitchFamily="18" charset="0"/>
              </a:rPr>
              <a:t>pyshark</a:t>
            </a:r>
            <a:r>
              <a:rPr lang="en-IN" sz="2000" dirty="0">
                <a:latin typeface="Times New Roman" panose="02020603050405020304" pitchFamily="18" charset="0"/>
                <a:cs typeface="Times New Roman" panose="02020603050405020304" pitchFamily="18" charset="0"/>
              </a:rPr>
              <a:t>(0.6.0).</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Model serving / API: </a:t>
            </a:r>
            <a:r>
              <a:rPr lang="en-IN" sz="2000" dirty="0">
                <a:latin typeface="Times New Roman" panose="02020603050405020304" pitchFamily="18" charset="0"/>
                <a:cs typeface="Times New Roman" panose="02020603050405020304" pitchFamily="18" charset="0"/>
              </a:rPr>
              <a:t>Flask(3.0.2).</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Dashboard / frontend: </a:t>
            </a:r>
            <a:r>
              <a:rPr lang="en-IN" sz="2000" dirty="0">
                <a:latin typeface="Times New Roman" panose="02020603050405020304" pitchFamily="18" charset="0"/>
                <a:cs typeface="Times New Roman" panose="02020603050405020304" pitchFamily="18" charset="0"/>
              </a:rPr>
              <a:t>plain HTML/CSS/Bootstrap(5.3.2) + Chart.js(4.4.1).</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Visualization: </a:t>
            </a:r>
            <a:r>
              <a:rPr lang="en-IN" sz="2000" dirty="0">
                <a:latin typeface="Times New Roman" panose="02020603050405020304" pitchFamily="18" charset="0"/>
                <a:cs typeface="Times New Roman" panose="02020603050405020304" pitchFamily="18" charset="0"/>
              </a:rPr>
              <a:t>matplotlib(3.8.2), Plotly.js(2.30.0) (frontend).</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Live Communication:</a:t>
            </a:r>
            <a:r>
              <a:rPr lang="en-US" sz="2000" dirty="0">
                <a:latin typeface="Times New Roman" panose="02020603050405020304" pitchFamily="18" charset="0"/>
                <a:cs typeface="Times New Roman" panose="02020603050405020304" pitchFamily="18" charset="0"/>
              </a:rPr>
              <a:t> Flask-</a:t>
            </a:r>
            <a:r>
              <a:rPr lang="en-US" sz="2000" dirty="0" err="1">
                <a:latin typeface="Times New Roman" panose="02020603050405020304" pitchFamily="18" charset="0"/>
                <a:cs typeface="Times New Roman" panose="02020603050405020304" pitchFamily="18" charset="0"/>
              </a:rPr>
              <a:t>SocketIO</a:t>
            </a:r>
            <a:r>
              <a:rPr lang="en-US" sz="2000" dirty="0">
                <a:latin typeface="Times New Roman" panose="02020603050405020304" pitchFamily="18" charset="0"/>
                <a:cs typeface="Times New Roman" panose="02020603050405020304" pitchFamily="18" charset="0"/>
              </a:rPr>
              <a:t> (5.3.6) / </a:t>
            </a:r>
            <a:r>
              <a:rPr lang="en-US" sz="2000" dirty="0" err="1">
                <a:latin typeface="Times New Roman" panose="02020603050405020304" pitchFamily="18" charset="0"/>
                <a:cs typeface="Times New Roman" panose="02020603050405020304" pitchFamily="18" charset="0"/>
              </a:rPr>
              <a:t>WebSockets</a:t>
            </a:r>
            <a:r>
              <a:rPr lang="en-US" sz="2000" dirty="0">
                <a:latin typeface="Times New Roman" panose="02020603050405020304" pitchFamily="18" charset="0"/>
                <a:cs typeface="Times New Roman" panose="02020603050405020304" pitchFamily="18" charset="0"/>
              </a:rPr>
              <a:t> for instant threat pushing.</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Storage of logs: </a:t>
            </a:r>
            <a:r>
              <a:rPr lang="en-IN" sz="2000" dirty="0">
                <a:latin typeface="Times New Roman" panose="02020603050405020304" pitchFamily="18" charset="0"/>
                <a:cs typeface="Times New Roman" panose="02020603050405020304" pitchFamily="18" charset="0"/>
              </a:rPr>
              <a:t>MySQL </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3539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347F5-B422-E9F8-0BF9-BDF30FF7D09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DF5107-F1F8-555B-CBBD-37102FC191BF}"/>
              </a:ext>
            </a:extLst>
          </p:cNvPr>
          <p:cNvSpPr txBox="1"/>
          <p:nvPr/>
        </p:nvSpPr>
        <p:spPr>
          <a:xfrm>
            <a:off x="-428625" y="675293"/>
            <a:ext cx="634365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FUNCTIONAL REQUIREMENTS</a:t>
            </a:r>
            <a:endParaRPr lang="en-IN" sz="24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8708E58C-602C-60F5-3853-C89590512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0" y="0"/>
            <a:ext cx="1937346" cy="120545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444239BC-E3CD-546F-9DFA-2144DD8B57CD}"/>
              </a:ext>
            </a:extLst>
          </p:cNvPr>
          <p:cNvCxnSpPr>
            <a:cxnSpLocks/>
          </p:cNvCxnSpPr>
          <p:nvPr/>
        </p:nvCxnSpPr>
        <p:spPr>
          <a:xfrm>
            <a:off x="229909" y="1320980"/>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9524A224-DF35-4903-C160-0801BA29ECE4}"/>
              </a:ext>
            </a:extLst>
          </p:cNvPr>
          <p:cNvSpPr>
            <a:spLocks noChangeArrowheads="1"/>
          </p:cNvSpPr>
          <p:nvPr/>
        </p:nvSpPr>
        <p:spPr bwMode="auto">
          <a:xfrm>
            <a:off x="543945" y="2370572"/>
            <a:ext cx="116480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5ED3C1B-DE1F-F5DA-7FDB-3CE150B09470}"/>
              </a:ext>
            </a:extLst>
          </p:cNvPr>
          <p:cNvSpPr txBox="1"/>
          <p:nvPr/>
        </p:nvSpPr>
        <p:spPr>
          <a:xfrm>
            <a:off x="338137" y="1389479"/>
            <a:ext cx="11515725" cy="563231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1. Data Acquisition Module: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Collects raw network traffic from datasets (CICIDS2017) or PCAP files.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Supports live packet capture using </a:t>
            </a:r>
            <a:r>
              <a:rPr lang="en-IN" sz="2000" dirty="0" err="1">
                <a:latin typeface="Times New Roman" panose="02020603050405020304" pitchFamily="18" charset="0"/>
                <a:cs typeface="Times New Roman" panose="02020603050405020304" pitchFamily="18" charset="0"/>
              </a:rPr>
              <a:t>Scapy</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PyShark</a:t>
            </a:r>
            <a:r>
              <a:rPr lang="en-IN"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Stores traffic in a structured format for analysis and model training.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Ensures reliable and continuous data input to the IDS pipeline.</a:t>
            </a:r>
          </a:p>
          <a:p>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a:t>
            </a:r>
            <a:r>
              <a:rPr lang="en-IN" sz="2000" b="1" dirty="0">
                <a:latin typeface="Times New Roman" panose="02020603050405020304" pitchFamily="18" charset="0"/>
                <a:cs typeface="Times New Roman" panose="02020603050405020304" pitchFamily="18" charset="0"/>
              </a:rPr>
              <a:t> Preprocessing &amp; Feature Engineering Module: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Cleans raw traffic (removes null/invalid values).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Extracts statistical features like packet count, byte rate, flags, durations.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Normalizes and transforms data for machine learning models.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Encodes labels for supervised training (Normal vs Attack classes).</a:t>
            </a:r>
          </a:p>
          <a:p>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Machine Learning Model Training Module: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Trains ML models such as Random Forest, CNN/LSTM, Autoencoder.</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Splits data into training/testing sets and evaluates performance.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Tunes hyperparameters to improve detection accuracy.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Saves the trained model and scaler for real-time inference.</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3081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5D09-4B7B-68FB-752F-15621B7C84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63BF2F-7B5B-1443-2798-B8F2FAA17306}"/>
              </a:ext>
            </a:extLst>
          </p:cNvPr>
          <p:cNvSpPr txBox="1"/>
          <p:nvPr/>
        </p:nvSpPr>
        <p:spPr>
          <a:xfrm>
            <a:off x="-428625" y="675293"/>
            <a:ext cx="634365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FUNCTIONAL REQUIREMENTS</a:t>
            </a:r>
            <a:endParaRPr lang="en-IN" sz="24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D1BF16C7-8354-74EB-0485-814B094D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0" y="0"/>
            <a:ext cx="1937346" cy="120545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DACB8FB0-8C1E-7565-F3D2-6D64BA56496F}"/>
              </a:ext>
            </a:extLst>
          </p:cNvPr>
          <p:cNvCxnSpPr>
            <a:cxnSpLocks/>
          </p:cNvCxnSpPr>
          <p:nvPr/>
        </p:nvCxnSpPr>
        <p:spPr>
          <a:xfrm>
            <a:off x="229909" y="1320980"/>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84F31C23-2276-3766-E2E7-4DFA3778B5E4}"/>
              </a:ext>
            </a:extLst>
          </p:cNvPr>
          <p:cNvSpPr>
            <a:spLocks noChangeArrowheads="1"/>
          </p:cNvSpPr>
          <p:nvPr/>
        </p:nvSpPr>
        <p:spPr bwMode="auto">
          <a:xfrm>
            <a:off x="543945" y="2370572"/>
            <a:ext cx="116480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F31B82E-2BC6-CF63-D697-4CE1BD36975C}"/>
              </a:ext>
            </a:extLst>
          </p:cNvPr>
          <p:cNvSpPr txBox="1"/>
          <p:nvPr/>
        </p:nvSpPr>
        <p:spPr>
          <a:xfrm>
            <a:off x="344617" y="1389479"/>
            <a:ext cx="11109963" cy="5940088"/>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 </a:t>
            </a:r>
            <a:r>
              <a:rPr lang="en-US" sz="2000" b="1" dirty="0"/>
              <a:t>4. </a:t>
            </a:r>
            <a:r>
              <a:rPr lang="en-US" sz="2000" b="1" dirty="0">
                <a:latin typeface="Times New Roman" panose="02020603050405020304" pitchFamily="18" charset="0"/>
                <a:cs typeface="Times New Roman" panose="02020603050405020304" pitchFamily="18" charset="0"/>
              </a:rPr>
              <a:t>Real-Time Intrusion Detection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Accepts live traffic windows and extracts features in real time.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the trained ML model to classify traffic as normal or malicious.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Assigns confidence scores and severity levels.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Works continuously to provide fast, accurate detection.</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5. </a:t>
            </a:r>
            <a:r>
              <a:rPr lang="en-US" sz="2000" b="1" dirty="0">
                <a:latin typeface="Times New Roman" panose="02020603050405020304" pitchFamily="18" charset="0"/>
                <a:cs typeface="Times New Roman" panose="02020603050405020304" pitchFamily="18" charset="0"/>
              </a:rPr>
              <a:t>Alert Generation &amp; Management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Creates alerts when suspicious or malicious activity is detected.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Captures details such as IPs, timestamps, attack type, confidence score.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Stores alerts in a database (MySQL) for auditing.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Feeds alert data to dashboard and visualization modules.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6. Monitoring Dashboard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Displays live alerts, attack types, and traffic statistics.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visualizations using charts and tables.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Allows security analysts to monitor threats in real time.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Retrieves data through API calls to the IDS backend.</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596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7991D-2D3A-C455-2CEF-07901249C0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D34085-1A20-3837-1066-B2A1419E02B6}"/>
              </a:ext>
            </a:extLst>
          </p:cNvPr>
          <p:cNvSpPr txBox="1"/>
          <p:nvPr/>
        </p:nvSpPr>
        <p:spPr>
          <a:xfrm>
            <a:off x="-438785" y="297486"/>
            <a:ext cx="634365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FUNCTIONAL REQUIREMENTS</a:t>
            </a:r>
            <a:endParaRPr lang="en-IN" sz="24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18B171F1-5DD6-72A8-DB29-6605281633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657" b="25830"/>
          <a:stretch>
            <a:fillRect/>
          </a:stretch>
        </p:blipFill>
        <p:spPr bwMode="auto">
          <a:xfrm>
            <a:off x="9591040" y="254001"/>
            <a:ext cx="1937346" cy="54863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50EFAE77-4BA0-FDAA-5748-55BFB9A05302}"/>
              </a:ext>
            </a:extLst>
          </p:cNvPr>
          <p:cNvCxnSpPr>
            <a:cxnSpLocks/>
          </p:cNvCxnSpPr>
          <p:nvPr/>
        </p:nvCxnSpPr>
        <p:spPr>
          <a:xfrm>
            <a:off x="408305" y="955220"/>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2718B133-359C-3EC3-161B-C8254FEF6DC9}"/>
              </a:ext>
            </a:extLst>
          </p:cNvPr>
          <p:cNvSpPr>
            <a:spLocks noChangeArrowheads="1"/>
          </p:cNvSpPr>
          <p:nvPr/>
        </p:nvSpPr>
        <p:spPr bwMode="auto">
          <a:xfrm>
            <a:off x="543945" y="2370572"/>
            <a:ext cx="116480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BFACB62-ECE1-ABAB-C3EB-8E2F32F654C0}"/>
              </a:ext>
            </a:extLst>
          </p:cNvPr>
          <p:cNvSpPr txBox="1"/>
          <p:nvPr/>
        </p:nvSpPr>
        <p:spPr>
          <a:xfrm>
            <a:off x="344618" y="1107803"/>
            <a:ext cx="11502764" cy="59093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7. Attack Simulation Module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Generates artificial attacks (DoS, Port Scan, Brute-force) for testing.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Allows replaying PCAP files to simulate realistic attack traffic.</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Helps validate model performance and system accuracy.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Useful for demos, evaluation, and training new models.</a:t>
            </a:r>
          </a:p>
          <a:p>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8. Active Defense &amp; Mitigation Module:</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Programmatically executes firewall rules to block high-confidence threats.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Leverages Windows Defender Firewall via </a:t>
            </a:r>
            <a:r>
              <a:rPr lang="en-US" sz="2000" dirty="0" err="1">
                <a:latin typeface="Times New Roman" panose="02020603050405020304" pitchFamily="18" charset="0"/>
                <a:cs typeface="Times New Roman" panose="02020603050405020304" pitchFamily="18" charset="0"/>
              </a:rPr>
              <a:t>Netsh</a:t>
            </a:r>
            <a:r>
              <a:rPr lang="en-US" sz="2000" dirty="0">
                <a:latin typeface="Times New Roman" panose="02020603050405020304" pitchFamily="18" charset="0"/>
                <a:cs typeface="Times New Roman" panose="02020603050405020304" pitchFamily="18" charset="0"/>
              </a:rPr>
              <a:t> and PowerShell commands.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an automated response to isolate malicious IPs in real-time.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Prevents potential damage by terminating connections from verified attackers</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9. Explainable AI (XAI) Insight Module:</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Visualizes feature contribution scores using interactive radar charts.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transparency into why a specific flow was classified as malicious.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Bridges the gap between complex model outputs and human decision-making.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security analysts verify the legitimacy of high-confidence alerts.</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249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58FC413-576B-7DE2-5880-601A99F91627}"/>
              </a:ext>
            </a:extLst>
          </p:cNvPr>
          <p:cNvCxnSpPr>
            <a:cxnSpLocks/>
          </p:cNvCxnSpPr>
          <p:nvPr/>
        </p:nvCxnSpPr>
        <p:spPr>
          <a:xfrm>
            <a:off x="443133" y="90759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C0D49074-AC97-7B64-FDD4-69237ACA29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443" b="30851"/>
          <a:stretch>
            <a:fillRect/>
          </a:stretch>
        </p:blipFill>
        <p:spPr bwMode="auto">
          <a:xfrm>
            <a:off x="9621520" y="240719"/>
            <a:ext cx="1937346" cy="53891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813D5952-56F9-339B-B409-F019AE0115C8}"/>
              </a:ext>
            </a:extLst>
          </p:cNvPr>
          <p:cNvSpPr>
            <a:spLocks noChangeArrowheads="1"/>
          </p:cNvSpPr>
          <p:nvPr/>
        </p:nvSpPr>
        <p:spPr bwMode="auto">
          <a:xfrm rot="10800000" flipV="1">
            <a:off x="443133" y="1035556"/>
            <a:ext cx="10880187"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latin typeface="Times New Roman" panose="02020603050405020304" pitchFamily="18" charset="0"/>
                <a:cs typeface="Times New Roman" panose="02020603050405020304" pitchFamily="18" charset="0"/>
              </a:rPr>
              <a:t>1. Performance (Real-Time Speed)</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Low Latency</a:t>
            </a:r>
            <a:r>
              <a:rPr lang="en-US" sz="2000" dirty="0">
                <a:latin typeface="Times New Roman" panose="02020603050405020304" pitchFamily="18" charset="0"/>
                <a:cs typeface="Times New Roman" panose="02020603050405020304" pitchFamily="18" charset="0"/>
              </a:rPr>
              <a:t>: Detection-to-Alert time is </a:t>
            </a:r>
            <a:r>
              <a:rPr lang="en-US" sz="2000" b="1" dirty="0">
                <a:latin typeface="Times New Roman" panose="02020603050405020304" pitchFamily="18" charset="0"/>
                <a:cs typeface="Times New Roman" panose="02020603050405020304" pitchFamily="18" charset="0"/>
              </a:rPr>
              <a:t>&lt; 50ms</a:t>
            </a:r>
            <a:r>
              <a:rPr lang="en-US" sz="2000" dirty="0">
                <a:latin typeface="Times New Roman" panose="02020603050405020304" pitchFamily="18" charset="0"/>
                <a:cs typeface="Times New Roman" panose="02020603050405020304" pitchFamily="18" charset="0"/>
              </a:rPr>
              <a:t>, ensuring instantaneous updates.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High Throughput</a:t>
            </a:r>
            <a:r>
              <a:rPr lang="en-US" sz="2000" dirty="0">
                <a:latin typeface="Times New Roman" panose="02020603050405020304" pitchFamily="18" charset="0"/>
                <a:cs typeface="Times New Roman" panose="02020603050405020304" pitchFamily="18" charset="0"/>
              </a:rPr>
              <a:t>: Capable of processing packets in </a:t>
            </a:r>
            <a:r>
              <a:rPr lang="en-US" sz="2000" b="1" dirty="0">
                <a:latin typeface="Times New Roman" panose="02020603050405020304" pitchFamily="18" charset="0"/>
                <a:cs typeface="Times New Roman" panose="02020603050405020304" pitchFamily="18" charset="0"/>
              </a:rPr>
              <a:t>&lt; 10ms</a:t>
            </a:r>
            <a:r>
              <a:rPr lang="en-US" sz="2000" dirty="0">
                <a:latin typeface="Times New Roman" panose="02020603050405020304" pitchFamily="18" charset="0"/>
                <a:cs typeface="Times New Roman" panose="02020603050405020304" pitchFamily="18" charset="0"/>
              </a:rPr>
              <a:t>, suitable for live traffic monitoring.</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Reactive UI</a:t>
            </a:r>
            <a:r>
              <a:rPr lang="en-US" sz="2000" dirty="0">
                <a:latin typeface="Times New Roman" panose="02020603050405020304" pitchFamily="18" charset="0"/>
                <a:cs typeface="Times New Roman" panose="02020603050405020304" pitchFamily="18" charset="0"/>
              </a:rPr>
              <a:t>: Dashboard updates via </a:t>
            </a:r>
            <a:r>
              <a:rPr lang="en-US" sz="2000" b="1" dirty="0" err="1">
                <a:latin typeface="Times New Roman" panose="02020603050405020304" pitchFamily="18" charset="0"/>
                <a:cs typeface="Times New Roman" panose="02020603050405020304" pitchFamily="18" charset="0"/>
              </a:rPr>
              <a:t>WebSockets</a:t>
            </a:r>
            <a:r>
              <a:rPr lang="en-US" sz="2000" b="1" dirty="0">
                <a:latin typeface="Times New Roman" panose="02020603050405020304" pitchFamily="18" charset="0"/>
                <a:cs typeface="Times New Roman" panose="02020603050405020304" pitchFamily="18" charset="0"/>
              </a:rPr>
              <a:t> (Socket.IO)</a:t>
            </a:r>
            <a:r>
              <a:rPr lang="en-US" sz="2000" dirty="0">
                <a:latin typeface="Times New Roman" panose="02020603050405020304" pitchFamily="18" charset="0"/>
                <a:cs typeface="Times New Roman" panose="02020603050405020304" pitchFamily="18" charset="0"/>
              </a:rPr>
              <a:t> eliminate the need for page refreshing.</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2.  Reliability &amp; Resilience</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Dual-Engine Fallback</a:t>
            </a:r>
            <a:r>
              <a:rPr lang="en-US" sz="2000" dirty="0">
                <a:latin typeface="Times New Roman" panose="02020603050405020304" pitchFamily="18" charset="0"/>
                <a:cs typeface="Times New Roman" panose="02020603050405020304" pitchFamily="18" charset="0"/>
              </a:rPr>
              <a:t>: If the primary classifier is uncertain, the system automatically switches to the </a:t>
            </a:r>
            <a:r>
              <a:rPr lang="en-US" sz="2000" b="1" dirty="0">
                <a:latin typeface="Times New Roman" panose="02020603050405020304" pitchFamily="18" charset="0"/>
                <a:cs typeface="Times New Roman" panose="02020603050405020304" pitchFamily="18" charset="0"/>
              </a:rPr>
              <a:t>Autoencoder</a:t>
            </a:r>
            <a:r>
              <a:rPr lang="en-US" sz="2000" dirty="0">
                <a:latin typeface="Times New Roman" panose="02020603050405020304" pitchFamily="18" charset="0"/>
                <a:cs typeface="Times New Roman" panose="02020603050405020304" pitchFamily="18" charset="0"/>
              </a:rPr>
              <a:t> for anomaly analysis.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Self-Healing</a:t>
            </a:r>
            <a:r>
              <a:rPr lang="en-US" sz="2000" dirty="0">
                <a:latin typeface="Times New Roman" panose="02020603050405020304" pitchFamily="18" charset="0"/>
                <a:cs typeface="Times New Roman" panose="02020603050405020304" pitchFamily="18" charset="0"/>
              </a:rPr>
              <a:t>: Automated connection handling for the dashboard stream ensures stability during network jitters.</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3. </a:t>
            </a:r>
            <a:r>
              <a:rPr lang="en-IN" sz="2000" b="1" dirty="0">
                <a:latin typeface="Times New Roman" panose="02020603050405020304" pitchFamily="18" charset="0"/>
                <a:cs typeface="Times New Roman" panose="02020603050405020304" pitchFamily="18" charset="0"/>
              </a:rPr>
              <a:t>Usability &amp; Experience (UX)</a:t>
            </a:r>
          </a:p>
          <a:p>
            <a:pPr marL="34290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Explainable AI (XAI)</a:t>
            </a:r>
            <a:r>
              <a:rPr lang="en-IN" sz="2000" dirty="0">
                <a:latin typeface="Times New Roman" panose="02020603050405020304" pitchFamily="18" charset="0"/>
                <a:cs typeface="Times New Roman" panose="02020603050405020304" pitchFamily="18" charset="0"/>
              </a:rPr>
              <a:t>: Complex mathematical risks are converted into readable visualizations (Radar Charts).</a:t>
            </a:r>
          </a:p>
          <a:p>
            <a:pPr marL="34290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Critical </a:t>
            </a:r>
            <a:r>
              <a:rPr lang="en-IN" sz="2000" b="1" dirty="0" err="1">
                <a:latin typeface="Times New Roman" panose="02020603050405020304" pitchFamily="18" charset="0"/>
                <a:cs typeface="Times New Roman" panose="02020603050405020304" pitchFamily="18" charset="0"/>
              </a:rPr>
              <a:t>Signaling</a:t>
            </a:r>
            <a:r>
              <a:rPr lang="en-IN" sz="2000" dirty="0">
                <a:latin typeface="Times New Roman" panose="02020603050405020304" pitchFamily="18" charset="0"/>
                <a:cs typeface="Times New Roman" panose="02020603050405020304" pitchFamily="18" charset="0"/>
              </a:rPr>
              <a:t>: Immediate visual cues (Glitch Effects, Red Borders) prioritize "Zero-Day" threats over routine noise.</a:t>
            </a:r>
          </a:p>
          <a:p>
            <a:br>
              <a:rPr lang="en-US" sz="2000" dirty="0"/>
            </a:br>
            <a:endParaRPr lang="en-US" sz="2000" dirty="0"/>
          </a:p>
          <a:p>
            <a:pPr lvl="0"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57E543A-A0F3-F16D-88A0-579A6835F462}"/>
              </a:ext>
            </a:extLst>
          </p:cNvPr>
          <p:cNvSpPr txBox="1"/>
          <p:nvPr/>
        </p:nvSpPr>
        <p:spPr>
          <a:xfrm>
            <a:off x="107852" y="312809"/>
            <a:ext cx="634365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NON-FUNCTIONAL REQUIREMENTS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41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D7D2F-1867-0702-2901-444A405F279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3DEA535-DCE5-FEC4-03A9-C04C16FB7ABE}"/>
              </a:ext>
            </a:extLst>
          </p:cNvPr>
          <p:cNvCxnSpPr>
            <a:cxnSpLocks/>
          </p:cNvCxnSpPr>
          <p:nvPr/>
        </p:nvCxnSpPr>
        <p:spPr>
          <a:xfrm>
            <a:off x="435241" y="909562"/>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9B7E6968-6C5B-BBD0-84C4-43DC97D3AC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917" b="24961"/>
          <a:stretch>
            <a:fillRect/>
          </a:stretch>
        </p:blipFill>
        <p:spPr bwMode="auto">
          <a:xfrm>
            <a:off x="9684774" y="149452"/>
            <a:ext cx="1937346" cy="58009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6FA62CF6-DB1D-19C9-EF77-8D84722BE83E}"/>
              </a:ext>
            </a:extLst>
          </p:cNvPr>
          <p:cNvSpPr>
            <a:spLocks noChangeArrowheads="1"/>
          </p:cNvSpPr>
          <p:nvPr/>
        </p:nvSpPr>
        <p:spPr bwMode="auto">
          <a:xfrm rot="10800000" flipV="1">
            <a:off x="326077" y="1190217"/>
            <a:ext cx="1171682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4. Security &amp; Safety</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Automated Containment</a:t>
            </a:r>
            <a:r>
              <a:rPr lang="en-US" sz="2000" dirty="0">
                <a:latin typeface="Times New Roman" panose="02020603050405020304" pitchFamily="18" charset="0"/>
                <a:cs typeface="Times New Roman" panose="02020603050405020304" pitchFamily="18" charset="0"/>
              </a:rPr>
              <a:t>: The system acts faster than a human by </a:t>
            </a:r>
            <a:r>
              <a:rPr lang="en-US" sz="2000" b="1" dirty="0">
                <a:latin typeface="Times New Roman" panose="02020603050405020304" pitchFamily="18" charset="0"/>
                <a:cs typeface="Times New Roman" panose="02020603050405020304" pitchFamily="18" charset="0"/>
              </a:rPr>
              <a:t>automatically quarantining</a:t>
            </a:r>
            <a:r>
              <a:rPr lang="en-US" sz="2000" dirty="0">
                <a:latin typeface="Times New Roman" panose="02020603050405020304" pitchFamily="18" charset="0"/>
                <a:cs typeface="Times New Roman" panose="02020603050405020304" pitchFamily="18" charset="0"/>
              </a:rPr>
              <a:t> high-risk IPs.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Forensic Auditing</a:t>
            </a:r>
            <a:r>
              <a:rPr lang="en-US" sz="2000" dirty="0">
                <a:latin typeface="Times New Roman" panose="02020603050405020304" pitchFamily="18" charset="0"/>
                <a:cs typeface="Times New Roman" panose="02020603050405020304" pitchFamily="18" charset="0"/>
              </a:rPr>
              <a:t>: Every anomaly is cryptographically logged with a timestamp and raw feature vector for post-incident review. </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Access Control</a:t>
            </a:r>
            <a:r>
              <a:rPr lang="en-US" sz="2000" dirty="0">
                <a:latin typeface="Times New Roman" panose="02020603050405020304" pitchFamily="18" charset="0"/>
                <a:cs typeface="Times New Roman" panose="02020603050405020304" pitchFamily="18" charset="0"/>
              </a:rPr>
              <a:t>: Dashboard is secured via </a:t>
            </a:r>
            <a:r>
              <a:rPr lang="en-US" sz="2000" b="1" dirty="0">
                <a:latin typeface="Times New Roman" panose="02020603050405020304" pitchFamily="18" charset="0"/>
                <a:cs typeface="Times New Roman" panose="02020603050405020304" pitchFamily="18" charset="0"/>
              </a:rPr>
              <a:t>Login Authentication</a:t>
            </a:r>
            <a:r>
              <a:rPr lang="en-US" sz="2000" dirty="0">
                <a:latin typeface="Times New Roman" panose="02020603050405020304" pitchFamily="18" charset="0"/>
                <a:cs typeface="Times New Roman" panose="02020603050405020304" pitchFamily="18" charset="0"/>
              </a:rPr>
              <a:t> to prevent unauthorized access.</a:t>
            </a:r>
          </a:p>
          <a:p>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5. Detection Precision (Quality Attribute)</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High Fidelity</a:t>
            </a:r>
            <a:r>
              <a:rPr lang="en-US" sz="2000" dirty="0">
                <a:latin typeface="Times New Roman" panose="02020603050405020304" pitchFamily="18" charset="0"/>
                <a:cs typeface="Times New Roman" panose="02020603050405020304" pitchFamily="18" charset="0"/>
              </a:rPr>
              <a:t>: The system must maintain a </a:t>
            </a:r>
            <a:r>
              <a:rPr lang="en-US" sz="2000" b="1" dirty="0">
                <a:latin typeface="Times New Roman" panose="02020603050405020304" pitchFamily="18" charset="0"/>
                <a:cs typeface="Times New Roman" panose="02020603050405020304" pitchFamily="18" charset="0"/>
              </a:rPr>
              <a:t>False Positive Rate (FPR) of &lt; 0.5%</a:t>
            </a:r>
            <a:r>
              <a:rPr lang="en-US" sz="2000" dirty="0">
                <a:latin typeface="Times New Roman" panose="02020603050405020304" pitchFamily="18" charset="0"/>
                <a:cs typeface="Times New Roman" panose="02020603050405020304" pitchFamily="18" charset="0"/>
              </a:rPr>
              <a:t> for normal traffic to prevent alert fatigue for analysts.</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Confidence Thresholds</a:t>
            </a:r>
            <a:r>
              <a:rPr lang="en-US" sz="2000" dirty="0">
                <a:latin typeface="Times New Roman" panose="02020603050405020304" pitchFamily="18" charset="0"/>
                <a:cs typeface="Times New Roman" panose="02020603050405020304" pitchFamily="18" charset="0"/>
              </a:rPr>
              <a:t>: Alerts are only escalated to "Critical" status if the AI Confidence Score exceeds </a:t>
            </a:r>
            <a:r>
              <a:rPr lang="en-US" sz="2000" b="1" dirty="0">
                <a:latin typeface="Times New Roman" panose="02020603050405020304" pitchFamily="18" charset="0"/>
                <a:cs typeface="Times New Roman" panose="02020603050405020304" pitchFamily="18" charset="0"/>
              </a:rPr>
              <a:t>85%</a:t>
            </a:r>
            <a:r>
              <a:rPr lang="en-US" sz="2000" dirty="0">
                <a:latin typeface="Times New Roman" panose="02020603050405020304" pitchFamily="18" charset="0"/>
                <a:cs typeface="Times New Roman" panose="02020603050405020304" pitchFamily="18" charset="0"/>
              </a:rPr>
              <a:t>, ensuring actionable intelligence.</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Consistency</a:t>
            </a:r>
            <a:r>
              <a:rPr lang="en-US" sz="2000" dirty="0">
                <a:latin typeface="Times New Roman" panose="02020603050405020304" pitchFamily="18" charset="0"/>
                <a:cs typeface="Times New Roman" panose="02020603050405020304" pitchFamily="18" charset="0"/>
              </a:rPr>
              <a:t>: The model outputs must be deterministic; reprocessing the same packet capture must yield the exact same classification result every time.</a:t>
            </a:r>
          </a:p>
          <a:p>
            <a:pPr lvl="0"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FFD028A-11C7-5345-70EC-072E498303E2}"/>
              </a:ext>
            </a:extLst>
          </p:cNvPr>
          <p:cNvSpPr txBox="1"/>
          <p:nvPr/>
        </p:nvSpPr>
        <p:spPr>
          <a:xfrm>
            <a:off x="-85417" y="167243"/>
            <a:ext cx="634365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NON-FUNCTIONAL REQUIREMENTS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5487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269D8-39CB-29AF-D861-4B13880EB5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9C9AB3-FE7C-1CD2-B09A-95B049867B64}"/>
              </a:ext>
            </a:extLst>
          </p:cNvPr>
          <p:cNvSpPr txBox="1"/>
          <p:nvPr/>
        </p:nvSpPr>
        <p:spPr>
          <a:xfrm>
            <a:off x="-97774" y="249533"/>
            <a:ext cx="66548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DESIGN-ARCHITECTURE DIAGRAM</a:t>
            </a:r>
            <a:endParaRPr lang="en-IN" sz="24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62A165BC-C831-4668-354A-EDDE46FF58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3" t="30109" r="-1013" b="26763"/>
          <a:stretch>
            <a:fillRect/>
          </a:stretch>
        </p:blipFill>
        <p:spPr bwMode="auto">
          <a:xfrm>
            <a:off x="9404946" y="173639"/>
            <a:ext cx="2286000" cy="61345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A3E41746-E1FF-17F2-9750-92938A8176D1}"/>
              </a:ext>
            </a:extLst>
          </p:cNvPr>
          <p:cNvCxnSpPr>
            <a:cxnSpLocks/>
          </p:cNvCxnSpPr>
          <p:nvPr/>
        </p:nvCxnSpPr>
        <p:spPr>
          <a:xfrm>
            <a:off x="81280" y="90296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1028" name="Picture 4">
            <a:extLst>
              <a:ext uri="{FF2B5EF4-FFF2-40B4-BE49-F238E27FC236}">
                <a16:creationId xmlns:a16="http://schemas.microsoft.com/office/drawing/2014/main" id="{1D51A41E-9763-6800-3AF3-19C3EFFB70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0373"/>
          <a:stretch>
            <a:fillRect/>
          </a:stretch>
        </p:blipFill>
        <p:spPr bwMode="auto">
          <a:xfrm>
            <a:off x="881412" y="902964"/>
            <a:ext cx="5086216" cy="57725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1B48E37-A447-519A-4C62-6892FC8D49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5749"/>
          <a:stretch>
            <a:fillRect/>
          </a:stretch>
        </p:blipFill>
        <p:spPr bwMode="auto">
          <a:xfrm>
            <a:off x="6557026" y="1615859"/>
            <a:ext cx="4921072" cy="4144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981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3E9F6A-F7E0-138F-A3C9-2DCAE6F14E16}"/>
              </a:ext>
            </a:extLst>
          </p:cNvPr>
          <p:cNvCxnSpPr>
            <a:cxnSpLocks/>
          </p:cNvCxnSpPr>
          <p:nvPr/>
        </p:nvCxnSpPr>
        <p:spPr>
          <a:xfrm>
            <a:off x="599440" y="972909"/>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8955ACBB-6FC6-0094-3730-D6A8A2F84D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341" b="29494"/>
          <a:stretch>
            <a:fillRect/>
          </a:stretch>
        </p:blipFill>
        <p:spPr bwMode="auto">
          <a:xfrm>
            <a:off x="9640920" y="271614"/>
            <a:ext cx="2286000" cy="5997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3F9C362-4647-81AB-845D-1E89CFDC941B}"/>
              </a:ext>
            </a:extLst>
          </p:cNvPr>
          <p:cNvSpPr txBox="1"/>
          <p:nvPr/>
        </p:nvSpPr>
        <p:spPr>
          <a:xfrm>
            <a:off x="599440" y="340666"/>
            <a:ext cx="48514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ML -PROCESS FLOW DIAGRAM</a:t>
            </a:r>
            <a:endParaRPr lang="en-IN" sz="2400" b="1"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58DC72F4-29E5-CE4A-7302-16533AB03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52" y="1365823"/>
            <a:ext cx="11868448" cy="3611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48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81BBA19-E472-C84C-24B6-E15EBF33247D}"/>
              </a:ext>
            </a:extLst>
          </p:cNvPr>
          <p:cNvCxnSpPr>
            <a:cxnSpLocks/>
          </p:cNvCxnSpPr>
          <p:nvPr/>
        </p:nvCxnSpPr>
        <p:spPr>
          <a:xfrm>
            <a:off x="550607" y="85809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AD832D89-A4B3-2C27-1054-D7BF37D8B5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854" b="32459"/>
          <a:stretch>
            <a:fillRect/>
          </a:stretch>
        </p:blipFill>
        <p:spPr bwMode="auto">
          <a:xfrm>
            <a:off x="9502877" y="132466"/>
            <a:ext cx="2286000" cy="57873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6811CDB-6B5B-DF5C-2612-115197D496FF}"/>
              </a:ext>
            </a:extLst>
          </p:cNvPr>
          <p:cNvSpPr txBox="1"/>
          <p:nvPr/>
        </p:nvSpPr>
        <p:spPr>
          <a:xfrm>
            <a:off x="162045" y="249533"/>
            <a:ext cx="659757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 NETWORK PROCESS FLOW DIAGRAM</a:t>
            </a:r>
          </a:p>
        </p:txBody>
      </p:sp>
      <p:pic>
        <p:nvPicPr>
          <p:cNvPr id="3074" name="Picture 2">
            <a:extLst>
              <a:ext uri="{FF2B5EF4-FFF2-40B4-BE49-F238E27FC236}">
                <a16:creationId xmlns:a16="http://schemas.microsoft.com/office/drawing/2014/main" id="{EB1F4B9F-AF37-9919-0A1C-CB24111C54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607" y="1004992"/>
            <a:ext cx="11238270" cy="572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628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D1C17D-B883-C1D1-E4E8-E3FA850A56A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2AAB60-A983-9FE1-8E4F-4E2C8BE9C19C}"/>
              </a:ext>
            </a:extLst>
          </p:cNvPr>
          <p:cNvCxnSpPr>
            <a:cxnSpLocks/>
          </p:cNvCxnSpPr>
          <p:nvPr/>
        </p:nvCxnSpPr>
        <p:spPr>
          <a:xfrm>
            <a:off x="599440" y="907132"/>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1B04C106-84BE-E50D-ADC2-C587161E8D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723" b="30875"/>
          <a:stretch>
            <a:fillRect/>
          </a:stretch>
        </p:blipFill>
        <p:spPr bwMode="auto">
          <a:xfrm>
            <a:off x="9483604" y="182244"/>
            <a:ext cx="2286000" cy="5604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F0ADAAE-1640-6378-DEC5-048708B5772E}"/>
              </a:ext>
            </a:extLst>
          </p:cNvPr>
          <p:cNvSpPr txBox="1"/>
          <p:nvPr/>
        </p:nvSpPr>
        <p:spPr>
          <a:xfrm>
            <a:off x="422396" y="289643"/>
            <a:ext cx="5673604"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DATABASE/</a:t>
            </a:r>
            <a:r>
              <a:rPr lang="en-IN" sz="2400" b="1" dirty="0">
                <a:latin typeface="Times New Roman" panose="02020603050405020304" pitchFamily="18" charset="0"/>
                <a:cs typeface="Times New Roman" panose="02020603050405020304" pitchFamily="18" charset="0"/>
              </a:rPr>
              <a:t>DATA SCHEMA DESIGN</a:t>
            </a:r>
          </a:p>
        </p:txBody>
      </p:sp>
      <p:pic>
        <p:nvPicPr>
          <p:cNvPr id="4098" name="Picture 2">
            <a:extLst>
              <a:ext uri="{FF2B5EF4-FFF2-40B4-BE49-F238E27FC236}">
                <a16:creationId xmlns:a16="http://schemas.microsoft.com/office/drawing/2014/main" id="{EE4DBAFB-D0C8-5CE5-014E-544514F5A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0522" y="1048570"/>
            <a:ext cx="8148592" cy="5809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14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D7E523-7F0E-8450-362B-92BC0A94A96D}"/>
              </a:ext>
            </a:extLst>
          </p:cNvPr>
          <p:cNvCxnSpPr>
            <a:cxnSpLocks/>
          </p:cNvCxnSpPr>
          <p:nvPr/>
        </p:nvCxnSpPr>
        <p:spPr>
          <a:xfrm>
            <a:off x="501054" y="1032019"/>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9F3AC563-DE32-6366-1F82-12225690AA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576" b="26037"/>
          <a:stretch>
            <a:fillRect/>
          </a:stretch>
        </p:blipFill>
        <p:spPr bwMode="auto">
          <a:xfrm>
            <a:off x="9404946" y="148387"/>
            <a:ext cx="2286000" cy="6882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FEC5287-F598-6DA0-E1DA-DC04EDD2BA1A}"/>
              </a:ext>
            </a:extLst>
          </p:cNvPr>
          <p:cNvSpPr txBox="1"/>
          <p:nvPr/>
        </p:nvSpPr>
        <p:spPr>
          <a:xfrm>
            <a:off x="501054" y="177714"/>
            <a:ext cx="9465906" cy="830997"/>
          </a:xfrm>
          <a:prstGeom prst="rect">
            <a:avLst/>
          </a:prstGeom>
          <a:noFill/>
        </p:spPr>
        <p:txBody>
          <a:bodyPr wrap="square" rtlCol="0">
            <a:spAutoFit/>
          </a:bodyPr>
          <a:lstStyle/>
          <a:p>
            <a:pPr fontAlgn="ctr"/>
            <a:r>
              <a:rPr lang="en-US" sz="2400" b="1" dirty="0">
                <a:latin typeface="Times New Roman" panose="02020603050405020304" pitchFamily="18" charset="0"/>
                <a:cs typeface="Times New Roman" panose="02020603050405020304" pitchFamily="18" charset="0"/>
              </a:rPr>
              <a:t>BACKEND CORE &amp; ANALYSIS ENGINE (</a:t>
            </a:r>
            <a:r>
              <a:rPr lang="en-US" sz="2400" dirty="0">
                <a:latin typeface="Times New Roman" panose="02020603050405020304" pitchFamily="18" charset="0"/>
                <a:cs typeface="Times New Roman" panose="02020603050405020304" pitchFamily="18" charset="0"/>
              </a:rPr>
              <a:t>app.py</a:t>
            </a:r>
            <a:r>
              <a:rPr lang="en-US" sz="2400" b="1" dirty="0">
                <a:latin typeface="Times New Roman" panose="02020603050405020304" pitchFamily="18" charset="0"/>
                <a:cs typeface="Times New Roman" panose="02020603050405020304" pitchFamily="18" charset="0"/>
              </a:rPr>
              <a:t>) –</a:t>
            </a:r>
          </a:p>
          <a:p>
            <a:pPr fontAlgn="ctr"/>
            <a:r>
              <a:rPr lang="en-US" sz="2400" b="1" dirty="0">
                <a:latin typeface="Times New Roman" panose="02020603050405020304" pitchFamily="18" charset="0"/>
                <a:cs typeface="Times New Roman" panose="02020603050405020304" pitchFamily="18" charset="0"/>
              </a:rPr>
              <a:t>PSEUDOCODE</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D41CA21-D1BA-04E9-BA31-500B284DD67C}"/>
              </a:ext>
            </a:extLst>
          </p:cNvPr>
          <p:cNvSpPr txBox="1"/>
          <p:nvPr/>
        </p:nvSpPr>
        <p:spPr>
          <a:xfrm>
            <a:off x="6664961" y="1477572"/>
            <a:ext cx="4829214" cy="224676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Backend Core is the central nervous system of our project. It ingests the data, runs it through our Hybrid AI models, and makes the critical decision to block or monitor traffic. It also ensures the analyst dashboard is always in sync with real-time network events."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34479F0-3212-DFED-0847-95FB1D0936DD}"/>
              </a:ext>
            </a:extLst>
          </p:cNvPr>
          <p:cNvSpPr txBox="1"/>
          <p:nvPr/>
        </p:nvSpPr>
        <p:spPr>
          <a:xfrm>
            <a:off x="501054" y="1391920"/>
            <a:ext cx="5025987" cy="5134719"/>
          </a:xfrm>
          <a:prstGeom prst="rect">
            <a:avLst/>
          </a:prstGeom>
          <a:noFill/>
        </p:spPr>
        <p:txBody>
          <a:bodyPr wrap="square" rtlCol="0">
            <a:spAutoFit/>
          </a:bodyPr>
          <a:lstStyle/>
          <a:p>
            <a:r>
              <a:rPr lang="en-IN" dirty="0"/>
              <a:t>FUNCTION </a:t>
            </a:r>
            <a:r>
              <a:rPr lang="en-IN" dirty="0" err="1"/>
              <a:t>Analyze_Traffic</a:t>
            </a:r>
            <a:r>
              <a:rPr lang="en-IN" dirty="0"/>
              <a:t>(packet):</a:t>
            </a:r>
          </a:p>
          <a:p>
            <a:r>
              <a:rPr lang="en-IN" dirty="0"/>
              <a:t># 1. Feature Extraction</a:t>
            </a:r>
          </a:p>
          <a:p>
            <a:r>
              <a:rPr lang="en-IN" dirty="0"/>
              <a:t>features = </a:t>
            </a:r>
            <a:r>
              <a:rPr lang="en-IN" dirty="0" err="1"/>
              <a:t>Extract_Features</a:t>
            </a:r>
            <a:r>
              <a:rPr lang="en-IN" dirty="0"/>
              <a:t>(packet)</a:t>
            </a:r>
          </a:p>
          <a:p>
            <a:r>
              <a:rPr lang="en-IN" dirty="0"/>
              <a:t># 2. Multi-Stage Detection</a:t>
            </a:r>
          </a:p>
          <a:p>
            <a:r>
              <a:rPr lang="en-IN" dirty="0"/>
              <a:t># Stage A: Known Attacks (Random Forest)</a:t>
            </a:r>
          </a:p>
          <a:p>
            <a:r>
              <a:rPr lang="en-IN" dirty="0"/>
              <a:t>IF </a:t>
            </a:r>
            <a:r>
              <a:rPr lang="en-IN" dirty="0" err="1"/>
              <a:t>RandomForest.predict</a:t>
            </a:r>
            <a:r>
              <a:rPr lang="en-IN" dirty="0"/>
              <a:t>(features) IS ATTACK:</a:t>
            </a:r>
          </a:p>
          <a:p>
            <a:r>
              <a:rPr lang="en-IN" dirty="0" err="1"/>
              <a:t>Trigger_Alert</a:t>
            </a:r>
            <a:r>
              <a:rPr lang="en-IN" dirty="0"/>
              <a:t>("Known Signature Detected")</a:t>
            </a:r>
          </a:p>
          <a:p>
            <a:r>
              <a:rPr lang="en-IN" dirty="0"/>
              <a:t># Stage B: Unknown/Zero-Day (Autoencoder)</a:t>
            </a:r>
          </a:p>
          <a:p>
            <a:r>
              <a:rPr lang="en-IN" dirty="0"/>
              <a:t>ELSE IF </a:t>
            </a:r>
            <a:r>
              <a:rPr lang="en-IN" dirty="0" err="1"/>
              <a:t>Autoencoder.Error</a:t>
            </a:r>
            <a:r>
              <a:rPr lang="en-IN" dirty="0"/>
              <a:t>(features) &gt; THRESHOLD:</a:t>
            </a:r>
          </a:p>
          <a:p>
            <a:r>
              <a:rPr lang="en-IN" dirty="0" err="1"/>
              <a:t>Trigger_Alert</a:t>
            </a:r>
            <a:r>
              <a:rPr lang="en-IN" dirty="0"/>
              <a:t>("Zero-Day Anomaly Detected")</a:t>
            </a:r>
          </a:p>
          <a:p>
            <a:r>
              <a:rPr lang="en-IN" dirty="0"/>
              <a:t># 3. Automated Response</a:t>
            </a:r>
          </a:p>
          <a:p>
            <a:r>
              <a:rPr lang="en-IN" dirty="0"/>
              <a:t>IF </a:t>
            </a:r>
            <a:r>
              <a:rPr lang="en-IN" dirty="0" err="1"/>
              <a:t>Alert_Triggered</a:t>
            </a:r>
            <a:r>
              <a:rPr lang="en-IN" dirty="0"/>
              <a:t>:</a:t>
            </a:r>
          </a:p>
          <a:p>
            <a:r>
              <a:rPr lang="en-IN" dirty="0" err="1"/>
              <a:t>Block_Source_IP</a:t>
            </a:r>
            <a:r>
              <a:rPr lang="en-IN" dirty="0"/>
              <a:t>(</a:t>
            </a:r>
            <a:r>
              <a:rPr lang="en-IN" dirty="0" err="1"/>
              <a:t>packet.src</a:t>
            </a:r>
            <a:r>
              <a:rPr lang="en-IN" dirty="0"/>
              <a:t>)</a:t>
            </a:r>
          </a:p>
          <a:p>
            <a:r>
              <a:rPr lang="en-IN" dirty="0" err="1"/>
              <a:t>Save_Forensic_Evidence</a:t>
            </a:r>
            <a:r>
              <a:rPr lang="en-IN" dirty="0"/>
              <a:t>()</a:t>
            </a:r>
          </a:p>
          <a:p>
            <a:r>
              <a:rPr lang="en-IN" dirty="0" err="1"/>
              <a:t>SocketIO.Emit</a:t>
            </a:r>
            <a:r>
              <a:rPr lang="en-IN" dirty="0"/>
              <a:t>("Real-Time Dashboard Update")</a:t>
            </a:r>
          </a:p>
          <a:p>
            <a:r>
              <a:rPr lang="en-IN" dirty="0"/>
              <a:t>ELSE:</a:t>
            </a:r>
          </a:p>
          <a:p>
            <a:r>
              <a:rPr lang="en-IN" dirty="0" err="1"/>
              <a:t>Allow_Traffic</a:t>
            </a:r>
            <a:r>
              <a:rPr lang="en-IN" dirty="0"/>
              <a:t>()</a:t>
            </a:r>
          </a:p>
          <a:p>
            <a:endParaRPr lang="en-IN" dirty="0"/>
          </a:p>
        </p:txBody>
      </p:sp>
    </p:spTree>
    <p:extLst>
      <p:ext uri="{BB962C8B-B14F-4D97-AF65-F5344CB8AC3E}">
        <p14:creationId xmlns:p14="http://schemas.microsoft.com/office/powerpoint/2010/main" val="20562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8081-BB4E-0CFB-86FB-39C5A210153D}"/>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9AAD2B-C9FB-9BEB-9288-3E510986C09C}"/>
              </a:ext>
            </a:extLst>
          </p:cNvPr>
          <p:cNvCxnSpPr>
            <a:cxnSpLocks/>
          </p:cNvCxnSpPr>
          <p:nvPr/>
        </p:nvCxnSpPr>
        <p:spPr>
          <a:xfrm>
            <a:off x="501054" y="1210272"/>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2177F8CA-7DF8-6E61-6960-A4C9149ABA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885" b="28110"/>
          <a:stretch>
            <a:fillRect/>
          </a:stretch>
        </p:blipFill>
        <p:spPr bwMode="auto">
          <a:xfrm>
            <a:off x="9713942" y="299545"/>
            <a:ext cx="2074871" cy="66859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4F89624-182A-7BEB-849B-335B0D04987D}"/>
              </a:ext>
            </a:extLst>
          </p:cNvPr>
          <p:cNvSpPr txBox="1"/>
          <p:nvPr/>
        </p:nvSpPr>
        <p:spPr>
          <a:xfrm>
            <a:off x="403187" y="218342"/>
            <a:ext cx="9824720" cy="830997"/>
          </a:xfrm>
          <a:prstGeom prst="rect">
            <a:avLst/>
          </a:prstGeom>
          <a:noFill/>
        </p:spPr>
        <p:txBody>
          <a:bodyPr wrap="square" rtlCol="0">
            <a:spAutoFit/>
          </a:bodyPr>
          <a:lstStyle/>
          <a:p>
            <a:pPr fontAlgn="ctr"/>
            <a:r>
              <a:rPr lang="en-IN"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MODEL TRAINING PIPELINE (</a:t>
            </a:r>
            <a:r>
              <a:rPr lang="en-IN" sz="2400" dirty="0">
                <a:latin typeface="Times New Roman" panose="02020603050405020304" pitchFamily="18" charset="0"/>
                <a:cs typeface="Times New Roman" panose="02020603050405020304" pitchFamily="18" charset="0"/>
              </a:rPr>
              <a:t>train_model.py</a:t>
            </a:r>
            <a:r>
              <a:rPr lang="en-IN"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MODULE - PSEUDOCODE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03E5A4-567D-67C7-AECC-54A2C3A76ED4}"/>
              </a:ext>
            </a:extLst>
          </p:cNvPr>
          <p:cNvSpPr txBox="1"/>
          <p:nvPr/>
        </p:nvSpPr>
        <p:spPr>
          <a:xfrm>
            <a:off x="501054" y="1452407"/>
            <a:ext cx="5594946" cy="4462760"/>
          </a:xfrm>
          <a:prstGeom prst="rect">
            <a:avLst/>
          </a:prstGeom>
          <a:noFill/>
        </p:spPr>
        <p:txBody>
          <a:bodyPr wrap="square">
            <a:spAutoFit/>
          </a:bodyPr>
          <a:lstStyle/>
          <a:p>
            <a:r>
              <a:rPr lang="en-IN"/>
              <a:t>FUNCTION </a:t>
            </a:r>
            <a:r>
              <a:rPr lang="en-IN" dirty="0" err="1"/>
              <a:t>Train_Hybrid_Models</a:t>
            </a:r>
            <a:r>
              <a:rPr lang="en-IN" dirty="0"/>
              <a:t>():</a:t>
            </a:r>
          </a:p>
          <a:p>
            <a:r>
              <a:rPr lang="en-IN" dirty="0"/>
              <a:t># 1. Prepare Data</a:t>
            </a:r>
          </a:p>
          <a:p>
            <a:r>
              <a:rPr lang="en-IN" dirty="0"/>
              <a:t>data = Load_CICIDS2017_Dataset()</a:t>
            </a:r>
          </a:p>
          <a:p>
            <a:r>
              <a:rPr lang="en-IN" dirty="0"/>
              <a:t>data = </a:t>
            </a:r>
            <a:r>
              <a:rPr lang="en-IN" dirty="0" err="1"/>
              <a:t>Balance_And_Normalize</a:t>
            </a:r>
            <a:r>
              <a:rPr lang="en-IN" dirty="0"/>
              <a:t>(data)</a:t>
            </a:r>
          </a:p>
          <a:p>
            <a:r>
              <a:rPr lang="en-IN" dirty="0"/>
              <a:t># 2. Train Supervised Identifier (Random Forest)</a:t>
            </a:r>
          </a:p>
          <a:p>
            <a:r>
              <a:rPr lang="en-IN" dirty="0" err="1"/>
              <a:t>RF_Model.train</a:t>
            </a:r>
            <a:r>
              <a:rPr lang="en-IN" dirty="0"/>
              <a:t>(data, labels=["Benign", "DoS", "</a:t>
            </a:r>
            <a:r>
              <a:rPr lang="en-IN" dirty="0" err="1"/>
              <a:t>PortScan</a:t>
            </a:r>
            <a:r>
              <a:rPr lang="en-IN" dirty="0"/>
              <a:t>", ...])</a:t>
            </a:r>
          </a:p>
          <a:p>
            <a:r>
              <a:rPr lang="en-IN" dirty="0"/>
              <a:t>Save(</a:t>
            </a:r>
            <a:r>
              <a:rPr lang="en-IN" dirty="0" err="1"/>
              <a:t>RF_Model</a:t>
            </a:r>
            <a:r>
              <a:rPr lang="en-IN" dirty="0"/>
              <a:t>)</a:t>
            </a:r>
          </a:p>
          <a:p>
            <a:r>
              <a:rPr lang="en-IN" dirty="0"/>
              <a:t># 3. Train Unsupervised Detector (Autoencoder)</a:t>
            </a:r>
          </a:p>
          <a:p>
            <a:r>
              <a:rPr lang="en-IN" dirty="0"/>
              <a:t># Train only on Benign data to learn "Normality"</a:t>
            </a:r>
          </a:p>
          <a:p>
            <a:r>
              <a:rPr lang="en-IN" dirty="0" err="1"/>
              <a:t>Autoencoder.train</a:t>
            </a:r>
            <a:r>
              <a:rPr lang="en-IN" dirty="0"/>
              <a:t>(data[</a:t>
            </a:r>
            <a:r>
              <a:rPr lang="en-IN" dirty="0" err="1"/>
              <a:t>Benign_Only</a:t>
            </a:r>
            <a:r>
              <a:rPr lang="en-IN" dirty="0"/>
              <a:t>]) </a:t>
            </a:r>
          </a:p>
          <a:p>
            <a:r>
              <a:rPr lang="en-IN" dirty="0"/>
              <a:t>Save(Autoencoder)</a:t>
            </a:r>
          </a:p>
          <a:p>
            <a:r>
              <a:rPr lang="en-IN" dirty="0"/>
              <a:t># 4. Train Sequence Detector (CNN-LSTM)</a:t>
            </a:r>
          </a:p>
          <a:p>
            <a:r>
              <a:rPr lang="en-IN" dirty="0" err="1"/>
              <a:t>CNN_LSTM.train</a:t>
            </a:r>
            <a:r>
              <a:rPr lang="en-IN" dirty="0"/>
              <a:t>(</a:t>
            </a:r>
            <a:r>
              <a:rPr lang="en-IN" dirty="0" err="1"/>
              <a:t>Time_Series_Reshaped</a:t>
            </a:r>
            <a:r>
              <a:rPr lang="en-IN" dirty="0"/>
              <a:t>(data))</a:t>
            </a:r>
          </a:p>
          <a:p>
            <a:r>
              <a:rPr lang="en-IN" dirty="0"/>
              <a:t>Save(CNN_LSTM)</a:t>
            </a:r>
          </a:p>
          <a:p>
            <a:endParaRPr lang="en-IN" sz="1400" dirty="0"/>
          </a:p>
        </p:txBody>
      </p:sp>
      <p:sp>
        <p:nvSpPr>
          <p:cNvPr id="2" name="TextBox 1">
            <a:extLst>
              <a:ext uri="{FF2B5EF4-FFF2-40B4-BE49-F238E27FC236}">
                <a16:creationId xmlns:a16="http://schemas.microsoft.com/office/drawing/2014/main" id="{164F468D-B006-E0C0-F9F1-E6DD5E58C55B}"/>
              </a:ext>
            </a:extLst>
          </p:cNvPr>
          <p:cNvSpPr txBox="1"/>
          <p:nvPr/>
        </p:nvSpPr>
        <p:spPr>
          <a:xfrm>
            <a:off x="6852213" y="1452407"/>
            <a:ext cx="4734045" cy="193899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"This is the 'School' for our AI. We take massive historical datasets, clean and balance them, and train our three distinct models. This offline process ensures that when the system goes live, it already 'knows' what a threat looks like."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7362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2088F-EF3E-90D7-DBE6-0C456CF28E5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DD89AB1-3B88-F19D-1EE8-0F78BD473A6F}"/>
              </a:ext>
            </a:extLst>
          </p:cNvPr>
          <p:cNvCxnSpPr>
            <a:cxnSpLocks/>
          </p:cNvCxnSpPr>
          <p:nvPr/>
        </p:nvCxnSpPr>
        <p:spPr>
          <a:xfrm>
            <a:off x="501054" y="110211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B5743C71-A67A-077C-B986-5BC4713830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115" b="27419"/>
          <a:stretch>
            <a:fillRect/>
          </a:stretch>
        </p:blipFill>
        <p:spPr bwMode="auto">
          <a:xfrm>
            <a:off x="9277127" y="250494"/>
            <a:ext cx="2286000" cy="6751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A0407D3-31DE-C8CA-97D3-3E9FF297CB94}"/>
              </a:ext>
            </a:extLst>
          </p:cNvPr>
          <p:cNvSpPr txBox="1"/>
          <p:nvPr/>
        </p:nvSpPr>
        <p:spPr>
          <a:xfrm>
            <a:off x="348654" y="206655"/>
            <a:ext cx="9506546" cy="830997"/>
          </a:xfrm>
          <a:prstGeom prst="rect">
            <a:avLst/>
          </a:prstGeom>
          <a:noFill/>
        </p:spPr>
        <p:txBody>
          <a:bodyPr wrap="square" rtlCol="0">
            <a:spAutoFit/>
          </a:bodyPr>
          <a:lstStyle/>
          <a:p>
            <a:pPr fontAlgn="ctr"/>
            <a:r>
              <a:rPr lang="sv-SE" sz="2400" b="1" dirty="0">
                <a:latin typeface="Times New Roman" panose="02020603050405020304" pitchFamily="18" charset="0"/>
                <a:cs typeface="Times New Roman" panose="02020603050405020304" pitchFamily="18" charset="0"/>
              </a:rPr>
              <a:t>PACKET SNIFFER / INGESTION AGENT (</a:t>
            </a:r>
            <a:r>
              <a:rPr lang="sv-SE" sz="2400" dirty="0">
                <a:latin typeface="Times New Roman" panose="02020603050405020304" pitchFamily="18" charset="0"/>
                <a:cs typeface="Times New Roman" panose="02020603050405020304" pitchFamily="18" charset="0"/>
              </a:rPr>
              <a:t>sniffer.py</a:t>
            </a:r>
            <a:r>
              <a:rPr lang="sv-SE"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MODULE - PSEUDOCODE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DB7BB4D-8E84-21F2-7E29-3225F1E044C3}"/>
              </a:ext>
            </a:extLst>
          </p:cNvPr>
          <p:cNvSpPr txBox="1"/>
          <p:nvPr/>
        </p:nvSpPr>
        <p:spPr>
          <a:xfrm>
            <a:off x="501053" y="1385335"/>
            <a:ext cx="5107267" cy="2800767"/>
          </a:xfrm>
          <a:prstGeom prst="rect">
            <a:avLst/>
          </a:prstGeom>
          <a:noFill/>
        </p:spPr>
        <p:txBody>
          <a:bodyPr wrap="square">
            <a:spAutoFit/>
          </a:bodyPr>
          <a:lstStyle/>
          <a:p>
            <a:r>
              <a:rPr lang="en-IN" dirty="0"/>
              <a:t>FUNCTION </a:t>
            </a:r>
            <a:r>
              <a:rPr lang="en-IN" dirty="0" err="1"/>
              <a:t>Capture_And_Send</a:t>
            </a:r>
            <a:r>
              <a:rPr lang="en-IN" dirty="0"/>
              <a:t>():</a:t>
            </a:r>
          </a:p>
          <a:p>
            <a:r>
              <a:rPr lang="en-IN" dirty="0"/>
              <a:t>WHILE True:</a:t>
            </a:r>
          </a:p>
          <a:p>
            <a:r>
              <a:rPr lang="en-IN" dirty="0"/>
              <a:t>packet = Sniff_Interface()</a:t>
            </a:r>
          </a:p>
          <a:p>
            <a:r>
              <a:rPr lang="en-IN" dirty="0"/>
              <a:t>if </a:t>
            </a:r>
            <a:r>
              <a:rPr lang="en-IN" dirty="0" err="1"/>
              <a:t>packet.is_IP</a:t>
            </a:r>
            <a:r>
              <a:rPr lang="en-IN" dirty="0"/>
              <a:t>:</a:t>
            </a:r>
          </a:p>
          <a:p>
            <a:r>
              <a:rPr lang="en-IN" dirty="0"/>
              <a:t># Convert raw bytes to ML features (40 dimensions)</a:t>
            </a:r>
          </a:p>
          <a:p>
            <a:r>
              <a:rPr lang="en-IN" dirty="0"/>
              <a:t>features = </a:t>
            </a:r>
            <a:r>
              <a:rPr lang="en-IN" dirty="0" err="1"/>
              <a:t>Feature_Extraction</a:t>
            </a:r>
            <a:r>
              <a:rPr lang="en-IN" dirty="0"/>
              <a:t>(packet)</a:t>
            </a:r>
          </a:p>
          <a:p>
            <a:r>
              <a:rPr lang="en-IN" dirty="0"/>
              <a:t># Send to Backend for processing</a:t>
            </a:r>
          </a:p>
          <a:p>
            <a:r>
              <a:rPr lang="en-IN" dirty="0"/>
              <a:t>payload = { "</a:t>
            </a:r>
            <a:r>
              <a:rPr lang="en-IN" dirty="0" err="1"/>
              <a:t>ip</a:t>
            </a:r>
            <a:r>
              <a:rPr lang="en-IN" dirty="0"/>
              <a:t>": </a:t>
            </a:r>
            <a:r>
              <a:rPr lang="en-IN" dirty="0" err="1"/>
              <a:t>packet.src</a:t>
            </a:r>
            <a:r>
              <a:rPr lang="en-IN" dirty="0"/>
              <a:t>, "features": features }</a:t>
            </a:r>
          </a:p>
          <a:p>
            <a:r>
              <a:rPr lang="en-IN" dirty="0"/>
              <a:t>HTTP_POST(</a:t>
            </a:r>
            <a:r>
              <a:rPr lang="en-IN" dirty="0" err="1"/>
              <a:t>Backend_URL</a:t>
            </a:r>
            <a:r>
              <a:rPr lang="en-IN" dirty="0"/>
              <a:t>, payload)</a:t>
            </a:r>
          </a:p>
          <a:p>
            <a:endParaRPr lang="en-IN" sz="1400" dirty="0"/>
          </a:p>
        </p:txBody>
      </p:sp>
      <p:sp>
        <p:nvSpPr>
          <p:cNvPr id="2" name="TextBox 1">
            <a:extLst>
              <a:ext uri="{FF2B5EF4-FFF2-40B4-BE49-F238E27FC236}">
                <a16:creationId xmlns:a16="http://schemas.microsoft.com/office/drawing/2014/main" id="{0885440E-2171-3749-0F11-64BE05F86063}"/>
              </a:ext>
            </a:extLst>
          </p:cNvPr>
          <p:cNvSpPr txBox="1"/>
          <p:nvPr/>
        </p:nvSpPr>
        <p:spPr>
          <a:xfrm>
            <a:off x="7222603" y="1481559"/>
            <a:ext cx="4468344" cy="193899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"Sitting on the network edge, the Sniffer is our lightweight agent. It filters out noise and captures only relevant IP traffic, ensuring that our heavy AI models are fed clean, structured data without slowing down the network."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313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16014-5BA9-A91B-C244-70EB3DA77CA0}"/>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35438A-2C43-F097-E93C-710BD93341AC}"/>
              </a:ext>
            </a:extLst>
          </p:cNvPr>
          <p:cNvCxnSpPr>
            <a:cxnSpLocks/>
          </p:cNvCxnSpPr>
          <p:nvPr/>
        </p:nvCxnSpPr>
        <p:spPr>
          <a:xfrm>
            <a:off x="412564" y="1109984"/>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7975EAE0-F52B-BF56-9FD9-BFDCB26ECD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899" b="23962"/>
          <a:stretch>
            <a:fillRect/>
          </a:stretch>
        </p:blipFill>
        <p:spPr bwMode="auto">
          <a:xfrm>
            <a:off x="9692640" y="78890"/>
            <a:ext cx="2286000" cy="8554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D278642-AC71-4ECE-A1BF-B84DAEFDD9EC}"/>
              </a:ext>
            </a:extLst>
          </p:cNvPr>
          <p:cNvSpPr txBox="1"/>
          <p:nvPr/>
        </p:nvSpPr>
        <p:spPr>
          <a:xfrm>
            <a:off x="326534" y="278987"/>
            <a:ext cx="9885680" cy="830997"/>
          </a:xfrm>
          <a:prstGeom prst="rect">
            <a:avLst/>
          </a:prstGeom>
          <a:noFill/>
        </p:spPr>
        <p:txBody>
          <a:bodyPr wrap="square" rtlCol="0">
            <a:spAutoFit/>
          </a:bodyPr>
          <a:lstStyle/>
          <a:p>
            <a:pPr fontAlgn="ctr"/>
            <a:r>
              <a:rPr lang="en-US" sz="2400" b="1" dirty="0">
                <a:latin typeface="Times New Roman" panose="02020603050405020304" pitchFamily="18" charset="0"/>
                <a:cs typeface="Times New Roman" panose="02020603050405020304" pitchFamily="18" charset="0"/>
              </a:rPr>
              <a:t>FEATURE EXTRACTOR (</a:t>
            </a:r>
            <a:r>
              <a:rPr lang="en-US" sz="2400" dirty="0" err="1">
                <a:latin typeface="Times New Roman" panose="02020603050405020304" pitchFamily="18" charset="0"/>
                <a:cs typeface="Times New Roman" panose="02020603050405020304" pitchFamily="18" charset="0"/>
              </a:rPr>
              <a:t>src</a:t>
            </a:r>
            <a:r>
              <a:rPr lang="en-US" sz="2400" dirty="0">
                <a:latin typeface="Times New Roman" panose="02020603050405020304" pitchFamily="18" charset="0"/>
                <a:cs typeface="Times New Roman" panose="02020603050405020304" pitchFamily="18" charset="0"/>
              </a:rPr>
              <a:t>/feature_extraction.py</a:t>
            </a:r>
            <a:r>
              <a:rPr lang="en-US" sz="2400" b="1" dirty="0">
                <a:latin typeface="Times New Roman" panose="02020603050405020304" pitchFamily="18" charset="0"/>
                <a:cs typeface="Times New Roman" panose="02020603050405020304" pitchFamily="18" charset="0"/>
              </a:rPr>
              <a:t>) MODULE - PSEUDOCODE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B4EEDDD-FCB9-1ECF-DE72-45D500104C59}"/>
              </a:ext>
            </a:extLst>
          </p:cNvPr>
          <p:cNvSpPr txBox="1"/>
          <p:nvPr/>
        </p:nvSpPr>
        <p:spPr>
          <a:xfrm>
            <a:off x="412564" y="1373630"/>
            <a:ext cx="5594946" cy="2739211"/>
          </a:xfrm>
          <a:prstGeom prst="rect">
            <a:avLst/>
          </a:prstGeom>
          <a:noFill/>
        </p:spPr>
        <p:txBody>
          <a:bodyPr wrap="square">
            <a:spAutoFit/>
          </a:bodyPr>
          <a:lstStyle/>
          <a:p>
            <a:r>
              <a:rPr lang="en-IN" dirty="0"/>
              <a:t>FUNCTION Extract(packet):</a:t>
            </a:r>
          </a:p>
          <a:p>
            <a:r>
              <a:rPr lang="en-IN" dirty="0"/>
              <a:t># Map packet to CICIDS2017 40-feature vector</a:t>
            </a:r>
          </a:p>
          <a:p>
            <a:r>
              <a:rPr lang="en-IN" dirty="0"/>
              <a:t>vector = [0] * 40 </a:t>
            </a:r>
          </a:p>
          <a:p>
            <a:r>
              <a:rPr lang="en-IN" dirty="0"/>
              <a:t>vector[Pt] = </a:t>
            </a:r>
            <a:r>
              <a:rPr lang="en-IN" dirty="0" err="1"/>
              <a:t>packet.port</a:t>
            </a:r>
            <a:r>
              <a:rPr lang="en-IN" dirty="0"/>
              <a:t>; vector[Len] = </a:t>
            </a:r>
            <a:r>
              <a:rPr lang="en-IN" dirty="0" err="1"/>
              <a:t>packet.len</a:t>
            </a:r>
            <a:endParaRPr lang="en-IN" dirty="0"/>
          </a:p>
          <a:p>
            <a:r>
              <a:rPr lang="en-IN" dirty="0"/>
              <a:t># Heuristic Projection (Single </a:t>
            </a:r>
            <a:r>
              <a:rPr lang="en-IN" dirty="0" err="1"/>
              <a:t>Pkt</a:t>
            </a:r>
            <a:r>
              <a:rPr lang="en-IN" dirty="0"/>
              <a:t> -&gt; Flow)</a:t>
            </a:r>
          </a:p>
          <a:p>
            <a:r>
              <a:rPr lang="en-IN" dirty="0"/>
              <a:t>IF </a:t>
            </a:r>
            <a:r>
              <a:rPr lang="en-IN" dirty="0" err="1"/>
              <a:t>packet.SYN</a:t>
            </a:r>
            <a:r>
              <a:rPr lang="en-IN" dirty="0"/>
              <a:t>: vector[Duration] = HIGH_VAL # Sim DoS</a:t>
            </a:r>
          </a:p>
          <a:p>
            <a:r>
              <a:rPr lang="en-IN" dirty="0"/>
              <a:t>IF </a:t>
            </a:r>
            <a:r>
              <a:rPr lang="en-IN" dirty="0" err="1"/>
              <a:t>packet.FIN</a:t>
            </a:r>
            <a:r>
              <a:rPr lang="en-IN" dirty="0"/>
              <a:t>: vector[Duration] = LOW_VAL # Sim Scan</a:t>
            </a:r>
          </a:p>
          <a:p>
            <a:r>
              <a:rPr lang="en-IN" dirty="0"/>
              <a:t>RETURN vector</a:t>
            </a:r>
          </a:p>
          <a:p>
            <a:endParaRPr lang="en-IN" sz="1400" dirty="0"/>
          </a:p>
          <a:p>
            <a:endParaRPr lang="en-IN" sz="1400" dirty="0"/>
          </a:p>
        </p:txBody>
      </p:sp>
      <p:sp>
        <p:nvSpPr>
          <p:cNvPr id="2" name="TextBox 1">
            <a:extLst>
              <a:ext uri="{FF2B5EF4-FFF2-40B4-BE49-F238E27FC236}">
                <a16:creationId xmlns:a16="http://schemas.microsoft.com/office/drawing/2014/main" id="{C6B30069-2B6D-E95C-35C4-E9F6074397BF}"/>
              </a:ext>
            </a:extLst>
          </p:cNvPr>
          <p:cNvSpPr txBox="1"/>
          <p:nvPr/>
        </p:nvSpPr>
        <p:spPr>
          <a:xfrm>
            <a:off x="6273478" y="1516284"/>
            <a:ext cx="5011838" cy="193899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"AI deals in numbers, not bytes. The Feature Extractor bridges this gap, instantly translating raw network traffic into the 40-dimensional vector format our models were trained on, using smart heuristics to estimate complex flow statistics in real-time."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9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DD384-5A32-B831-A153-959A004BB2D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E25A112-FD6B-8559-8D7E-BB309B5AC2D1}"/>
              </a:ext>
            </a:extLst>
          </p:cNvPr>
          <p:cNvCxnSpPr>
            <a:cxnSpLocks/>
          </p:cNvCxnSpPr>
          <p:nvPr/>
        </p:nvCxnSpPr>
        <p:spPr>
          <a:xfrm>
            <a:off x="501054" y="1095507"/>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2721B7D6-FA10-A7AE-615C-234A136319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598" b="21594"/>
          <a:stretch>
            <a:fillRect/>
          </a:stretch>
        </p:blipFill>
        <p:spPr bwMode="auto">
          <a:xfrm>
            <a:off x="9404946" y="314631"/>
            <a:ext cx="2286000" cy="6882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AE54428-D86B-A5E5-4F46-2B2DFB4309FA}"/>
              </a:ext>
            </a:extLst>
          </p:cNvPr>
          <p:cNvSpPr txBox="1"/>
          <p:nvPr/>
        </p:nvSpPr>
        <p:spPr>
          <a:xfrm>
            <a:off x="501054" y="314631"/>
            <a:ext cx="8044406" cy="830997"/>
          </a:xfrm>
          <a:prstGeom prst="rect">
            <a:avLst/>
          </a:prstGeom>
          <a:noFill/>
        </p:spPr>
        <p:txBody>
          <a:bodyPr wrap="square" rtlCol="0">
            <a:spAutoFit/>
          </a:bodyPr>
          <a:lstStyle/>
          <a:p>
            <a:pPr fontAlgn="ctr"/>
            <a:r>
              <a:rPr lang="en-IN" sz="2400" b="1" dirty="0">
                <a:latin typeface="Times New Roman" panose="02020603050405020304" pitchFamily="18" charset="0"/>
                <a:cs typeface="Times New Roman" panose="02020603050405020304" pitchFamily="18" charset="0"/>
              </a:rPr>
              <a:t>ATTACK SIMULATOR (</a:t>
            </a:r>
            <a:r>
              <a:rPr lang="en-IN" sz="2400" dirty="0">
                <a:latin typeface="Times New Roman" panose="02020603050405020304" pitchFamily="18" charset="0"/>
                <a:cs typeface="Times New Roman" panose="02020603050405020304" pitchFamily="18" charset="0"/>
              </a:rPr>
              <a:t>attack_simulation.py</a:t>
            </a:r>
            <a:r>
              <a:rPr lang="en-IN"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MODULE - PSEUDOCODE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C65C0F2-C342-FE74-93DF-8A4ACE761F30}"/>
              </a:ext>
            </a:extLst>
          </p:cNvPr>
          <p:cNvSpPr txBox="1"/>
          <p:nvPr/>
        </p:nvSpPr>
        <p:spPr>
          <a:xfrm>
            <a:off x="501054" y="1301423"/>
            <a:ext cx="5594946" cy="4185761"/>
          </a:xfrm>
          <a:prstGeom prst="rect">
            <a:avLst/>
          </a:prstGeom>
          <a:noFill/>
        </p:spPr>
        <p:txBody>
          <a:bodyPr wrap="square">
            <a:spAutoFit/>
          </a:bodyPr>
          <a:lstStyle/>
          <a:p>
            <a:r>
              <a:rPr lang="en-IN" dirty="0"/>
              <a:t>FUNCTION </a:t>
            </a:r>
            <a:r>
              <a:rPr lang="en-IN" dirty="0" err="1"/>
              <a:t>Simulate_Attacks</a:t>
            </a:r>
            <a:r>
              <a:rPr lang="en-IN" dirty="0"/>
              <a:t>():</a:t>
            </a:r>
          </a:p>
          <a:p>
            <a:r>
              <a:rPr lang="en-IN" dirty="0"/>
              <a:t>ATTACKS = ["DoS", "</a:t>
            </a:r>
            <a:r>
              <a:rPr lang="en-IN" dirty="0" err="1"/>
              <a:t>PortScan</a:t>
            </a:r>
            <a:r>
              <a:rPr lang="en-IN" dirty="0"/>
              <a:t>", "</a:t>
            </a:r>
            <a:r>
              <a:rPr lang="en-IN" dirty="0" err="1"/>
              <a:t>BruteForce</a:t>
            </a:r>
            <a:r>
              <a:rPr lang="en-IN" dirty="0"/>
              <a:t>", "</a:t>
            </a:r>
            <a:r>
              <a:rPr lang="en-IN" dirty="0" err="1"/>
              <a:t>WebAttack</a:t>
            </a:r>
            <a:r>
              <a:rPr lang="en-IN" dirty="0"/>
              <a:t>", "Botnet"]</a:t>
            </a:r>
          </a:p>
          <a:p>
            <a:r>
              <a:rPr lang="en-IN" dirty="0"/>
              <a:t>WHILE True:</a:t>
            </a:r>
          </a:p>
          <a:p>
            <a:r>
              <a:rPr lang="en-IN" dirty="0"/>
              <a:t># Pick a random attack scenario</a:t>
            </a:r>
          </a:p>
          <a:p>
            <a:r>
              <a:rPr lang="en-IN" dirty="0"/>
              <a:t>type = </a:t>
            </a:r>
            <a:r>
              <a:rPr lang="en-IN" dirty="0" err="1"/>
              <a:t>Random_Choice</a:t>
            </a:r>
            <a:r>
              <a:rPr lang="en-IN" dirty="0"/>
              <a:t>(ATTACKS)</a:t>
            </a:r>
          </a:p>
          <a:p>
            <a:r>
              <a:rPr lang="en-IN" dirty="0"/>
              <a:t># Generate traffic with specific signatures</a:t>
            </a:r>
          </a:p>
          <a:p>
            <a:r>
              <a:rPr lang="en-IN" dirty="0"/>
              <a:t>IF type == "DoS":</a:t>
            </a:r>
          </a:p>
          <a:p>
            <a:r>
              <a:rPr lang="en-IN" dirty="0"/>
              <a:t>features = </a:t>
            </a:r>
            <a:r>
              <a:rPr lang="en-IN" dirty="0" err="1"/>
              <a:t>Generate_High_Volume_Traffic</a:t>
            </a:r>
            <a:r>
              <a:rPr lang="en-IN" dirty="0"/>
              <a:t>()</a:t>
            </a:r>
          </a:p>
          <a:p>
            <a:r>
              <a:rPr lang="en-IN" dirty="0"/>
              <a:t>ELSE IF type == "</a:t>
            </a:r>
            <a:r>
              <a:rPr lang="en-IN" dirty="0" err="1"/>
              <a:t>PortScan</a:t>
            </a:r>
            <a:r>
              <a:rPr lang="en-IN" dirty="0"/>
              <a:t>":</a:t>
            </a:r>
          </a:p>
          <a:p>
            <a:r>
              <a:rPr lang="en-IN" dirty="0"/>
              <a:t>features = </a:t>
            </a:r>
            <a:r>
              <a:rPr lang="en-IN" dirty="0" err="1"/>
              <a:t>Generate_Rapid_Connection_Attempts</a:t>
            </a:r>
            <a:r>
              <a:rPr lang="en-IN" dirty="0"/>
              <a:t>()</a:t>
            </a:r>
          </a:p>
          <a:p>
            <a:r>
              <a:rPr lang="en-IN" dirty="0"/>
              <a:t># Fire at IDS Backend to test detection</a:t>
            </a:r>
          </a:p>
          <a:p>
            <a:r>
              <a:rPr lang="en-IN" dirty="0" err="1"/>
              <a:t>Send_Traffic</a:t>
            </a:r>
            <a:r>
              <a:rPr lang="en-IN" dirty="0"/>
              <a:t>(</a:t>
            </a:r>
            <a:r>
              <a:rPr lang="en-IN" dirty="0" err="1"/>
              <a:t>Target_IP</a:t>
            </a:r>
            <a:r>
              <a:rPr lang="en-IN" dirty="0"/>
              <a:t>, features)</a:t>
            </a:r>
          </a:p>
          <a:p>
            <a:r>
              <a:rPr lang="en-IN" dirty="0"/>
              <a:t>Sleep(</a:t>
            </a:r>
            <a:r>
              <a:rPr lang="en-IN" dirty="0" err="1"/>
              <a:t>Random_Interval</a:t>
            </a:r>
            <a:r>
              <a:rPr lang="en-IN" dirty="0"/>
              <a:t>)</a:t>
            </a:r>
          </a:p>
          <a:p>
            <a:endParaRPr lang="en-IN" sz="1400" dirty="0"/>
          </a:p>
        </p:txBody>
      </p:sp>
      <p:sp>
        <p:nvSpPr>
          <p:cNvPr id="2" name="TextBox 1">
            <a:extLst>
              <a:ext uri="{FF2B5EF4-FFF2-40B4-BE49-F238E27FC236}">
                <a16:creationId xmlns:a16="http://schemas.microsoft.com/office/drawing/2014/main" id="{D2F27E37-EA0C-AC58-7606-A4F6060511DE}"/>
              </a:ext>
            </a:extLst>
          </p:cNvPr>
          <p:cNvSpPr txBox="1"/>
          <p:nvPr/>
        </p:nvSpPr>
        <p:spPr>
          <a:xfrm>
            <a:off x="6227180" y="1608881"/>
            <a:ext cx="5370653"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 "To prove our system works without exposing us to real danger, we built this Simulator. It creates sophisticated, randomized attack patterns that look exactly like real threats, allowing us to </a:t>
            </a:r>
            <a:r>
              <a:rPr lang="en-US" sz="2000" dirty="0" err="1">
                <a:latin typeface="Times New Roman" panose="02020603050405020304" pitchFamily="18" charset="0"/>
                <a:cs typeface="Times New Roman" panose="02020603050405020304" pitchFamily="18" charset="0"/>
              </a:rPr>
              <a:t>validte</a:t>
            </a:r>
            <a:r>
              <a:rPr lang="en-US" sz="2000" dirty="0">
                <a:latin typeface="Times New Roman" panose="02020603050405020304" pitchFamily="18" charset="0"/>
                <a:cs typeface="Times New Roman" panose="02020603050405020304" pitchFamily="18" charset="0"/>
              </a:rPr>
              <a:t> our detection accuracy on demand."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1755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674A3-5570-7FEF-8AB4-BFFB78E1930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608ACAE-D63D-4D58-AFE7-AF45F8C6FE07}"/>
              </a:ext>
            </a:extLst>
          </p:cNvPr>
          <p:cNvCxnSpPr>
            <a:cxnSpLocks/>
          </p:cNvCxnSpPr>
          <p:nvPr/>
        </p:nvCxnSpPr>
        <p:spPr>
          <a:xfrm>
            <a:off x="412564" y="1170944"/>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7DD32549-7F64-93C5-39AC-FDE0079EC1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899" b="23962"/>
          <a:stretch>
            <a:fillRect/>
          </a:stretch>
        </p:blipFill>
        <p:spPr bwMode="auto">
          <a:xfrm>
            <a:off x="9345953" y="78890"/>
            <a:ext cx="2286000" cy="8554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B040A87-F8CC-70BE-ABDE-B3F94A7814D1}"/>
              </a:ext>
            </a:extLst>
          </p:cNvPr>
          <p:cNvSpPr txBox="1"/>
          <p:nvPr/>
        </p:nvSpPr>
        <p:spPr>
          <a:xfrm>
            <a:off x="412564" y="221623"/>
            <a:ext cx="9636697" cy="830997"/>
          </a:xfrm>
          <a:prstGeom prst="rect">
            <a:avLst/>
          </a:prstGeom>
          <a:noFill/>
        </p:spPr>
        <p:txBody>
          <a:bodyPr wrap="square" rtlCol="0">
            <a:spAutoFit/>
          </a:bodyPr>
          <a:lstStyle/>
          <a:p>
            <a:pPr fontAlgn="ctr"/>
            <a:r>
              <a:rPr lang="en-IN" sz="2400" b="1" dirty="0">
                <a:latin typeface="Times New Roman" panose="02020603050405020304" pitchFamily="18" charset="0"/>
                <a:cs typeface="Times New Roman" panose="02020603050405020304" pitchFamily="18" charset="0"/>
              </a:rPr>
              <a:t>DASHBOARD FRONTEND (</a:t>
            </a:r>
            <a:r>
              <a:rPr lang="en-IN" sz="2400" dirty="0">
                <a:latin typeface="Times New Roman" panose="02020603050405020304" pitchFamily="18" charset="0"/>
                <a:cs typeface="Times New Roman" panose="02020603050405020304" pitchFamily="18" charset="0"/>
              </a:rPr>
              <a:t>dashboard.html</a:t>
            </a:r>
            <a:r>
              <a:rPr lang="en-IN"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MODULE - PSEUDOCODE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0749FA0-9218-0677-194A-602F593AE5D5}"/>
              </a:ext>
            </a:extLst>
          </p:cNvPr>
          <p:cNvSpPr txBox="1"/>
          <p:nvPr/>
        </p:nvSpPr>
        <p:spPr>
          <a:xfrm>
            <a:off x="412564" y="1289267"/>
            <a:ext cx="5837765" cy="5016758"/>
          </a:xfrm>
          <a:prstGeom prst="rect">
            <a:avLst/>
          </a:prstGeom>
          <a:noFill/>
        </p:spPr>
        <p:txBody>
          <a:bodyPr wrap="square">
            <a:spAutoFit/>
          </a:bodyPr>
          <a:lstStyle/>
          <a:p>
            <a:r>
              <a:rPr lang="en-IN" dirty="0"/>
              <a:t>MODULE </a:t>
            </a:r>
            <a:r>
              <a:rPr lang="en-IN" dirty="0" err="1"/>
              <a:t>Dashboard_Frontend</a:t>
            </a:r>
            <a:r>
              <a:rPr lang="en-IN" dirty="0"/>
              <a:t>:</a:t>
            </a:r>
          </a:p>
          <a:p>
            <a:endParaRPr lang="en-IN" dirty="0"/>
          </a:p>
          <a:p>
            <a:r>
              <a:rPr lang="en-IN" dirty="0"/>
              <a:t># 1. Establish Real-Time Link</a:t>
            </a:r>
          </a:p>
          <a:p>
            <a:r>
              <a:rPr lang="en-IN" dirty="0"/>
              <a:t>Socket = Connect(</a:t>
            </a:r>
            <a:r>
              <a:rPr lang="en-IN" dirty="0" err="1"/>
              <a:t>Backend_URL</a:t>
            </a:r>
            <a:r>
              <a:rPr lang="en-IN" dirty="0"/>
              <a:t>)</a:t>
            </a:r>
          </a:p>
          <a:p>
            <a:endParaRPr lang="en-IN" dirty="0"/>
          </a:p>
          <a:p>
            <a:r>
              <a:rPr lang="en-IN" dirty="0"/>
              <a:t># 2. Event Listeners</a:t>
            </a:r>
          </a:p>
          <a:p>
            <a:r>
              <a:rPr lang="en-IN" dirty="0" err="1"/>
              <a:t>Socket.On</a:t>
            </a:r>
            <a:r>
              <a:rPr lang="en-IN" dirty="0"/>
              <a:t>("</a:t>
            </a:r>
            <a:r>
              <a:rPr lang="en-IN" dirty="0" err="1"/>
              <a:t>update_data</a:t>
            </a:r>
            <a:r>
              <a:rPr lang="en-IN" dirty="0"/>
              <a:t>", (data) =&gt; {</a:t>
            </a:r>
          </a:p>
          <a:p>
            <a:r>
              <a:rPr lang="en-IN" dirty="0"/>
              <a:t># Update KPI Cards</a:t>
            </a:r>
          </a:p>
          <a:p>
            <a:r>
              <a:rPr lang="en-IN" dirty="0" err="1"/>
              <a:t>Update_DOM</a:t>
            </a:r>
            <a:r>
              <a:rPr lang="en-IN" dirty="0"/>
              <a:t>("</a:t>
            </a:r>
            <a:r>
              <a:rPr lang="en-IN" dirty="0" err="1"/>
              <a:t>confidence_val</a:t>
            </a:r>
            <a:r>
              <a:rPr lang="en-IN" dirty="0"/>
              <a:t>", </a:t>
            </a:r>
            <a:r>
              <a:rPr lang="en-IN" dirty="0" err="1"/>
              <a:t>data.ai_conf</a:t>
            </a:r>
            <a:r>
              <a:rPr lang="en-IN" dirty="0"/>
              <a:t>)</a:t>
            </a:r>
          </a:p>
          <a:p>
            <a:r>
              <a:rPr lang="en-IN" dirty="0" err="1"/>
              <a:t>Update_DOM</a:t>
            </a:r>
            <a:r>
              <a:rPr lang="en-IN" dirty="0"/>
              <a:t>("</a:t>
            </a:r>
            <a:r>
              <a:rPr lang="en-IN" dirty="0" err="1"/>
              <a:t>packet_count</a:t>
            </a:r>
            <a:r>
              <a:rPr lang="en-IN" dirty="0"/>
              <a:t>", </a:t>
            </a:r>
            <a:r>
              <a:rPr lang="en-IN" dirty="0" err="1"/>
              <a:t>data.total_pkts</a:t>
            </a:r>
            <a:r>
              <a:rPr lang="en-IN" dirty="0"/>
              <a:t>)</a:t>
            </a:r>
          </a:p>
          <a:p>
            <a:r>
              <a:rPr lang="en-IN" dirty="0"/>
              <a:t># Visualize Threat in Charts</a:t>
            </a:r>
          </a:p>
          <a:p>
            <a:r>
              <a:rPr lang="en-IN" dirty="0"/>
              <a:t>IF </a:t>
            </a:r>
            <a:r>
              <a:rPr lang="en-IN" dirty="0" err="1"/>
              <a:t>data.alert_type</a:t>
            </a:r>
            <a:r>
              <a:rPr lang="en-IN" dirty="0"/>
              <a:t> != "Safe":</a:t>
            </a:r>
          </a:p>
          <a:p>
            <a:r>
              <a:rPr lang="en-IN" dirty="0" err="1"/>
              <a:t>TimelineChart.Add_Bubble</a:t>
            </a:r>
            <a:r>
              <a:rPr lang="en-IN" dirty="0"/>
              <a:t>(</a:t>
            </a:r>
          </a:p>
          <a:p>
            <a:r>
              <a:rPr lang="en-IN" dirty="0"/>
              <a:t>time=</a:t>
            </a:r>
            <a:r>
              <a:rPr lang="en-IN" dirty="0" err="1"/>
              <a:t>data.timestamp</a:t>
            </a:r>
            <a:r>
              <a:rPr lang="en-IN" dirty="0"/>
              <a:t>,</a:t>
            </a:r>
          </a:p>
          <a:p>
            <a:r>
              <a:rPr lang="en-IN" dirty="0"/>
              <a:t>y=</a:t>
            </a:r>
            <a:r>
              <a:rPr lang="en-IN" dirty="0" err="1"/>
              <a:t>data.confidence</a:t>
            </a:r>
            <a:r>
              <a:rPr lang="en-IN" dirty="0"/>
              <a:t>,</a:t>
            </a:r>
          </a:p>
          <a:p>
            <a:r>
              <a:rPr lang="en-IN" dirty="0" err="1"/>
              <a:t>color</a:t>
            </a:r>
            <a:r>
              <a:rPr lang="en-IN" dirty="0"/>
              <a:t>=</a:t>
            </a:r>
            <a:r>
              <a:rPr lang="en-IN" dirty="0" err="1"/>
              <a:t>Get_Color_By_Type</a:t>
            </a:r>
            <a:r>
              <a:rPr lang="en-IN" dirty="0"/>
              <a:t>(</a:t>
            </a:r>
            <a:r>
              <a:rPr lang="en-IN" dirty="0" err="1"/>
              <a:t>data.alert_type</a:t>
            </a:r>
            <a:r>
              <a:rPr lang="en-IN" dirty="0"/>
              <a:t>)</a:t>
            </a:r>
          </a:p>
          <a:p>
            <a:r>
              <a:rPr lang="en-IN" dirty="0"/>
              <a:t>)</a:t>
            </a:r>
          </a:p>
          <a:p>
            <a:endParaRPr lang="en-IN" sz="1400" dirty="0"/>
          </a:p>
        </p:txBody>
      </p:sp>
      <p:sp>
        <p:nvSpPr>
          <p:cNvPr id="9" name="TextBox 8">
            <a:extLst>
              <a:ext uri="{FF2B5EF4-FFF2-40B4-BE49-F238E27FC236}">
                <a16:creationId xmlns:a16="http://schemas.microsoft.com/office/drawing/2014/main" id="{C7412E8B-ED71-6A9F-C28F-CA218648D89B}"/>
              </a:ext>
            </a:extLst>
          </p:cNvPr>
          <p:cNvSpPr txBox="1"/>
          <p:nvPr/>
        </p:nvSpPr>
        <p:spPr>
          <a:xfrm>
            <a:off x="6390640" y="1407592"/>
            <a:ext cx="5287196" cy="2585323"/>
          </a:xfrm>
          <a:prstGeom prst="rect">
            <a:avLst/>
          </a:prstGeom>
          <a:noFill/>
        </p:spPr>
        <p:txBody>
          <a:bodyPr wrap="square">
            <a:spAutoFit/>
          </a:bodyPr>
          <a:lstStyle/>
          <a:p>
            <a:r>
              <a:rPr lang="en-IN" dirty="0"/>
              <a:t># Animate Radar Chart (XAI)</a:t>
            </a:r>
          </a:p>
          <a:p>
            <a:r>
              <a:rPr lang="en-IN" dirty="0" err="1"/>
              <a:t>RadarChart.Update_Dataset</a:t>
            </a:r>
            <a:r>
              <a:rPr lang="en-IN" dirty="0"/>
              <a:t>(</a:t>
            </a:r>
            <a:r>
              <a:rPr lang="en-IN" dirty="0" err="1"/>
              <a:t>data.xai_scores</a:t>
            </a:r>
            <a:r>
              <a:rPr lang="en-IN" dirty="0"/>
              <a:t>)</a:t>
            </a:r>
          </a:p>
          <a:p>
            <a:r>
              <a:rPr lang="en-IN" dirty="0"/>
              <a:t># Add to Feed Panel</a:t>
            </a:r>
          </a:p>
          <a:p>
            <a:r>
              <a:rPr lang="en-IN" dirty="0" err="1"/>
              <a:t>Append_Log_Item</a:t>
            </a:r>
            <a:r>
              <a:rPr lang="en-IN" dirty="0"/>
              <a:t>(</a:t>
            </a:r>
            <a:r>
              <a:rPr lang="en-IN" dirty="0" err="1"/>
              <a:t>data.details</a:t>
            </a:r>
            <a:r>
              <a:rPr lang="en-IN" dirty="0"/>
              <a:t>, class="alert-</a:t>
            </a:r>
            <a:r>
              <a:rPr lang="en-IN" dirty="0" err="1"/>
              <a:t>anim</a:t>
            </a:r>
            <a:r>
              <a:rPr lang="en-IN" dirty="0"/>
              <a:t>")</a:t>
            </a:r>
          </a:p>
          <a:p>
            <a:r>
              <a:rPr lang="en-IN" dirty="0"/>
              <a:t>})</a:t>
            </a:r>
          </a:p>
          <a:p>
            <a:endParaRPr lang="en-IN" dirty="0"/>
          </a:p>
          <a:p>
            <a:r>
              <a:rPr lang="en-IN" dirty="0"/>
              <a:t>FUNCTION </a:t>
            </a:r>
            <a:r>
              <a:rPr lang="en-IN" dirty="0" err="1"/>
              <a:t>On_Threat_Click</a:t>
            </a:r>
            <a:r>
              <a:rPr lang="en-IN" dirty="0"/>
              <a:t>(</a:t>
            </a:r>
            <a:r>
              <a:rPr lang="en-IN" dirty="0" err="1"/>
              <a:t>threat_id</a:t>
            </a:r>
            <a:r>
              <a:rPr lang="en-IN" dirty="0"/>
              <a:t>):</a:t>
            </a:r>
          </a:p>
          <a:p>
            <a:r>
              <a:rPr lang="en-IN" dirty="0"/>
              <a:t># Show specific mitigation details</a:t>
            </a:r>
          </a:p>
          <a:p>
            <a:r>
              <a:rPr lang="en-IN" dirty="0" err="1"/>
              <a:t>Modal.Show</a:t>
            </a:r>
            <a:r>
              <a:rPr lang="en-IN" dirty="0"/>
              <a:t>(</a:t>
            </a:r>
            <a:r>
              <a:rPr lang="en-IN" dirty="0" err="1"/>
              <a:t>mitigation_steps</a:t>
            </a:r>
            <a:r>
              <a:rPr lang="en-IN" dirty="0"/>
              <a:t>[</a:t>
            </a:r>
            <a:r>
              <a:rPr lang="en-IN" dirty="0" err="1"/>
              <a:t>threat_id</a:t>
            </a:r>
            <a:r>
              <a:rPr lang="en-IN" dirty="0"/>
              <a:t>])</a:t>
            </a:r>
          </a:p>
        </p:txBody>
      </p:sp>
      <p:sp>
        <p:nvSpPr>
          <p:cNvPr id="10" name="TextBox 9">
            <a:extLst>
              <a:ext uri="{FF2B5EF4-FFF2-40B4-BE49-F238E27FC236}">
                <a16:creationId xmlns:a16="http://schemas.microsoft.com/office/drawing/2014/main" id="{E3F25030-4097-3777-D3CA-07A5523A3AE8}"/>
              </a:ext>
            </a:extLst>
          </p:cNvPr>
          <p:cNvSpPr txBox="1"/>
          <p:nvPr/>
        </p:nvSpPr>
        <p:spPr>
          <a:xfrm>
            <a:off x="6250329" y="4294208"/>
            <a:ext cx="5381624" cy="193899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"Finally, the Dashboard is the face of our system. We moved beyond simple logs to create a cinematic, interactive interface. It doesn't just show 'Alerts'; it visualizes the threat landscape, helping analysts understand the 'Why' and 'How' behind every detection instantly."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8417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79318-EB4C-3BFC-11B8-DFAEBB942D94}"/>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37AA2BE6-0BA7-9F6F-44C5-E2C9EF43785D}"/>
              </a:ext>
            </a:extLst>
          </p:cNvPr>
          <p:cNvCxnSpPr>
            <a:cxnSpLocks/>
          </p:cNvCxnSpPr>
          <p:nvPr/>
        </p:nvCxnSpPr>
        <p:spPr>
          <a:xfrm>
            <a:off x="412564" y="1121782"/>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077CF86E-ACB5-CDAC-004F-E116F1AE13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832" b="26729"/>
          <a:stretch>
            <a:fillRect/>
          </a:stretch>
        </p:blipFill>
        <p:spPr bwMode="auto">
          <a:xfrm>
            <a:off x="9414778" y="176319"/>
            <a:ext cx="2286000" cy="6605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5D161E4-9073-0352-A1E1-C61179F1B5BD}"/>
              </a:ext>
            </a:extLst>
          </p:cNvPr>
          <p:cNvSpPr txBox="1"/>
          <p:nvPr/>
        </p:nvSpPr>
        <p:spPr>
          <a:xfrm>
            <a:off x="412564" y="375204"/>
            <a:ext cx="9684737" cy="461665"/>
          </a:xfrm>
          <a:prstGeom prst="rect">
            <a:avLst/>
          </a:prstGeom>
          <a:noFill/>
        </p:spPr>
        <p:txBody>
          <a:bodyPr wrap="square" rtlCol="0">
            <a:spAutoFit/>
          </a:bodyPr>
          <a:lstStyle/>
          <a:p>
            <a:pPr fontAlgn="ctr"/>
            <a:r>
              <a:rPr lang="en-IN" sz="2400" b="1" dirty="0">
                <a:latin typeface="Times New Roman" panose="02020603050405020304" pitchFamily="18" charset="0"/>
                <a:cs typeface="Times New Roman" panose="02020603050405020304" pitchFamily="18" charset="0"/>
              </a:rPr>
              <a:t>DATABASE MANAGER (</a:t>
            </a:r>
            <a:r>
              <a:rPr lang="en-IN" sz="2400" dirty="0">
                <a:latin typeface="Times New Roman" panose="02020603050405020304" pitchFamily="18" charset="0"/>
                <a:cs typeface="Times New Roman" panose="02020603050405020304" pitchFamily="18" charset="0"/>
              </a:rPr>
              <a:t>database.py</a:t>
            </a:r>
            <a:r>
              <a:rPr lang="en-IN"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MODULE - PSEUDOCODE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4FEEB5E-AE8D-2F81-E50F-7A15DF3550F9}"/>
              </a:ext>
            </a:extLst>
          </p:cNvPr>
          <p:cNvSpPr txBox="1"/>
          <p:nvPr/>
        </p:nvSpPr>
        <p:spPr>
          <a:xfrm>
            <a:off x="501054" y="1406696"/>
            <a:ext cx="5594946" cy="2585323"/>
          </a:xfrm>
          <a:prstGeom prst="rect">
            <a:avLst/>
          </a:prstGeom>
          <a:noFill/>
        </p:spPr>
        <p:txBody>
          <a:bodyPr wrap="square">
            <a:spAutoFit/>
          </a:bodyPr>
          <a:lstStyle/>
          <a:p>
            <a:r>
              <a:rPr lang="en-IN" dirty="0"/>
              <a:t>CLASS Database:</a:t>
            </a:r>
          </a:p>
          <a:p>
            <a:r>
              <a:rPr lang="en-IN" dirty="0"/>
              <a:t>FUNCTION </a:t>
            </a:r>
            <a:r>
              <a:rPr lang="en-IN" dirty="0" err="1"/>
              <a:t>Save_Alert</a:t>
            </a:r>
            <a:r>
              <a:rPr lang="en-IN" dirty="0"/>
              <a:t>(</a:t>
            </a:r>
            <a:r>
              <a:rPr lang="en-IN" dirty="0" err="1"/>
              <a:t>alert_data</a:t>
            </a:r>
            <a:r>
              <a:rPr lang="en-IN" dirty="0"/>
              <a:t>):</a:t>
            </a:r>
          </a:p>
          <a:p>
            <a:r>
              <a:rPr lang="en-IN" dirty="0" err="1"/>
              <a:t>Lock_Thread</a:t>
            </a:r>
            <a:r>
              <a:rPr lang="en-IN" dirty="0"/>
              <a:t>() # Ensure data integrity</a:t>
            </a:r>
          </a:p>
          <a:p>
            <a:r>
              <a:rPr lang="en-IN" dirty="0"/>
              <a:t>SQL_INSERT("INSERT INTO alerts VALUES (?)", </a:t>
            </a:r>
            <a:r>
              <a:rPr lang="en-IN" dirty="0" err="1"/>
              <a:t>alert_data</a:t>
            </a:r>
            <a:r>
              <a:rPr lang="en-IN" dirty="0"/>
              <a:t>)</a:t>
            </a:r>
          </a:p>
          <a:p>
            <a:r>
              <a:rPr lang="en-IN" dirty="0" err="1"/>
              <a:t>Unlock_Thread</a:t>
            </a:r>
            <a:r>
              <a:rPr lang="en-IN" dirty="0"/>
              <a:t>()</a:t>
            </a:r>
          </a:p>
          <a:p>
            <a:r>
              <a:rPr lang="en-IN" dirty="0"/>
              <a:t>FUNCTION </a:t>
            </a:r>
            <a:r>
              <a:rPr lang="en-IN" dirty="0" err="1"/>
              <a:t>Get_Dashboard_Feed</a:t>
            </a:r>
            <a:r>
              <a:rPr lang="en-IN" dirty="0"/>
              <a:t>():</a:t>
            </a:r>
          </a:p>
          <a:p>
            <a:r>
              <a:rPr lang="en-IN" dirty="0"/>
              <a:t># Fetch latest alerts for the UI</a:t>
            </a:r>
          </a:p>
          <a:p>
            <a:r>
              <a:rPr lang="en-IN" dirty="0"/>
              <a:t>RETURN SQL_QUERY("SELECT * FROM alerts ORDER BY time DESC LIMIT 50")</a:t>
            </a:r>
          </a:p>
        </p:txBody>
      </p:sp>
      <p:sp>
        <p:nvSpPr>
          <p:cNvPr id="2" name="TextBox 1">
            <a:extLst>
              <a:ext uri="{FF2B5EF4-FFF2-40B4-BE49-F238E27FC236}">
                <a16:creationId xmlns:a16="http://schemas.microsoft.com/office/drawing/2014/main" id="{73CBA9D7-F0F4-9DEB-138B-9E8AA30CCF8C}"/>
              </a:ext>
            </a:extLst>
          </p:cNvPr>
          <p:cNvSpPr txBox="1"/>
          <p:nvPr/>
        </p:nvSpPr>
        <p:spPr>
          <a:xfrm>
            <a:off x="6724891" y="1504709"/>
            <a:ext cx="4768770" cy="193899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"Security is about history as much as the present. Our Database Manager ensures that no alert is ever lost, handling high-speed simultaneous writes and providing a complete audit trail for forensic investigation."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3623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C02F1-67EB-8E0E-572E-E8F26DE45ECF}"/>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61B539C-C0A6-DEC3-6021-C27F24B6975D}"/>
              </a:ext>
            </a:extLst>
          </p:cNvPr>
          <p:cNvCxnSpPr>
            <a:cxnSpLocks/>
          </p:cNvCxnSpPr>
          <p:nvPr/>
        </p:nvCxnSpPr>
        <p:spPr>
          <a:xfrm>
            <a:off x="412564" y="1121782"/>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58CF1C38-D0C3-4719-C5A3-4A6F6D9339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832" b="26729"/>
          <a:stretch>
            <a:fillRect/>
          </a:stretch>
        </p:blipFill>
        <p:spPr bwMode="auto">
          <a:xfrm>
            <a:off x="9414778" y="176319"/>
            <a:ext cx="2286000" cy="6605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8E90CA-AA7A-A1D6-6036-1C9BD2F55204}"/>
              </a:ext>
            </a:extLst>
          </p:cNvPr>
          <p:cNvSpPr txBox="1"/>
          <p:nvPr/>
        </p:nvSpPr>
        <p:spPr>
          <a:xfrm>
            <a:off x="412564" y="375204"/>
            <a:ext cx="9684737" cy="461665"/>
          </a:xfrm>
          <a:prstGeom prst="rect">
            <a:avLst/>
          </a:prstGeom>
          <a:noFill/>
        </p:spPr>
        <p:txBody>
          <a:bodyPr wrap="square" rtlCol="0">
            <a:spAutoFit/>
          </a:bodyPr>
          <a:lstStyle/>
          <a:p>
            <a:pPr fontAlgn="ctr"/>
            <a:r>
              <a:rPr lang="en-IN" sz="2400" b="1" dirty="0">
                <a:latin typeface="Times New Roman" panose="02020603050405020304" pitchFamily="18" charset="0"/>
                <a:cs typeface="Times New Roman" panose="02020603050405020304" pitchFamily="18" charset="0"/>
              </a:rPr>
              <a:t>DATABASE MANAGER (</a:t>
            </a:r>
            <a:r>
              <a:rPr lang="en-IN" sz="2400" dirty="0">
                <a:latin typeface="Times New Roman" panose="02020603050405020304" pitchFamily="18" charset="0"/>
                <a:cs typeface="Times New Roman" panose="02020603050405020304" pitchFamily="18" charset="0"/>
              </a:rPr>
              <a:t>database.py</a:t>
            </a:r>
            <a:r>
              <a:rPr lang="en-IN"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MODULE - PSEUDOCODE</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AC1E101-FA33-F56E-BDBF-0ACD75DA83C6}"/>
              </a:ext>
            </a:extLst>
          </p:cNvPr>
          <p:cNvSpPr txBox="1"/>
          <p:nvPr/>
        </p:nvSpPr>
        <p:spPr>
          <a:xfrm>
            <a:off x="501054" y="1406696"/>
            <a:ext cx="5594946" cy="2585323"/>
          </a:xfrm>
          <a:prstGeom prst="rect">
            <a:avLst/>
          </a:prstGeom>
          <a:noFill/>
        </p:spPr>
        <p:txBody>
          <a:bodyPr wrap="square">
            <a:spAutoFit/>
          </a:bodyPr>
          <a:lstStyle/>
          <a:p>
            <a:r>
              <a:rPr lang="en-IN" dirty="0"/>
              <a:t>CLASS Database:</a:t>
            </a:r>
          </a:p>
          <a:p>
            <a:r>
              <a:rPr lang="en-IN" dirty="0"/>
              <a:t>FUNCTION </a:t>
            </a:r>
            <a:r>
              <a:rPr lang="en-IN" dirty="0" err="1"/>
              <a:t>Save_Alert</a:t>
            </a:r>
            <a:r>
              <a:rPr lang="en-IN" dirty="0"/>
              <a:t>(</a:t>
            </a:r>
            <a:r>
              <a:rPr lang="en-IN" dirty="0" err="1"/>
              <a:t>alert_data</a:t>
            </a:r>
            <a:r>
              <a:rPr lang="en-IN" dirty="0"/>
              <a:t>):</a:t>
            </a:r>
          </a:p>
          <a:p>
            <a:r>
              <a:rPr lang="en-IN" dirty="0" err="1"/>
              <a:t>Lock_Thread</a:t>
            </a:r>
            <a:r>
              <a:rPr lang="en-IN" dirty="0"/>
              <a:t>() # Ensure data integrity</a:t>
            </a:r>
          </a:p>
          <a:p>
            <a:r>
              <a:rPr lang="en-IN" dirty="0"/>
              <a:t>SQL_INSERT("INSERT INTO alerts VALUES (?)", </a:t>
            </a:r>
            <a:r>
              <a:rPr lang="en-IN" dirty="0" err="1"/>
              <a:t>alert_data</a:t>
            </a:r>
            <a:r>
              <a:rPr lang="en-IN" dirty="0"/>
              <a:t>)</a:t>
            </a:r>
          </a:p>
          <a:p>
            <a:r>
              <a:rPr lang="en-IN" dirty="0" err="1"/>
              <a:t>Unlock_Thread</a:t>
            </a:r>
            <a:r>
              <a:rPr lang="en-IN" dirty="0"/>
              <a:t>()</a:t>
            </a:r>
          </a:p>
          <a:p>
            <a:r>
              <a:rPr lang="en-IN" dirty="0"/>
              <a:t>FUNCTION </a:t>
            </a:r>
            <a:r>
              <a:rPr lang="en-IN" dirty="0" err="1"/>
              <a:t>Get_Dashboard_Feed</a:t>
            </a:r>
            <a:r>
              <a:rPr lang="en-IN" dirty="0"/>
              <a:t>():</a:t>
            </a:r>
          </a:p>
          <a:p>
            <a:r>
              <a:rPr lang="en-IN" dirty="0"/>
              <a:t># Fetch latest alerts for the UI</a:t>
            </a:r>
          </a:p>
          <a:p>
            <a:r>
              <a:rPr lang="en-IN" dirty="0"/>
              <a:t>RETURN SQL_QUERY("SELECT * FROM alerts ORDER BY time DESC LIMIT 50")</a:t>
            </a:r>
          </a:p>
        </p:txBody>
      </p:sp>
      <p:sp>
        <p:nvSpPr>
          <p:cNvPr id="2" name="TextBox 1">
            <a:extLst>
              <a:ext uri="{FF2B5EF4-FFF2-40B4-BE49-F238E27FC236}">
                <a16:creationId xmlns:a16="http://schemas.microsoft.com/office/drawing/2014/main" id="{CEB6D4C5-3B4F-CB75-2E27-B3C170FD98A2}"/>
              </a:ext>
            </a:extLst>
          </p:cNvPr>
          <p:cNvSpPr txBox="1"/>
          <p:nvPr/>
        </p:nvSpPr>
        <p:spPr>
          <a:xfrm>
            <a:off x="6724891" y="1504709"/>
            <a:ext cx="4768770" cy="193899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"Security is about history as much as the present. Our Database Manager ensures that no alert is ever lost, handling high-speed simultaneous writes and providing a complete audit trail for forensic investigation."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454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3873EF0-C20C-A52F-981F-B270CF24BDF5}"/>
              </a:ext>
            </a:extLst>
          </p:cNvPr>
          <p:cNvCxnSpPr>
            <a:cxnSpLocks/>
          </p:cNvCxnSpPr>
          <p:nvPr/>
        </p:nvCxnSpPr>
        <p:spPr>
          <a:xfrm>
            <a:off x="501054" y="1184736"/>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2D56C5A6-B2B8-9A28-9D15-8BF7FB64EA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3264" y="137651"/>
            <a:ext cx="1917681" cy="8750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00CC0C1-3E2C-6C80-0CB9-E1B2C38B5F0A}"/>
              </a:ext>
            </a:extLst>
          </p:cNvPr>
          <p:cNvSpPr txBox="1"/>
          <p:nvPr/>
        </p:nvSpPr>
        <p:spPr>
          <a:xfrm>
            <a:off x="437515" y="527585"/>
            <a:ext cx="349043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Implementation Status </a:t>
            </a:r>
          </a:p>
        </p:txBody>
      </p:sp>
      <p:sp>
        <p:nvSpPr>
          <p:cNvPr id="2" name="Content Placeholder 1">
            <a:extLst>
              <a:ext uri="{FF2B5EF4-FFF2-40B4-BE49-F238E27FC236}">
                <a16:creationId xmlns:a16="http://schemas.microsoft.com/office/drawing/2014/main" id="{A8083737-6E86-FBDE-D34F-DA3263374D2C}"/>
              </a:ext>
            </a:extLst>
          </p:cNvPr>
          <p:cNvSpPr>
            <a:spLocks noGrp="1" noChangeArrowheads="1"/>
          </p:cNvSpPr>
          <p:nvPr>
            <p:ph idx="1"/>
          </p:nvPr>
        </p:nvSpPr>
        <p:spPr bwMode="auto">
          <a:xfrm>
            <a:off x="501054" y="1208208"/>
            <a:ext cx="11316969" cy="6856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600" b="1" dirty="0">
                <a:latin typeface="Times New Roman" panose="02020603050405020304" pitchFamily="18" charset="0"/>
                <a:cs typeface="Times New Roman" panose="02020603050405020304" pitchFamily="18" charset="0"/>
              </a:rPr>
              <a:t> 1: Foundation &amp; Research.</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Extensive Literature Survey and Domain Analysis (Submitted).</a:t>
            </a:r>
          </a:p>
          <a:p>
            <a:pPr lvl="1"/>
            <a:r>
              <a:rPr lang="en-US" sz="1600" dirty="0">
                <a:latin typeface="Times New Roman" panose="02020603050405020304" pitchFamily="18" charset="0"/>
                <a:cs typeface="Times New Roman" panose="02020603050405020304" pitchFamily="18" charset="0"/>
              </a:rPr>
              <a:t>Finalized project architecture and core module design.</a:t>
            </a:r>
          </a:p>
          <a:p>
            <a:pPr lvl="1"/>
            <a:r>
              <a:rPr lang="en-US" sz="1600" dirty="0">
                <a:latin typeface="Times New Roman" panose="02020603050405020304" pitchFamily="18" charset="0"/>
                <a:cs typeface="Times New Roman" panose="02020603050405020304" pitchFamily="18" charset="0"/>
              </a:rPr>
              <a:t>Defined functional and non-functional requirements.</a:t>
            </a:r>
          </a:p>
          <a:p>
            <a:pPr lvl="1"/>
            <a:r>
              <a:rPr lang="en-US" sz="1600" dirty="0">
                <a:latin typeface="Times New Roman" panose="02020603050405020304" pitchFamily="18" charset="0"/>
                <a:cs typeface="Times New Roman" panose="02020603050405020304" pitchFamily="18" charset="0"/>
              </a:rPr>
              <a:t>Set up development environments (Python backend).</a:t>
            </a:r>
          </a:p>
          <a:p>
            <a:pPr marL="457200" lvl="1" indent="0">
              <a:buNone/>
            </a:pPr>
            <a:endParaRPr lang="en-US" sz="1600" dirty="0">
              <a:latin typeface="Times New Roman" panose="02020603050405020304" pitchFamily="18" charset="0"/>
              <a:cs typeface="Times New Roman" panose="02020603050405020304" pitchFamily="18" charset="0"/>
            </a:endParaRPr>
          </a:p>
          <a:p>
            <a:pPr marL="457200" lvl="1" indent="0">
              <a:buNone/>
            </a:pPr>
            <a:endParaRPr lang="en-US" sz="1600" dirty="0">
              <a:latin typeface="Times New Roman" panose="02020603050405020304" pitchFamily="18" charset="0"/>
              <a:cs typeface="Times New Roman" panose="02020603050405020304" pitchFamily="18" charset="0"/>
            </a:endParaRPr>
          </a:p>
          <a:p>
            <a:pPr marL="457200"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2: Core Functionalities.</a:t>
            </a:r>
          </a:p>
          <a:p>
            <a:pPr>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Backend Core &amp; Analysis Engine (app.py) </a:t>
            </a:r>
          </a:p>
          <a:p>
            <a:r>
              <a:rPr lang="en-IN" sz="1600" b="1" dirty="0">
                <a:latin typeface="Times New Roman" panose="02020603050405020304" pitchFamily="18" charset="0"/>
                <a:cs typeface="Times New Roman" panose="02020603050405020304" pitchFamily="18" charset="0"/>
              </a:rPr>
              <a:t>Status:</a:t>
            </a:r>
            <a:r>
              <a:rPr lang="en-IN" sz="1600" dirty="0">
                <a:latin typeface="Times New Roman" panose="02020603050405020304" pitchFamily="18" charset="0"/>
                <a:cs typeface="Times New Roman" panose="02020603050405020304" pitchFamily="18" charset="0"/>
              </a:rPr>
              <a:t> Complete.</a:t>
            </a:r>
          </a:p>
          <a:p>
            <a:r>
              <a:rPr lang="en-IN" sz="1600" b="1" dirty="0">
                <a:latin typeface="Times New Roman" panose="02020603050405020304" pitchFamily="18" charset="0"/>
                <a:cs typeface="Times New Roman" panose="02020603050405020304" pitchFamily="18" charset="0"/>
              </a:rPr>
              <a:t>Features:</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Flask Server &amp; API </a:t>
            </a:r>
            <a:r>
              <a:rPr lang="en-IN" sz="1600" dirty="0" err="1">
                <a:latin typeface="Times New Roman" panose="02020603050405020304" pitchFamily="18" charset="0"/>
                <a:cs typeface="Times New Roman" panose="02020603050405020304" pitchFamily="18" charset="0"/>
              </a:rPr>
              <a:t>Enpoints</a:t>
            </a:r>
            <a:r>
              <a:rPr lang="en-IN" sz="1600" dirty="0">
                <a:latin typeface="Times New Roman" panose="02020603050405020304" pitchFamily="18" charset="0"/>
                <a:cs typeface="Times New Roman" panose="02020603050405020304" pitchFamily="18" charset="0"/>
              </a:rPr>
              <a:t> active.</a:t>
            </a:r>
          </a:p>
          <a:p>
            <a:pPr lvl="1"/>
            <a:r>
              <a:rPr lang="en-IN" sz="1600" dirty="0">
                <a:latin typeface="Times New Roman" panose="02020603050405020304" pitchFamily="18" charset="0"/>
                <a:cs typeface="Times New Roman" panose="02020603050405020304" pitchFamily="18" charset="0"/>
              </a:rPr>
              <a:t>WebSocket (Socket.IO) real-time link established.</a:t>
            </a:r>
          </a:p>
          <a:p>
            <a:pPr lvl="1"/>
            <a:r>
              <a:rPr lang="en-IN" sz="1600" dirty="0">
                <a:latin typeface="Times New Roman" panose="02020603050405020304" pitchFamily="18" charset="0"/>
                <a:cs typeface="Times New Roman" panose="02020603050405020304" pitchFamily="18" charset="0"/>
              </a:rPr>
              <a:t>Hybrid AI Logic (Random Forest + Autoencoder) fully integrated.</a:t>
            </a:r>
          </a:p>
          <a:p>
            <a:pPr lvl="1"/>
            <a:r>
              <a:rPr lang="en-IN" sz="1600" dirty="0">
                <a:latin typeface="Times New Roman" panose="02020603050405020304" pitchFamily="18" charset="0"/>
                <a:cs typeface="Times New Roman" panose="02020603050405020304" pitchFamily="18" charset="0"/>
              </a:rPr>
              <a:t>Active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(Firewall/Quarantine) logic verified (simulated mode).</a:t>
            </a:r>
          </a:p>
          <a:p>
            <a:pPr marL="457200" lvl="1" indent="0">
              <a:buNone/>
            </a:pPr>
            <a:endParaRPr lang="en-IN" sz="1600" dirty="0">
              <a:latin typeface="Times New Roman" panose="02020603050405020304" pitchFamily="18" charset="0"/>
              <a:cs typeface="Times New Roman" panose="02020603050405020304" pitchFamily="18" charset="0"/>
            </a:endParaRPr>
          </a:p>
          <a:p>
            <a:pPr marL="457200" lvl="1" indent="0">
              <a:buNone/>
            </a:pPr>
            <a:endParaRPr lang="en-US" alt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marL="914400" lvl="2" indent="0">
              <a:buNone/>
            </a:pPr>
            <a:endParaRPr lang="en-US" sz="1600" dirty="0">
              <a:latin typeface="Times New Roman" panose="02020603050405020304" pitchFamily="18" charset="0"/>
              <a:cs typeface="Times New Roman" panose="02020603050405020304" pitchFamily="18" charset="0"/>
            </a:endParaRPr>
          </a:p>
          <a:p>
            <a:pPr lvl="2"/>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7583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3581B-7FF1-C293-3BF6-99CD7CD52C50}"/>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336FE7D-261C-0FF3-F8BD-89B84E86FA7B}"/>
              </a:ext>
            </a:extLst>
          </p:cNvPr>
          <p:cNvCxnSpPr>
            <a:cxnSpLocks/>
          </p:cNvCxnSpPr>
          <p:nvPr/>
        </p:nvCxnSpPr>
        <p:spPr>
          <a:xfrm>
            <a:off x="501054" y="1184736"/>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AD1BDC50-0215-8C72-AA51-F03AE9382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3264" y="137651"/>
            <a:ext cx="1917681" cy="8750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A922885-9BA4-BD55-7C2F-1F7AEA4B893B}"/>
              </a:ext>
            </a:extLst>
          </p:cNvPr>
          <p:cNvSpPr txBox="1"/>
          <p:nvPr/>
        </p:nvSpPr>
        <p:spPr>
          <a:xfrm>
            <a:off x="437515" y="527585"/>
            <a:ext cx="349043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Implementation Status </a:t>
            </a:r>
          </a:p>
        </p:txBody>
      </p:sp>
      <p:sp>
        <p:nvSpPr>
          <p:cNvPr id="2" name="Content Placeholder 1">
            <a:extLst>
              <a:ext uri="{FF2B5EF4-FFF2-40B4-BE49-F238E27FC236}">
                <a16:creationId xmlns:a16="http://schemas.microsoft.com/office/drawing/2014/main" id="{27DD7316-0E3D-11EB-8DD7-E720F0368D51}"/>
              </a:ext>
            </a:extLst>
          </p:cNvPr>
          <p:cNvSpPr>
            <a:spLocks noGrp="1" noChangeArrowheads="1"/>
          </p:cNvSpPr>
          <p:nvPr>
            <p:ph idx="1"/>
          </p:nvPr>
        </p:nvSpPr>
        <p:spPr bwMode="auto">
          <a:xfrm>
            <a:off x="501054" y="1380223"/>
            <a:ext cx="10993120" cy="584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buFont typeface="Wingdings" panose="05000000000000000000" pitchFamily="2" charset="2"/>
              <a:buChar char="v"/>
            </a:pPr>
            <a:r>
              <a:rPr lang="en-US" sz="1600" b="1" dirty="0">
                <a:latin typeface="Times New Roman" panose="02020603050405020304" pitchFamily="18" charset="0"/>
                <a:cs typeface="Times New Roman" panose="02020603050405020304" pitchFamily="18" charset="0"/>
              </a:rPr>
              <a:t>Intelligence Gathering (sniffer.py &amp; feature_extraction.py) .</a:t>
            </a:r>
          </a:p>
          <a:p>
            <a:r>
              <a:rPr lang="en-US" sz="1600" b="1" dirty="0">
                <a:latin typeface="Times New Roman" panose="02020603050405020304" pitchFamily="18" charset="0"/>
                <a:cs typeface="Times New Roman" panose="02020603050405020304" pitchFamily="18" charset="0"/>
              </a:rPr>
              <a:t>Status:</a:t>
            </a:r>
            <a:r>
              <a:rPr lang="en-US" sz="1600" dirty="0">
                <a:latin typeface="Times New Roman" panose="02020603050405020304" pitchFamily="18" charset="0"/>
                <a:cs typeface="Times New Roman" panose="02020603050405020304" pitchFamily="18" charset="0"/>
              </a:rPr>
              <a:t> Functional Prototype.</a:t>
            </a:r>
          </a:p>
          <a:p>
            <a:r>
              <a:rPr lang="en-US" sz="1600" b="1" dirty="0">
                <a:latin typeface="Times New Roman" panose="02020603050405020304" pitchFamily="18" charset="0"/>
                <a:cs typeface="Times New Roman" panose="02020603050405020304" pitchFamily="18" charset="0"/>
              </a:rPr>
              <a:t>Features:</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Real-time packet capture via </a:t>
            </a:r>
            <a:r>
              <a:rPr lang="en-US" sz="1600" dirty="0" err="1">
                <a:latin typeface="Times New Roman" panose="02020603050405020304" pitchFamily="18" charset="0"/>
                <a:cs typeface="Times New Roman" panose="02020603050405020304" pitchFamily="18" charset="0"/>
              </a:rPr>
              <a:t>Scapy</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Feature vectorization of 40 CICIDS2017 features.</a:t>
            </a:r>
          </a:p>
          <a:p>
            <a:pPr lvl="1"/>
            <a:r>
              <a:rPr lang="en-US" sz="1600" b="1" dirty="0">
                <a:latin typeface="Times New Roman" panose="02020603050405020304" pitchFamily="18" charset="0"/>
                <a:cs typeface="Times New Roman" panose="02020603050405020304" pitchFamily="18" charset="0"/>
              </a:rPr>
              <a:t>Note:</a:t>
            </a:r>
            <a:r>
              <a:rPr lang="en-US" sz="1600" dirty="0">
                <a:latin typeface="Times New Roman" panose="02020603050405020304" pitchFamily="18" charset="0"/>
                <a:cs typeface="Times New Roman" panose="02020603050405020304" pitchFamily="18" charset="0"/>
              </a:rPr>
              <a:t> Uses heuristic estimation for complex "Flow" features to ensure checking speed for the prototype.</a:t>
            </a:r>
          </a:p>
          <a:p>
            <a:pPr marL="0" indent="0" fontAlgn="ctr">
              <a:buNone/>
            </a:pPr>
            <a:endParaRPr lang="en-US" sz="1600"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AI Model Pipeline (train_model.py) .</a:t>
            </a:r>
          </a:p>
          <a:p>
            <a:r>
              <a:rPr lang="en-IN" sz="1600" b="1" dirty="0">
                <a:latin typeface="Times New Roman" panose="02020603050405020304" pitchFamily="18" charset="0"/>
                <a:cs typeface="Times New Roman" panose="02020603050405020304" pitchFamily="18" charset="0"/>
              </a:rPr>
              <a:t>Status:</a:t>
            </a:r>
            <a:r>
              <a:rPr lang="en-IN" sz="1600" dirty="0">
                <a:latin typeface="Times New Roman" panose="02020603050405020304" pitchFamily="18" charset="0"/>
                <a:cs typeface="Times New Roman" panose="02020603050405020304" pitchFamily="18" charset="0"/>
              </a:rPr>
              <a:t> Complete.</a:t>
            </a:r>
          </a:p>
          <a:p>
            <a:r>
              <a:rPr lang="en-IN" sz="1600" b="1" dirty="0">
                <a:latin typeface="Times New Roman" panose="02020603050405020304" pitchFamily="18" charset="0"/>
                <a:cs typeface="Times New Roman" panose="02020603050405020304" pitchFamily="18" charset="0"/>
              </a:rPr>
              <a:t>Features:</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Scripts to process CICIDS2017 data and train/save all 3 models (RF, AE, CNN-LSTM).</a:t>
            </a:r>
          </a:p>
          <a:p>
            <a:pPr marL="457200" lvl="1" indent="0">
              <a:buNone/>
            </a:pPr>
            <a:endParaRPr lang="en-US" sz="1600" dirty="0">
              <a:latin typeface="Times New Roman" panose="02020603050405020304" pitchFamily="18" charset="0"/>
              <a:cs typeface="Times New Roman" panose="02020603050405020304" pitchFamily="18" charset="0"/>
            </a:endParaRPr>
          </a:p>
          <a:p>
            <a:pPr marL="457200" lvl="1" indent="0">
              <a:buNone/>
            </a:pPr>
            <a:endParaRPr lang="en-IN" sz="1600" dirty="0">
              <a:latin typeface="Times New Roman" panose="02020603050405020304" pitchFamily="18" charset="0"/>
              <a:cs typeface="Times New Roman" panose="02020603050405020304" pitchFamily="18" charset="0"/>
            </a:endParaRPr>
          </a:p>
          <a:p>
            <a:pPr marL="457200" lvl="1" indent="0">
              <a:buNone/>
            </a:pPr>
            <a:endParaRPr lang="en-US" alt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marL="914400" lvl="2" indent="0">
              <a:buNone/>
            </a:pPr>
            <a:endParaRPr lang="en-US" sz="1600" dirty="0">
              <a:latin typeface="Times New Roman" panose="02020603050405020304" pitchFamily="18" charset="0"/>
              <a:cs typeface="Times New Roman" panose="02020603050405020304" pitchFamily="18" charset="0"/>
            </a:endParaRPr>
          </a:p>
          <a:p>
            <a:pPr lvl="2"/>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277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0DB88-E190-6AC7-511F-41C19A3BD253}"/>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BB12967-936E-6567-4948-60493548200A}"/>
              </a:ext>
            </a:extLst>
          </p:cNvPr>
          <p:cNvCxnSpPr>
            <a:cxnSpLocks/>
          </p:cNvCxnSpPr>
          <p:nvPr/>
        </p:nvCxnSpPr>
        <p:spPr>
          <a:xfrm>
            <a:off x="501054" y="1184736"/>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AE6682D5-7B0A-AE13-C52B-636C30C9C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3264" y="137651"/>
            <a:ext cx="1917681" cy="8750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4D8B127-822C-D092-8D01-08B399076C46}"/>
              </a:ext>
            </a:extLst>
          </p:cNvPr>
          <p:cNvSpPr txBox="1"/>
          <p:nvPr/>
        </p:nvSpPr>
        <p:spPr>
          <a:xfrm>
            <a:off x="437515" y="527585"/>
            <a:ext cx="349043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Implementation Status </a:t>
            </a:r>
          </a:p>
        </p:txBody>
      </p:sp>
      <p:sp>
        <p:nvSpPr>
          <p:cNvPr id="2" name="Content Placeholder 1">
            <a:extLst>
              <a:ext uri="{FF2B5EF4-FFF2-40B4-BE49-F238E27FC236}">
                <a16:creationId xmlns:a16="http://schemas.microsoft.com/office/drawing/2014/main" id="{AD38F5BF-3A34-2F87-CA9A-AFD756DBFB5C}"/>
              </a:ext>
            </a:extLst>
          </p:cNvPr>
          <p:cNvSpPr>
            <a:spLocks noGrp="1" noChangeArrowheads="1"/>
          </p:cNvSpPr>
          <p:nvPr>
            <p:ph idx="1"/>
          </p:nvPr>
        </p:nvSpPr>
        <p:spPr bwMode="auto">
          <a:xfrm>
            <a:off x="501054" y="1356751"/>
            <a:ext cx="10993120" cy="663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 Frontend Dashboard (dashboard.html) </a:t>
            </a:r>
          </a:p>
          <a:p>
            <a:r>
              <a:rPr lang="en-IN" sz="1600" b="1" dirty="0">
                <a:latin typeface="Times New Roman" panose="02020603050405020304" pitchFamily="18" charset="0"/>
                <a:cs typeface="Times New Roman" panose="02020603050405020304" pitchFamily="18" charset="0"/>
              </a:rPr>
              <a:t>Status:</a:t>
            </a:r>
            <a:r>
              <a:rPr lang="en-IN" sz="1600" dirty="0">
                <a:latin typeface="Times New Roman" panose="02020603050405020304" pitchFamily="18" charset="0"/>
                <a:cs typeface="Times New Roman" panose="02020603050405020304" pitchFamily="18" charset="0"/>
              </a:rPr>
              <a:t> Complete.</a:t>
            </a:r>
          </a:p>
          <a:p>
            <a:r>
              <a:rPr lang="en-IN" sz="1600" b="1" dirty="0">
                <a:latin typeface="Times New Roman" panose="02020603050405020304" pitchFamily="18" charset="0"/>
                <a:cs typeface="Times New Roman" panose="02020603050405020304" pitchFamily="18" charset="0"/>
              </a:rPr>
              <a:t>Features:</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Glassmorphism</a:t>
            </a:r>
            <a:r>
              <a:rPr lang="en-IN" sz="1600" dirty="0">
                <a:latin typeface="Times New Roman" panose="02020603050405020304" pitchFamily="18" charset="0"/>
                <a:cs typeface="Times New Roman" panose="02020603050405020304" pitchFamily="18" charset="0"/>
              </a:rPr>
              <a:t>" UI design implemented.</a:t>
            </a:r>
          </a:p>
          <a:p>
            <a:pPr lvl="1"/>
            <a:r>
              <a:rPr lang="en-IN" sz="1600" dirty="0">
                <a:latin typeface="Times New Roman" panose="02020603050405020304" pitchFamily="18" charset="0"/>
                <a:cs typeface="Times New Roman" panose="02020603050405020304" pitchFamily="18" charset="0"/>
              </a:rPr>
              <a:t>Real-time charts (Bubble Timeline, XAI Radar, Traffic Line) active.</a:t>
            </a:r>
          </a:p>
          <a:p>
            <a:pPr lvl="1"/>
            <a:r>
              <a:rPr lang="en-IN" sz="1600" dirty="0">
                <a:latin typeface="Times New Roman" panose="02020603050405020304" pitchFamily="18" charset="0"/>
                <a:cs typeface="Times New Roman" panose="02020603050405020304" pitchFamily="18" charset="0"/>
              </a:rPr>
              <a:t>Live Feed with visual indicators (Glitch effects) working.</a:t>
            </a:r>
          </a:p>
          <a:p>
            <a:pPr lvl="1"/>
            <a:r>
              <a:rPr lang="en-IN" sz="1600" dirty="0">
                <a:latin typeface="Times New Roman" panose="02020603050405020304" pitchFamily="18" charset="0"/>
                <a:cs typeface="Times New Roman" panose="02020603050405020304" pitchFamily="18" charset="0"/>
              </a:rPr>
              <a:t>Responsive and interactive.</a:t>
            </a:r>
          </a:p>
          <a:p>
            <a:pPr marL="457200" lvl="1" indent="0">
              <a:buNone/>
            </a:pPr>
            <a:endParaRPr lang="en-US" sz="1600"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v"/>
            </a:pPr>
            <a:r>
              <a:rPr lang="en-US" sz="1600" b="1" dirty="0">
                <a:latin typeface="Times New Roman" panose="02020603050405020304" pitchFamily="18" charset="0"/>
                <a:cs typeface="Times New Roman" panose="02020603050405020304" pitchFamily="18" charset="0"/>
              </a:rPr>
              <a:t> Data Persistence Layer (database.py) .</a:t>
            </a:r>
          </a:p>
          <a:p>
            <a:r>
              <a:rPr lang="en-US" sz="1600" b="1" dirty="0">
                <a:latin typeface="Times New Roman" panose="02020603050405020304" pitchFamily="18" charset="0"/>
                <a:cs typeface="Times New Roman" panose="02020603050405020304" pitchFamily="18" charset="0"/>
              </a:rPr>
              <a:t>Status:</a:t>
            </a:r>
            <a:r>
              <a:rPr lang="en-US" sz="1600" dirty="0">
                <a:latin typeface="Times New Roman" panose="02020603050405020304" pitchFamily="18" charset="0"/>
                <a:cs typeface="Times New Roman" panose="02020603050405020304" pitchFamily="18" charset="0"/>
              </a:rPr>
              <a:t> Complete.</a:t>
            </a:r>
          </a:p>
          <a:p>
            <a:r>
              <a:rPr lang="en-US" sz="1600" b="1" dirty="0">
                <a:latin typeface="Times New Roman" panose="02020603050405020304" pitchFamily="18" charset="0"/>
                <a:cs typeface="Times New Roman" panose="02020603050405020304" pitchFamily="18" charset="0"/>
              </a:rPr>
              <a:t>Features:</a:t>
            </a:r>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MySQL connection handling with thread safety.</a:t>
            </a:r>
          </a:p>
          <a:p>
            <a:pPr lvl="1"/>
            <a:r>
              <a:rPr lang="en-US" sz="1600" dirty="0">
                <a:latin typeface="Times New Roman" panose="02020603050405020304" pitchFamily="18" charset="0"/>
                <a:cs typeface="Times New Roman" panose="02020603050405020304" pitchFamily="18" charset="0"/>
              </a:rPr>
              <a:t>Automatic table initialization.</a:t>
            </a:r>
          </a:p>
          <a:p>
            <a:pPr lvl="1"/>
            <a:r>
              <a:rPr lang="en-US" sz="1600" dirty="0">
                <a:latin typeface="Times New Roman" panose="02020603050405020304" pitchFamily="18" charset="0"/>
                <a:cs typeface="Times New Roman" panose="02020603050405020304" pitchFamily="18" charset="0"/>
              </a:rPr>
              <a:t>Session reset capability (Clear DB on startup) working.</a:t>
            </a:r>
          </a:p>
          <a:p>
            <a:pPr marL="457200" lvl="1" indent="0">
              <a:buNone/>
            </a:pPr>
            <a:endParaRPr lang="en-US" sz="1600" dirty="0">
              <a:latin typeface="Times New Roman" panose="02020603050405020304" pitchFamily="18" charset="0"/>
              <a:cs typeface="Times New Roman" panose="02020603050405020304" pitchFamily="18" charset="0"/>
            </a:endParaRPr>
          </a:p>
          <a:p>
            <a:pPr marL="457200" lvl="1" indent="0">
              <a:buNone/>
            </a:pPr>
            <a:endParaRPr lang="en-IN" sz="1600" dirty="0">
              <a:latin typeface="Times New Roman" panose="02020603050405020304" pitchFamily="18" charset="0"/>
              <a:cs typeface="Times New Roman" panose="02020603050405020304" pitchFamily="18" charset="0"/>
            </a:endParaRPr>
          </a:p>
          <a:p>
            <a:pPr marL="457200" lvl="1" indent="0">
              <a:buNone/>
            </a:pPr>
            <a:endParaRPr lang="en-US" alt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marL="914400" lvl="2" indent="0">
              <a:buNone/>
            </a:pPr>
            <a:endParaRPr lang="en-US" sz="1600" dirty="0">
              <a:latin typeface="Times New Roman" panose="02020603050405020304" pitchFamily="18" charset="0"/>
              <a:cs typeface="Times New Roman" panose="02020603050405020304" pitchFamily="18" charset="0"/>
            </a:endParaRPr>
          </a:p>
          <a:p>
            <a:pPr lvl="2"/>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6238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67807-CB6F-BD27-B998-61547733A333}"/>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B1A560C-5CA1-2E82-FA74-9FF1F916D229}"/>
              </a:ext>
            </a:extLst>
          </p:cNvPr>
          <p:cNvCxnSpPr>
            <a:cxnSpLocks/>
          </p:cNvCxnSpPr>
          <p:nvPr/>
        </p:nvCxnSpPr>
        <p:spPr>
          <a:xfrm>
            <a:off x="501054" y="1184736"/>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4FAAB2F1-BE48-4F3D-39B9-B8DA7A825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3264" y="137651"/>
            <a:ext cx="1917681" cy="87507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241DED8-11E3-8D6F-C878-C843DFC1B744}"/>
              </a:ext>
            </a:extLst>
          </p:cNvPr>
          <p:cNvSpPr txBox="1"/>
          <p:nvPr/>
        </p:nvSpPr>
        <p:spPr>
          <a:xfrm>
            <a:off x="437515" y="527585"/>
            <a:ext cx="349043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Implementation Status </a:t>
            </a:r>
          </a:p>
        </p:txBody>
      </p:sp>
      <p:sp>
        <p:nvSpPr>
          <p:cNvPr id="2" name="Content Placeholder 1">
            <a:extLst>
              <a:ext uri="{FF2B5EF4-FFF2-40B4-BE49-F238E27FC236}">
                <a16:creationId xmlns:a16="http://schemas.microsoft.com/office/drawing/2014/main" id="{190707EE-5CA0-7973-8C54-47159E7AA11F}"/>
              </a:ext>
            </a:extLst>
          </p:cNvPr>
          <p:cNvSpPr>
            <a:spLocks noGrp="1" noChangeArrowheads="1"/>
          </p:cNvSpPr>
          <p:nvPr>
            <p:ph idx="1"/>
          </p:nvPr>
        </p:nvSpPr>
        <p:spPr bwMode="auto">
          <a:xfrm>
            <a:off x="501054" y="1338043"/>
            <a:ext cx="10993120" cy="639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Testing &amp; Validation (attack_simulation.py) </a:t>
            </a:r>
          </a:p>
          <a:p>
            <a:r>
              <a:rPr lang="en-IN" sz="1600" b="1" dirty="0">
                <a:latin typeface="Times New Roman" panose="02020603050405020304" pitchFamily="18" charset="0"/>
                <a:cs typeface="Times New Roman" panose="02020603050405020304" pitchFamily="18" charset="0"/>
              </a:rPr>
              <a:t>Status:</a:t>
            </a:r>
            <a:r>
              <a:rPr lang="en-IN" sz="1600" dirty="0">
                <a:latin typeface="Times New Roman" panose="02020603050405020304" pitchFamily="18" charset="0"/>
                <a:cs typeface="Times New Roman" panose="02020603050405020304" pitchFamily="18" charset="0"/>
              </a:rPr>
              <a:t> Complete.</a:t>
            </a:r>
          </a:p>
          <a:p>
            <a:r>
              <a:rPr lang="en-IN" sz="1600" b="1" dirty="0">
                <a:latin typeface="Times New Roman" panose="02020603050405020304" pitchFamily="18" charset="0"/>
                <a:cs typeface="Times New Roman" panose="02020603050405020304" pitchFamily="18" charset="0"/>
              </a:rPr>
              <a:t>Features:</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Generates 6 distinct attack vectors (DoS, </a:t>
            </a:r>
            <a:r>
              <a:rPr lang="en-IN" sz="1600" dirty="0" err="1">
                <a:latin typeface="Times New Roman" panose="02020603050405020304" pitchFamily="18" charset="0"/>
                <a:cs typeface="Times New Roman" panose="02020603050405020304" pitchFamily="18" charset="0"/>
              </a:rPr>
              <a:t>PortScan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BruteForce</a:t>
            </a:r>
            <a:r>
              <a:rPr lang="en-IN" sz="1600" dirty="0">
                <a:latin typeface="Times New Roman" panose="02020603050405020304" pitchFamily="18" charset="0"/>
                <a:cs typeface="Times New Roman" panose="02020603050405020304" pitchFamily="18" charset="0"/>
              </a:rPr>
              <a:t>, etc.).</a:t>
            </a:r>
          </a:p>
          <a:p>
            <a:pPr lvl="1"/>
            <a:r>
              <a:rPr lang="en-IN" sz="1600" dirty="0">
                <a:latin typeface="Times New Roman" panose="02020603050405020304" pitchFamily="18" charset="0"/>
                <a:cs typeface="Times New Roman" panose="02020603050405020304" pitchFamily="18" charset="0"/>
              </a:rPr>
              <a:t>Successfully triggers backend alerts for validation.</a:t>
            </a:r>
            <a:br>
              <a:rPr lang="en-IN" dirty="0"/>
            </a:br>
            <a:endParaRPr lang="en-IN" dirty="0"/>
          </a:p>
          <a:p>
            <a:pPr marL="457200" lvl="1" indent="0">
              <a:buNone/>
            </a:pPr>
            <a:endParaRPr lang="en-IN"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Active </a:t>
            </a:r>
            <a:r>
              <a:rPr lang="en-IN" sz="1600" b="1" dirty="0" err="1">
                <a:latin typeface="Times New Roman" panose="02020603050405020304" pitchFamily="18" charset="0"/>
                <a:cs typeface="Times New Roman" panose="02020603050405020304" pitchFamily="18" charset="0"/>
              </a:rPr>
              <a:t>Defense</a:t>
            </a:r>
            <a:r>
              <a:rPr lang="en-IN" sz="1600" b="1" dirty="0">
                <a:latin typeface="Times New Roman" panose="02020603050405020304" pitchFamily="18" charset="0"/>
                <a:cs typeface="Times New Roman" panose="02020603050405020304" pitchFamily="18" charset="0"/>
              </a:rPr>
              <a:t> &amp; Prevention Module (IPS) </a:t>
            </a:r>
          </a:p>
          <a:p>
            <a:r>
              <a:rPr lang="en-IN" sz="1600" b="1" dirty="0">
                <a:latin typeface="Times New Roman" panose="02020603050405020304" pitchFamily="18" charset="0"/>
                <a:cs typeface="Times New Roman" panose="02020603050405020304" pitchFamily="18" charset="0"/>
              </a:rPr>
              <a:t>Status:</a:t>
            </a:r>
            <a:r>
              <a:rPr lang="en-IN" sz="1600" dirty="0">
                <a:latin typeface="Times New Roman" panose="02020603050405020304" pitchFamily="18" charset="0"/>
                <a:cs typeface="Times New Roman" panose="02020603050405020304" pitchFamily="18" charset="0"/>
              </a:rPr>
              <a:t> Complete (Simulated Actions).</a:t>
            </a:r>
          </a:p>
          <a:p>
            <a:r>
              <a:rPr lang="en-IN" sz="1600" b="1" dirty="0">
                <a:latin typeface="Times New Roman" panose="02020603050405020304" pitchFamily="18" charset="0"/>
                <a:cs typeface="Times New Roman" panose="02020603050405020304" pitchFamily="18" charset="0"/>
              </a:rPr>
              <a:t>Features:</a:t>
            </a:r>
            <a:endParaRPr lang="en-IN" sz="1600" dirty="0">
              <a:latin typeface="Times New Roman" panose="02020603050405020304" pitchFamily="18" charset="0"/>
              <a:cs typeface="Times New Roman" panose="02020603050405020304" pitchFamily="18" charset="0"/>
            </a:endParaRPr>
          </a:p>
          <a:p>
            <a:pPr lvl="1"/>
            <a:r>
              <a:rPr lang="en-IN" sz="1600" b="1" dirty="0">
                <a:latin typeface="Times New Roman" panose="02020603050405020304" pitchFamily="18" charset="0"/>
                <a:cs typeface="Times New Roman" panose="02020603050405020304" pitchFamily="18" charset="0"/>
              </a:rPr>
              <a:t>Automated Blocking:</a:t>
            </a:r>
            <a:r>
              <a:rPr lang="en-IN" sz="1600" dirty="0">
                <a:latin typeface="Times New Roman" panose="02020603050405020304" pitchFamily="18" charset="0"/>
                <a:cs typeface="Times New Roman" panose="02020603050405020304" pitchFamily="18" charset="0"/>
              </a:rPr>
              <a:t> Logic to trigger Windows Firewall rules (via </a:t>
            </a:r>
            <a:r>
              <a:rPr lang="en-IN" sz="1600" dirty="0" err="1">
                <a:latin typeface="Times New Roman" panose="02020603050405020304" pitchFamily="18" charset="0"/>
                <a:cs typeface="Times New Roman" panose="02020603050405020304" pitchFamily="18" charset="0"/>
              </a:rPr>
              <a:t>netsh</a:t>
            </a:r>
            <a:r>
              <a:rPr lang="en-IN" sz="1600" dirty="0">
                <a:latin typeface="Times New Roman" panose="02020603050405020304" pitchFamily="18" charset="0"/>
                <a:cs typeface="Times New Roman" panose="02020603050405020304" pitchFamily="18" charset="0"/>
              </a:rPr>
              <a:t>) for high-confidence threats (&gt;80%).</a:t>
            </a:r>
          </a:p>
          <a:p>
            <a:pPr lvl="1"/>
            <a:r>
              <a:rPr lang="en-IN" sz="1600" b="1" dirty="0">
                <a:latin typeface="Times New Roman" panose="02020603050405020304" pitchFamily="18" charset="0"/>
                <a:cs typeface="Times New Roman" panose="02020603050405020304" pitchFamily="18" charset="0"/>
              </a:rPr>
              <a:t>Quarantine Protocol:</a:t>
            </a:r>
            <a:r>
              <a:rPr lang="en-IN" sz="1600" dirty="0">
                <a:latin typeface="Times New Roman" panose="02020603050405020304" pitchFamily="18" charset="0"/>
                <a:cs typeface="Times New Roman" panose="02020603050405020304" pitchFamily="18" charset="0"/>
              </a:rPr>
              <a:t> Logic to isolate "Botnet" infected hosts to a restricted list.</a:t>
            </a:r>
          </a:p>
          <a:p>
            <a:pPr lvl="1"/>
            <a:r>
              <a:rPr lang="en-IN" sz="1600" b="1" dirty="0">
                <a:latin typeface="Times New Roman" panose="02020603050405020304" pitchFamily="18" charset="0"/>
                <a:cs typeface="Times New Roman" panose="02020603050405020304" pitchFamily="18" charset="0"/>
              </a:rPr>
              <a:t>Forensic Capture:</a:t>
            </a:r>
            <a:r>
              <a:rPr lang="en-IN" sz="1600" dirty="0">
                <a:latin typeface="Times New Roman" panose="02020603050405020304" pitchFamily="18" charset="0"/>
                <a:cs typeface="Times New Roman" panose="02020603050405020304" pitchFamily="18" charset="0"/>
              </a:rPr>
              <a:t> Automatically saves full packet details to JSON logs for Zero-Day anomalies.</a:t>
            </a:r>
          </a:p>
          <a:p>
            <a:pPr marL="457200" lvl="1" indent="0">
              <a:buNone/>
            </a:pPr>
            <a:endParaRPr lang="en-US" sz="1600" dirty="0">
              <a:latin typeface="Times New Roman" panose="02020603050405020304" pitchFamily="18" charset="0"/>
              <a:cs typeface="Times New Roman" panose="02020603050405020304" pitchFamily="18" charset="0"/>
            </a:endParaRPr>
          </a:p>
          <a:p>
            <a:pPr marL="457200" lvl="1" indent="0">
              <a:buNone/>
            </a:pPr>
            <a:endParaRPr lang="en-IN" sz="1600" dirty="0">
              <a:latin typeface="Times New Roman" panose="02020603050405020304" pitchFamily="18" charset="0"/>
              <a:cs typeface="Times New Roman" panose="02020603050405020304" pitchFamily="18" charset="0"/>
            </a:endParaRPr>
          </a:p>
          <a:p>
            <a:pPr marL="457200" lvl="1" indent="0">
              <a:buNone/>
            </a:pPr>
            <a:endParaRPr lang="en-US" alt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pPr lvl="1"/>
            <a:endParaRPr lang="en-US" altLang="en-US" sz="1600" dirty="0">
              <a:latin typeface="Times New Roman" panose="02020603050405020304" pitchFamily="18" charset="0"/>
              <a:cs typeface="Times New Roman" panose="02020603050405020304" pitchFamily="18" charset="0"/>
            </a:endParaRPr>
          </a:p>
          <a:p>
            <a:pPr marL="914400" lvl="2" indent="0">
              <a:buNone/>
            </a:pPr>
            <a:endParaRPr lang="en-US" sz="1600" dirty="0">
              <a:latin typeface="Times New Roman" panose="02020603050405020304" pitchFamily="18" charset="0"/>
              <a:cs typeface="Times New Roman" panose="02020603050405020304" pitchFamily="18" charset="0"/>
            </a:endParaRPr>
          </a:p>
          <a:p>
            <a:pPr lvl="2"/>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030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0088B-6116-C086-E70B-796FCA23B3C5}"/>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4E33505-F72F-B2BC-BBAD-C2C8C1529C90}"/>
              </a:ext>
            </a:extLst>
          </p:cNvPr>
          <p:cNvCxnSpPr>
            <a:cxnSpLocks/>
          </p:cNvCxnSpPr>
          <p:nvPr/>
        </p:nvCxnSpPr>
        <p:spPr>
          <a:xfrm>
            <a:off x="599440" y="97168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3A0F2290-F7C5-157F-B217-1F03613977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922" b="29204"/>
          <a:stretch>
            <a:fillRect/>
          </a:stretch>
        </p:blipFill>
        <p:spPr bwMode="auto">
          <a:xfrm>
            <a:off x="9462819" y="317321"/>
            <a:ext cx="2286000" cy="5671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9B6B5D4-7C7F-8CC3-319A-1E4D7CA7F4BC}"/>
              </a:ext>
            </a:extLst>
          </p:cNvPr>
          <p:cNvSpPr txBox="1"/>
          <p:nvPr/>
        </p:nvSpPr>
        <p:spPr>
          <a:xfrm>
            <a:off x="281135" y="345177"/>
            <a:ext cx="611966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IMPLEMENTATION SCREENSHOTS</a:t>
            </a:r>
            <a:endParaRPr lang="en-IN" sz="2400" b="1" dirty="0">
              <a:latin typeface="Times New Roman" panose="02020603050405020304" pitchFamily="18" charset="0"/>
              <a:cs typeface="Times New Roman" panose="02020603050405020304" pitchFamily="18" charset="0"/>
            </a:endParaRPr>
          </a:p>
        </p:txBody>
      </p:sp>
      <p:pic>
        <p:nvPicPr>
          <p:cNvPr id="3" name="Picture 2" descr="A screenshot of a computer program&#10;&#10;AI-generated content may be incorrect.">
            <a:extLst>
              <a:ext uri="{FF2B5EF4-FFF2-40B4-BE49-F238E27FC236}">
                <a16:creationId xmlns:a16="http://schemas.microsoft.com/office/drawing/2014/main" id="{DEAFC476-24D7-F293-D57B-5A7F8C7582BB}"/>
              </a:ext>
            </a:extLst>
          </p:cNvPr>
          <p:cNvPicPr>
            <a:picLocks noChangeAspect="1"/>
          </p:cNvPicPr>
          <p:nvPr/>
        </p:nvPicPr>
        <p:blipFill>
          <a:blip r:embed="rId3"/>
          <a:stretch>
            <a:fillRect/>
          </a:stretch>
        </p:blipFill>
        <p:spPr>
          <a:xfrm>
            <a:off x="599441" y="1136529"/>
            <a:ext cx="5708523" cy="3043552"/>
          </a:xfrm>
          <a:prstGeom prst="rect">
            <a:avLst/>
          </a:prstGeom>
        </p:spPr>
      </p:pic>
      <p:pic>
        <p:nvPicPr>
          <p:cNvPr id="7" name="Picture 6">
            <a:extLst>
              <a:ext uri="{FF2B5EF4-FFF2-40B4-BE49-F238E27FC236}">
                <a16:creationId xmlns:a16="http://schemas.microsoft.com/office/drawing/2014/main" id="{2C4B81F5-4E19-3E23-74B8-78025BD351D0}"/>
              </a:ext>
            </a:extLst>
          </p:cNvPr>
          <p:cNvPicPr>
            <a:picLocks noChangeAspect="1"/>
          </p:cNvPicPr>
          <p:nvPr/>
        </p:nvPicPr>
        <p:blipFill>
          <a:blip r:embed="rId4"/>
          <a:stretch>
            <a:fillRect/>
          </a:stretch>
        </p:blipFill>
        <p:spPr>
          <a:xfrm>
            <a:off x="6460490" y="1136530"/>
            <a:ext cx="5288329" cy="3043552"/>
          </a:xfrm>
          <a:prstGeom prst="rect">
            <a:avLst/>
          </a:prstGeom>
        </p:spPr>
      </p:pic>
      <p:sp>
        <p:nvSpPr>
          <p:cNvPr id="8" name="TextBox 7">
            <a:extLst>
              <a:ext uri="{FF2B5EF4-FFF2-40B4-BE49-F238E27FC236}">
                <a16:creationId xmlns:a16="http://schemas.microsoft.com/office/drawing/2014/main" id="{A74881D9-A130-035F-C9F5-420416A3F66F}"/>
              </a:ext>
            </a:extLst>
          </p:cNvPr>
          <p:cNvSpPr txBox="1"/>
          <p:nvPr/>
        </p:nvSpPr>
        <p:spPr>
          <a:xfrm>
            <a:off x="6656438" y="4557252"/>
            <a:ext cx="4630994" cy="369332"/>
          </a:xfrm>
          <a:prstGeom prst="rect">
            <a:avLst/>
          </a:prstGeom>
          <a:noFill/>
        </p:spPr>
        <p:txBody>
          <a:bodyPr wrap="square" rtlCol="0">
            <a:spAutoFit/>
          </a:bodyPr>
          <a:lstStyle/>
          <a:p>
            <a:pPr algn="ctr"/>
            <a:r>
              <a:rPr lang="en-IN" b="1" dirty="0"/>
              <a:t>Fig 7.2.2 Login Page</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60C0519-43D2-8262-32CB-CC3AA9F6B957}"/>
              </a:ext>
            </a:extLst>
          </p:cNvPr>
          <p:cNvSpPr txBox="1"/>
          <p:nvPr/>
        </p:nvSpPr>
        <p:spPr>
          <a:xfrm>
            <a:off x="1233948" y="4557252"/>
            <a:ext cx="4630994"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7.2.1 Initialization of project(app.py)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7553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91FC5-615A-4FDE-7884-87F8FF8D6E82}"/>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84E789D-B15E-31E0-7E82-6A037C037D81}"/>
              </a:ext>
            </a:extLst>
          </p:cNvPr>
          <p:cNvCxnSpPr>
            <a:cxnSpLocks/>
          </p:cNvCxnSpPr>
          <p:nvPr/>
        </p:nvCxnSpPr>
        <p:spPr>
          <a:xfrm>
            <a:off x="599440" y="97168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9DF932F1-8EAF-3990-D1A6-276BFE5C40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922" b="29204"/>
          <a:stretch>
            <a:fillRect/>
          </a:stretch>
        </p:blipFill>
        <p:spPr bwMode="auto">
          <a:xfrm>
            <a:off x="9462819" y="317321"/>
            <a:ext cx="2286000" cy="5671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A542E08-6C60-D8A5-464D-AA1F0B4F43F2}"/>
              </a:ext>
            </a:extLst>
          </p:cNvPr>
          <p:cNvSpPr txBox="1"/>
          <p:nvPr/>
        </p:nvSpPr>
        <p:spPr>
          <a:xfrm>
            <a:off x="281135" y="345177"/>
            <a:ext cx="611966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IMPLEMENTATION SCREENSHOTS</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6866041-4F0A-48A2-A4AA-2CA271ACD06F}"/>
              </a:ext>
            </a:extLst>
          </p:cNvPr>
          <p:cNvSpPr txBox="1"/>
          <p:nvPr/>
        </p:nvSpPr>
        <p:spPr>
          <a:xfrm>
            <a:off x="6838336" y="4374422"/>
            <a:ext cx="4630994"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7.2.4 Dashboard Page-2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B9C06B8-4E2A-2FB5-8B86-DD5E7A5739F9}"/>
              </a:ext>
            </a:extLst>
          </p:cNvPr>
          <p:cNvSpPr txBox="1"/>
          <p:nvPr/>
        </p:nvSpPr>
        <p:spPr>
          <a:xfrm>
            <a:off x="1025470" y="4377503"/>
            <a:ext cx="4630994"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7.2.3 Dashboard Page-1</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3D76371-9773-5B44-C6C3-9D40039685F6}"/>
              </a:ext>
            </a:extLst>
          </p:cNvPr>
          <p:cNvPicPr>
            <a:picLocks noChangeAspect="1"/>
          </p:cNvPicPr>
          <p:nvPr/>
        </p:nvPicPr>
        <p:blipFill>
          <a:blip r:embed="rId3"/>
          <a:stretch>
            <a:fillRect/>
          </a:stretch>
        </p:blipFill>
        <p:spPr>
          <a:xfrm>
            <a:off x="364490" y="1286388"/>
            <a:ext cx="5731510" cy="2743835"/>
          </a:xfrm>
          <a:prstGeom prst="rect">
            <a:avLst/>
          </a:prstGeom>
        </p:spPr>
      </p:pic>
      <p:pic>
        <p:nvPicPr>
          <p:cNvPr id="10" name="Picture 9">
            <a:extLst>
              <a:ext uri="{FF2B5EF4-FFF2-40B4-BE49-F238E27FC236}">
                <a16:creationId xmlns:a16="http://schemas.microsoft.com/office/drawing/2014/main" id="{C943BBE8-08FF-C4B3-D556-DAB4AA778BE4}"/>
              </a:ext>
            </a:extLst>
          </p:cNvPr>
          <p:cNvPicPr>
            <a:picLocks noChangeAspect="1"/>
          </p:cNvPicPr>
          <p:nvPr/>
        </p:nvPicPr>
        <p:blipFill>
          <a:blip r:embed="rId4"/>
          <a:stretch>
            <a:fillRect/>
          </a:stretch>
        </p:blipFill>
        <p:spPr>
          <a:xfrm>
            <a:off x="6288078" y="1294960"/>
            <a:ext cx="5731510" cy="2726690"/>
          </a:xfrm>
          <a:prstGeom prst="rect">
            <a:avLst/>
          </a:prstGeom>
        </p:spPr>
      </p:pic>
    </p:spTree>
    <p:extLst>
      <p:ext uri="{BB962C8B-B14F-4D97-AF65-F5344CB8AC3E}">
        <p14:creationId xmlns:p14="http://schemas.microsoft.com/office/powerpoint/2010/main" val="2459137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5F208-061B-AA4D-0D84-B68F0BCDD1A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2713ED9-9911-1719-2E32-2B7729D3B22D}"/>
              </a:ext>
            </a:extLst>
          </p:cNvPr>
          <p:cNvCxnSpPr>
            <a:cxnSpLocks/>
          </p:cNvCxnSpPr>
          <p:nvPr/>
        </p:nvCxnSpPr>
        <p:spPr>
          <a:xfrm>
            <a:off x="599440" y="97168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6D69B0BD-F845-7118-EF44-C486E1D0C1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922" b="29204"/>
          <a:stretch>
            <a:fillRect/>
          </a:stretch>
        </p:blipFill>
        <p:spPr bwMode="auto">
          <a:xfrm>
            <a:off x="9462819" y="317321"/>
            <a:ext cx="2286000" cy="5671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60CD4BC-8F38-5A7B-C0E8-41663FC7E3F0}"/>
              </a:ext>
            </a:extLst>
          </p:cNvPr>
          <p:cNvSpPr txBox="1"/>
          <p:nvPr/>
        </p:nvSpPr>
        <p:spPr>
          <a:xfrm>
            <a:off x="281135" y="345177"/>
            <a:ext cx="611966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IMPLEMENTATION SCREENSHOTS</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0E5D07D-7827-925A-2BD8-50503E737644}"/>
              </a:ext>
            </a:extLst>
          </p:cNvPr>
          <p:cNvSpPr txBox="1"/>
          <p:nvPr/>
        </p:nvSpPr>
        <p:spPr>
          <a:xfrm>
            <a:off x="6240678" y="4138463"/>
            <a:ext cx="5442154" cy="923330"/>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7.2.10 Analytics Page for downloading the list of attack file</a:t>
            </a:r>
            <a:endParaRPr lang="en-IN" dirty="0">
              <a:latin typeface="Times New Roman" panose="02020603050405020304" pitchFamily="18" charset="0"/>
              <a:cs typeface="Times New Roman" panose="02020603050405020304" pitchFamily="18" charset="0"/>
            </a:endParaRPr>
          </a:p>
          <a:p>
            <a:pPr algn="ctr"/>
            <a:endParaRPr lang="en-IN" dirty="0"/>
          </a:p>
        </p:txBody>
      </p:sp>
      <p:sp>
        <p:nvSpPr>
          <p:cNvPr id="9" name="TextBox 8">
            <a:extLst>
              <a:ext uri="{FF2B5EF4-FFF2-40B4-BE49-F238E27FC236}">
                <a16:creationId xmlns:a16="http://schemas.microsoft.com/office/drawing/2014/main" id="{50C1257C-7AC3-DB9A-4835-6943FE53E2E8}"/>
              </a:ext>
            </a:extLst>
          </p:cNvPr>
          <p:cNvSpPr txBox="1"/>
          <p:nvPr/>
        </p:nvSpPr>
        <p:spPr>
          <a:xfrm>
            <a:off x="578277" y="4138463"/>
            <a:ext cx="4982040"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7.2.9 Quarantined and Blocked addresses</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0044243-3C5E-C8C4-2127-C62DF7BD928D}"/>
              </a:ext>
            </a:extLst>
          </p:cNvPr>
          <p:cNvPicPr>
            <a:picLocks noChangeAspect="1"/>
          </p:cNvPicPr>
          <p:nvPr/>
        </p:nvPicPr>
        <p:blipFill>
          <a:blip r:embed="rId4"/>
          <a:stretch>
            <a:fillRect/>
          </a:stretch>
        </p:blipFill>
        <p:spPr>
          <a:xfrm>
            <a:off x="203542" y="1311931"/>
            <a:ext cx="5731510" cy="2722245"/>
          </a:xfrm>
          <a:prstGeom prst="rect">
            <a:avLst/>
          </a:prstGeom>
        </p:spPr>
      </p:pic>
      <p:pic>
        <p:nvPicPr>
          <p:cNvPr id="12" name="Picture 11">
            <a:extLst>
              <a:ext uri="{FF2B5EF4-FFF2-40B4-BE49-F238E27FC236}">
                <a16:creationId xmlns:a16="http://schemas.microsoft.com/office/drawing/2014/main" id="{38C58CD4-F68E-5816-F479-E126504C3127}"/>
              </a:ext>
            </a:extLst>
          </p:cNvPr>
          <p:cNvPicPr>
            <a:picLocks noChangeAspect="1"/>
          </p:cNvPicPr>
          <p:nvPr/>
        </p:nvPicPr>
        <p:blipFill>
          <a:blip r:embed="rId5"/>
          <a:stretch>
            <a:fillRect/>
          </a:stretch>
        </p:blipFill>
        <p:spPr>
          <a:xfrm>
            <a:off x="6240678" y="1287801"/>
            <a:ext cx="5731510" cy="2746375"/>
          </a:xfrm>
          <a:prstGeom prst="rect">
            <a:avLst/>
          </a:prstGeom>
        </p:spPr>
      </p:pic>
    </p:spTree>
    <p:extLst>
      <p:ext uri="{BB962C8B-B14F-4D97-AF65-F5344CB8AC3E}">
        <p14:creationId xmlns:p14="http://schemas.microsoft.com/office/powerpoint/2010/main" val="303074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C0AB9-0A6C-56EC-173C-911FE2FA33F8}"/>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0EDE8F1-6F6D-9031-995C-113B5A9CF5A2}"/>
              </a:ext>
            </a:extLst>
          </p:cNvPr>
          <p:cNvCxnSpPr>
            <a:cxnSpLocks/>
          </p:cNvCxnSpPr>
          <p:nvPr/>
        </p:nvCxnSpPr>
        <p:spPr>
          <a:xfrm>
            <a:off x="599440" y="97168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3040BF03-2EA3-DEC2-6EB8-617DC2FF44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922" b="29204"/>
          <a:stretch>
            <a:fillRect/>
          </a:stretch>
        </p:blipFill>
        <p:spPr bwMode="auto">
          <a:xfrm>
            <a:off x="9462819" y="317321"/>
            <a:ext cx="2286000" cy="5671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FE2701A-926E-355C-63E6-5B7AB8A8AF59}"/>
              </a:ext>
            </a:extLst>
          </p:cNvPr>
          <p:cNvSpPr txBox="1"/>
          <p:nvPr/>
        </p:nvSpPr>
        <p:spPr>
          <a:xfrm>
            <a:off x="281135" y="345177"/>
            <a:ext cx="611966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IMPLEMENTATION SCREENSHOTS</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17F376-01BA-FFF2-F5B0-C6682E5E46A3}"/>
              </a:ext>
            </a:extLst>
          </p:cNvPr>
          <p:cNvSpPr txBox="1"/>
          <p:nvPr/>
        </p:nvSpPr>
        <p:spPr>
          <a:xfrm>
            <a:off x="6462252" y="4421093"/>
            <a:ext cx="5442154"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7.2.12 Json file that contains Forensic report of the Zero-day attack</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B1BA877-CBA9-EC2A-8D77-FE6FBFE5A88A}"/>
              </a:ext>
            </a:extLst>
          </p:cNvPr>
          <p:cNvSpPr txBox="1"/>
          <p:nvPr/>
        </p:nvSpPr>
        <p:spPr>
          <a:xfrm>
            <a:off x="739225" y="4600128"/>
            <a:ext cx="4982040"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7.2.11 CSV file that Contains Detected Attacks</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4DDCC70-0B93-39AC-A33A-BA60EBCC642A}"/>
              </a:ext>
            </a:extLst>
          </p:cNvPr>
          <p:cNvPicPr>
            <a:picLocks noChangeAspect="1"/>
          </p:cNvPicPr>
          <p:nvPr/>
        </p:nvPicPr>
        <p:blipFill>
          <a:blip r:embed="rId4"/>
          <a:stretch>
            <a:fillRect/>
          </a:stretch>
        </p:blipFill>
        <p:spPr>
          <a:xfrm>
            <a:off x="364490" y="1298624"/>
            <a:ext cx="5731510" cy="3024505"/>
          </a:xfrm>
          <a:prstGeom prst="rect">
            <a:avLst/>
          </a:prstGeom>
        </p:spPr>
      </p:pic>
      <p:pic>
        <p:nvPicPr>
          <p:cNvPr id="3" name="Picture 2">
            <a:extLst>
              <a:ext uri="{FF2B5EF4-FFF2-40B4-BE49-F238E27FC236}">
                <a16:creationId xmlns:a16="http://schemas.microsoft.com/office/drawing/2014/main" id="{CAC6BF5A-0F96-914B-D197-6DF5C95CE951}"/>
              </a:ext>
            </a:extLst>
          </p:cNvPr>
          <p:cNvPicPr>
            <a:picLocks noChangeAspect="1"/>
          </p:cNvPicPr>
          <p:nvPr/>
        </p:nvPicPr>
        <p:blipFill>
          <a:blip r:embed="rId5"/>
          <a:stretch>
            <a:fillRect/>
          </a:stretch>
        </p:blipFill>
        <p:spPr>
          <a:xfrm>
            <a:off x="6317574" y="1298624"/>
            <a:ext cx="5731510" cy="3031490"/>
          </a:xfrm>
          <a:prstGeom prst="rect">
            <a:avLst/>
          </a:prstGeom>
        </p:spPr>
      </p:pic>
    </p:spTree>
    <p:extLst>
      <p:ext uri="{BB962C8B-B14F-4D97-AF65-F5344CB8AC3E}">
        <p14:creationId xmlns:p14="http://schemas.microsoft.com/office/powerpoint/2010/main" val="329838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65DE3-EA65-47F9-4BBD-FD1E72E6A770}"/>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A694805-0CF4-E3CB-37DE-1C854E991C4C}"/>
              </a:ext>
            </a:extLst>
          </p:cNvPr>
          <p:cNvCxnSpPr>
            <a:cxnSpLocks/>
          </p:cNvCxnSpPr>
          <p:nvPr/>
        </p:nvCxnSpPr>
        <p:spPr>
          <a:xfrm>
            <a:off x="599440" y="97168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95AACBE9-F2FD-AE70-27C3-E56DDAFF56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922" b="29204"/>
          <a:stretch>
            <a:fillRect/>
          </a:stretch>
        </p:blipFill>
        <p:spPr bwMode="auto">
          <a:xfrm>
            <a:off x="9462819" y="317321"/>
            <a:ext cx="2286000" cy="5671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7F3B0E5-3B0B-46FA-8115-EFD64E24678A}"/>
              </a:ext>
            </a:extLst>
          </p:cNvPr>
          <p:cNvSpPr txBox="1"/>
          <p:nvPr/>
        </p:nvSpPr>
        <p:spPr>
          <a:xfrm>
            <a:off x="281135" y="345177"/>
            <a:ext cx="611966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IMPLEMENTATION SCREENSHOTS</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A95755B-B722-32A0-3FE9-83C29184762F}"/>
              </a:ext>
            </a:extLst>
          </p:cNvPr>
          <p:cNvSpPr txBox="1"/>
          <p:nvPr/>
        </p:nvSpPr>
        <p:spPr>
          <a:xfrm>
            <a:off x="6462252" y="4421093"/>
            <a:ext cx="5442154"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7.2.14 Terminal that also shows which IP addresses are blocked when the attack is detected</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26518F0-444A-8305-4CE8-74631E7C944E}"/>
              </a:ext>
            </a:extLst>
          </p:cNvPr>
          <p:cNvSpPr txBox="1"/>
          <p:nvPr/>
        </p:nvSpPr>
        <p:spPr>
          <a:xfrm>
            <a:off x="739225" y="4600128"/>
            <a:ext cx="4982040"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 7.2.13 Bubble chart of the attacks detected in a span of time</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ABE7F66-0D84-C2D0-5426-02A4013E5EC2}"/>
              </a:ext>
            </a:extLst>
          </p:cNvPr>
          <p:cNvPicPr>
            <a:picLocks noChangeAspect="1"/>
          </p:cNvPicPr>
          <p:nvPr/>
        </p:nvPicPr>
        <p:blipFill>
          <a:blip r:embed="rId4"/>
          <a:stretch>
            <a:fillRect/>
          </a:stretch>
        </p:blipFill>
        <p:spPr>
          <a:xfrm>
            <a:off x="364490" y="1344774"/>
            <a:ext cx="5731510" cy="2882265"/>
          </a:xfrm>
          <a:prstGeom prst="rect">
            <a:avLst/>
          </a:prstGeom>
        </p:spPr>
      </p:pic>
      <p:pic>
        <p:nvPicPr>
          <p:cNvPr id="10" name="Picture 9">
            <a:extLst>
              <a:ext uri="{FF2B5EF4-FFF2-40B4-BE49-F238E27FC236}">
                <a16:creationId xmlns:a16="http://schemas.microsoft.com/office/drawing/2014/main" id="{C0DCC357-2B22-1D57-FB1F-523355E5A580}"/>
              </a:ext>
            </a:extLst>
          </p:cNvPr>
          <p:cNvPicPr>
            <a:picLocks noChangeAspect="1"/>
          </p:cNvPicPr>
          <p:nvPr/>
        </p:nvPicPr>
        <p:blipFill>
          <a:blip r:embed="rId5"/>
          <a:stretch>
            <a:fillRect/>
          </a:stretch>
        </p:blipFill>
        <p:spPr>
          <a:xfrm>
            <a:off x="6317574" y="1344774"/>
            <a:ext cx="5731510" cy="2974975"/>
          </a:xfrm>
          <a:prstGeom prst="rect">
            <a:avLst/>
          </a:prstGeom>
        </p:spPr>
      </p:pic>
    </p:spTree>
    <p:extLst>
      <p:ext uri="{BB962C8B-B14F-4D97-AF65-F5344CB8AC3E}">
        <p14:creationId xmlns:p14="http://schemas.microsoft.com/office/powerpoint/2010/main" val="2079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61E46-37DB-7507-909E-A4A51150C9E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6AB3B40-41BD-E7EE-8139-C135E86D7031}"/>
              </a:ext>
            </a:extLst>
          </p:cNvPr>
          <p:cNvCxnSpPr>
            <a:cxnSpLocks/>
          </p:cNvCxnSpPr>
          <p:nvPr/>
        </p:nvCxnSpPr>
        <p:spPr>
          <a:xfrm>
            <a:off x="599440" y="971685"/>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E2AED61A-50C9-A89E-8B3F-9FE3635237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922" b="29204"/>
          <a:stretch>
            <a:fillRect/>
          </a:stretch>
        </p:blipFill>
        <p:spPr bwMode="auto">
          <a:xfrm>
            <a:off x="9462819" y="317321"/>
            <a:ext cx="2286000" cy="5671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20B62DA-9535-04E4-FFDA-73D665D5622C}"/>
              </a:ext>
            </a:extLst>
          </p:cNvPr>
          <p:cNvSpPr txBox="1"/>
          <p:nvPr/>
        </p:nvSpPr>
        <p:spPr>
          <a:xfrm>
            <a:off x="281135" y="345177"/>
            <a:ext cx="611966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IMPLEMENTATION SCREENSHOTS</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03B49C3-BD00-3CA0-A885-C0DF530248C5}"/>
              </a:ext>
            </a:extLst>
          </p:cNvPr>
          <p:cNvSpPr txBox="1"/>
          <p:nvPr/>
        </p:nvSpPr>
        <p:spPr>
          <a:xfrm>
            <a:off x="599440" y="4395639"/>
            <a:ext cx="5442154" cy="369332"/>
          </a:xfrm>
          <a:prstGeom prst="rect">
            <a:avLst/>
          </a:prstGeom>
          <a:noFill/>
        </p:spPr>
        <p:txBody>
          <a:bodyPr wrap="square" rtlCol="0">
            <a:spAutoFit/>
          </a:bodyPr>
          <a:lstStyle/>
          <a:p>
            <a:pPr algn="ctr"/>
            <a:r>
              <a:rPr lang="en-IN" b="1" dirty="0"/>
              <a:t>Fig 7.2.15 terminal of attack_simulation.py</a:t>
            </a:r>
            <a:endParaRPr lang="en-IN" dirty="0"/>
          </a:p>
        </p:txBody>
      </p:sp>
      <p:sp>
        <p:nvSpPr>
          <p:cNvPr id="9" name="TextBox 8">
            <a:extLst>
              <a:ext uri="{FF2B5EF4-FFF2-40B4-BE49-F238E27FC236}">
                <a16:creationId xmlns:a16="http://schemas.microsoft.com/office/drawing/2014/main" id="{F26B45C6-01B2-EF36-5208-1AA61E8B8A42}"/>
              </a:ext>
            </a:extLst>
          </p:cNvPr>
          <p:cNvSpPr txBox="1"/>
          <p:nvPr/>
        </p:nvSpPr>
        <p:spPr>
          <a:xfrm>
            <a:off x="6206722" y="5967749"/>
            <a:ext cx="4982040" cy="369332"/>
          </a:xfrm>
          <a:prstGeom prst="rect">
            <a:avLst/>
          </a:prstGeom>
          <a:noFill/>
        </p:spPr>
        <p:txBody>
          <a:bodyPr wrap="square" rtlCol="0">
            <a:spAutoFit/>
          </a:bodyPr>
          <a:lstStyle/>
          <a:p>
            <a:pPr algn="ctr"/>
            <a:r>
              <a:rPr lang="en-IN" b="1" dirty="0"/>
              <a:t>Fig 7.2.16 Live Logs of attacks with XAI</a:t>
            </a:r>
            <a:endParaRPr lang="en-IN" dirty="0"/>
          </a:p>
        </p:txBody>
      </p:sp>
      <p:pic>
        <p:nvPicPr>
          <p:cNvPr id="10" name="Picture 9">
            <a:extLst>
              <a:ext uri="{FF2B5EF4-FFF2-40B4-BE49-F238E27FC236}">
                <a16:creationId xmlns:a16="http://schemas.microsoft.com/office/drawing/2014/main" id="{6CD662C1-29FE-60B5-4903-2D9BBD870DE5}"/>
              </a:ext>
            </a:extLst>
          </p:cNvPr>
          <p:cNvPicPr>
            <a:picLocks noChangeAspect="1"/>
          </p:cNvPicPr>
          <p:nvPr/>
        </p:nvPicPr>
        <p:blipFill>
          <a:blip r:embed="rId4"/>
          <a:stretch>
            <a:fillRect/>
          </a:stretch>
        </p:blipFill>
        <p:spPr>
          <a:xfrm>
            <a:off x="475212" y="1298419"/>
            <a:ext cx="5731510" cy="2974975"/>
          </a:xfrm>
          <a:prstGeom prst="rect">
            <a:avLst/>
          </a:prstGeom>
        </p:spPr>
      </p:pic>
      <p:pic>
        <p:nvPicPr>
          <p:cNvPr id="3" name="Picture 2">
            <a:extLst>
              <a:ext uri="{FF2B5EF4-FFF2-40B4-BE49-F238E27FC236}">
                <a16:creationId xmlns:a16="http://schemas.microsoft.com/office/drawing/2014/main" id="{C1E751D6-A0EF-5786-D278-C6DA3504C025}"/>
              </a:ext>
            </a:extLst>
          </p:cNvPr>
          <p:cNvPicPr>
            <a:picLocks noChangeAspect="1"/>
          </p:cNvPicPr>
          <p:nvPr/>
        </p:nvPicPr>
        <p:blipFill>
          <a:blip r:embed="rId5"/>
          <a:stretch>
            <a:fillRect/>
          </a:stretch>
        </p:blipFill>
        <p:spPr>
          <a:xfrm>
            <a:off x="7000289" y="1298419"/>
            <a:ext cx="2875231" cy="4665763"/>
          </a:xfrm>
          <a:prstGeom prst="rect">
            <a:avLst/>
          </a:prstGeom>
        </p:spPr>
      </p:pic>
    </p:spTree>
    <p:extLst>
      <p:ext uri="{BB962C8B-B14F-4D97-AF65-F5344CB8AC3E}">
        <p14:creationId xmlns:p14="http://schemas.microsoft.com/office/powerpoint/2010/main" val="300112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E23B-7084-A4EC-C561-B2E9A312AF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4FB392-EBB4-1CD0-1729-1301D48B11BD}"/>
              </a:ext>
            </a:extLst>
          </p:cNvPr>
          <p:cNvSpPr txBox="1"/>
          <p:nvPr/>
        </p:nvSpPr>
        <p:spPr>
          <a:xfrm>
            <a:off x="517321" y="1278758"/>
            <a:ext cx="10626289" cy="452431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[1] </a:t>
            </a:r>
            <a:r>
              <a:rPr lang="en-IN" dirty="0">
                <a:latin typeface="Times New Roman" panose="02020603050405020304" pitchFamily="18" charset="0"/>
                <a:cs typeface="Times New Roman" panose="02020603050405020304" pitchFamily="18" charset="0"/>
              </a:rPr>
              <a:t>Gala, Y., </a:t>
            </a:r>
            <a:r>
              <a:rPr lang="en-IN" dirty="0" err="1">
                <a:latin typeface="Times New Roman" panose="02020603050405020304" pitchFamily="18" charset="0"/>
                <a:cs typeface="Times New Roman" panose="02020603050405020304" pitchFamily="18" charset="0"/>
              </a:rPr>
              <a:t>Vanjari</a:t>
            </a:r>
            <a:r>
              <a:rPr lang="en-IN" dirty="0">
                <a:latin typeface="Times New Roman" panose="02020603050405020304" pitchFamily="18" charset="0"/>
                <a:cs typeface="Times New Roman" panose="02020603050405020304" pitchFamily="18" charset="0"/>
              </a:rPr>
              <a:t>, N., Doshi, D. and </a:t>
            </a:r>
            <a:r>
              <a:rPr lang="en-IN" dirty="0" err="1">
                <a:latin typeface="Times New Roman" panose="02020603050405020304" pitchFamily="18" charset="0"/>
                <a:cs typeface="Times New Roman" panose="02020603050405020304" pitchFamily="18" charset="0"/>
              </a:rPr>
              <a:t>Radhanpurwala</a:t>
            </a:r>
            <a:r>
              <a:rPr lang="en-IN" dirty="0">
                <a:latin typeface="Times New Roman" panose="02020603050405020304" pitchFamily="18" charset="0"/>
                <a:cs typeface="Times New Roman" panose="02020603050405020304" pitchFamily="18" charset="0"/>
              </a:rPr>
              <a:t>, I., 2023, March</a:t>
            </a:r>
            <a:r>
              <a:rPr lang="en-IN" b="1" dirty="0">
                <a:latin typeface="Times New Roman" panose="02020603050405020304" pitchFamily="18" charset="0"/>
                <a:cs typeface="Times New Roman" panose="02020603050405020304" pitchFamily="18" charset="0"/>
              </a:rPr>
              <a:t>. AI based techniques for network-based intrusion detection system: A review. </a:t>
            </a:r>
            <a:r>
              <a:rPr lang="en-IN" dirty="0">
                <a:latin typeface="Times New Roman" panose="02020603050405020304" pitchFamily="18" charset="0"/>
                <a:cs typeface="Times New Roman" panose="02020603050405020304" pitchFamily="18" charset="0"/>
              </a:rPr>
              <a:t>In </a:t>
            </a:r>
            <a:r>
              <a:rPr lang="en-IN" i="1" dirty="0">
                <a:latin typeface="Times New Roman" panose="02020603050405020304" pitchFamily="18" charset="0"/>
                <a:cs typeface="Times New Roman" panose="02020603050405020304" pitchFamily="18" charset="0"/>
              </a:rPr>
              <a:t>2023 10th International Conference on Computing for Sustainable Global Development (</a:t>
            </a:r>
            <a:r>
              <a:rPr lang="en-IN" i="1" dirty="0" err="1">
                <a:latin typeface="Times New Roman" panose="02020603050405020304" pitchFamily="18" charset="0"/>
                <a:cs typeface="Times New Roman" panose="02020603050405020304" pitchFamily="18" charset="0"/>
              </a:rPr>
              <a:t>INDIACom</a:t>
            </a:r>
            <a:r>
              <a:rPr lang="en-IN" i="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(pp. 1544-1551). IEEE.</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rPr>
              <a:t>Reddy, V., Sunitha, R., Anusha, M., Chaitra, S. and Kumar, A.P., 2024, December. </a:t>
            </a:r>
            <a:r>
              <a:rPr lang="en-IN" b="1" dirty="0">
                <a:latin typeface="Times New Roman" panose="02020603050405020304" pitchFamily="18" charset="0"/>
                <a:cs typeface="Times New Roman" panose="02020603050405020304" pitchFamily="18" charset="0"/>
              </a:rPr>
              <a:t>Artificial Intelligence Based Intrusion Detection Systems.</a:t>
            </a:r>
            <a:r>
              <a:rPr lang="en-IN" dirty="0">
                <a:latin typeface="Times New Roman" panose="02020603050405020304" pitchFamily="18" charset="0"/>
                <a:cs typeface="Times New Roman" panose="02020603050405020304" pitchFamily="18" charset="0"/>
              </a:rPr>
              <a:t> In </a:t>
            </a:r>
            <a:r>
              <a:rPr lang="en-IN" i="1" dirty="0">
                <a:latin typeface="Times New Roman" panose="02020603050405020304" pitchFamily="18" charset="0"/>
                <a:cs typeface="Times New Roman" panose="02020603050405020304" pitchFamily="18" charset="0"/>
              </a:rPr>
              <a:t>2024 4th International Conference on Mobile Networks and Wireless Communications (ICMNWC)</a:t>
            </a:r>
            <a:r>
              <a:rPr lang="en-IN" dirty="0">
                <a:latin typeface="Times New Roman" panose="02020603050405020304" pitchFamily="18" charset="0"/>
                <a:cs typeface="Times New Roman" panose="02020603050405020304" pitchFamily="18" charset="0"/>
              </a:rPr>
              <a:t> (pp. 1-6). IEEE.</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Sur, G., Kim, H., Yoon, S. and Lim, H., 2023, December. </a:t>
            </a:r>
            <a:r>
              <a:rPr lang="en-US" b="1" dirty="0">
                <a:latin typeface="Times New Roman" panose="02020603050405020304" pitchFamily="18" charset="0"/>
                <a:cs typeface="Times New Roman" panose="02020603050405020304" pitchFamily="18" charset="0"/>
              </a:rPr>
              <a:t>Development of AI-based Intrusion Detection System with Real-Time Flow Feature Extraction. </a:t>
            </a:r>
            <a:r>
              <a:rPr lang="en-US" dirty="0">
                <a:latin typeface="Times New Roman" panose="02020603050405020304" pitchFamily="18" charset="0"/>
                <a:cs typeface="Times New Roman" panose="02020603050405020304" pitchFamily="18" charset="0"/>
              </a:rPr>
              <a:t>In </a:t>
            </a:r>
            <a:r>
              <a:rPr lang="en-US" i="1" dirty="0">
                <a:latin typeface="Times New Roman" panose="02020603050405020304" pitchFamily="18" charset="0"/>
                <a:cs typeface="Times New Roman" panose="02020603050405020304" pitchFamily="18" charset="0"/>
              </a:rPr>
              <a:t>2023 IEEE International Conference on Big Data (</a:t>
            </a:r>
            <a:r>
              <a:rPr lang="en-US" i="1" dirty="0" err="1">
                <a:latin typeface="Times New Roman" panose="02020603050405020304" pitchFamily="18" charset="0"/>
                <a:cs typeface="Times New Roman" panose="02020603050405020304" pitchFamily="18" charset="0"/>
              </a:rPr>
              <a:t>BigData</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(pp. 6289-6291). IEEE.</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 </a:t>
            </a:r>
            <a:r>
              <a:rPr lang="en-IN" dirty="0" err="1">
                <a:latin typeface="Times New Roman" panose="02020603050405020304" pitchFamily="18" charset="0"/>
                <a:cs typeface="Times New Roman" panose="02020603050405020304" pitchFamily="18" charset="0"/>
              </a:rPr>
              <a:t>Bagmar</a:t>
            </a:r>
            <a:r>
              <a:rPr lang="en-IN" dirty="0">
                <a:latin typeface="Times New Roman" panose="02020603050405020304" pitchFamily="18" charset="0"/>
                <a:cs typeface="Times New Roman" panose="02020603050405020304" pitchFamily="18" charset="0"/>
              </a:rPr>
              <a:t>, V. and Joshi, D., 2025, June</a:t>
            </a:r>
            <a:r>
              <a:rPr lang="en-IN" b="1" dirty="0">
                <a:latin typeface="Times New Roman" panose="02020603050405020304" pitchFamily="18" charset="0"/>
                <a:cs typeface="Times New Roman" panose="02020603050405020304" pitchFamily="18" charset="0"/>
              </a:rPr>
              <a:t>. AI-Driven Real-Time Network Intrusion Detection using Machine Learning and Deep Learning.</a:t>
            </a:r>
            <a:r>
              <a:rPr lang="en-IN" dirty="0">
                <a:latin typeface="Times New Roman" panose="02020603050405020304" pitchFamily="18" charset="0"/>
                <a:cs typeface="Times New Roman" panose="02020603050405020304" pitchFamily="18" charset="0"/>
              </a:rPr>
              <a:t> In </a:t>
            </a:r>
            <a:r>
              <a:rPr lang="en-IN" i="1" dirty="0">
                <a:latin typeface="Times New Roman" panose="02020603050405020304" pitchFamily="18" charset="0"/>
                <a:cs typeface="Times New Roman" panose="02020603050405020304" pitchFamily="18" charset="0"/>
              </a:rPr>
              <a:t>2025 3rd International Conference on Self Sustainable Artificial Intelligence Systems (ICSSAS)</a:t>
            </a:r>
            <a:r>
              <a:rPr lang="en-IN" dirty="0">
                <a:latin typeface="Times New Roman" panose="02020603050405020304" pitchFamily="18" charset="0"/>
                <a:cs typeface="Times New Roman" panose="02020603050405020304" pitchFamily="18" charset="0"/>
              </a:rPr>
              <a:t> (pp. 1569-1574). IEEE.</a:t>
            </a:r>
          </a:p>
          <a:p>
            <a:endParaRPr lang="en-US"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09F4F69F-3204-A139-9B8F-2883EAB1F21C}"/>
              </a:ext>
            </a:extLst>
          </p:cNvPr>
          <p:cNvCxnSpPr>
            <a:cxnSpLocks/>
          </p:cNvCxnSpPr>
          <p:nvPr/>
        </p:nvCxnSpPr>
        <p:spPr>
          <a:xfrm>
            <a:off x="423256" y="1111951"/>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CAAC6BD4-0F51-2D05-32CC-EDC7FE53E8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475" b="26037"/>
          <a:stretch>
            <a:fillRect/>
          </a:stretch>
        </p:blipFill>
        <p:spPr bwMode="auto">
          <a:xfrm>
            <a:off x="9395113" y="269666"/>
            <a:ext cx="2286000" cy="6754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5E4E652-6829-FADB-F78B-507377E3DFE1}"/>
              </a:ext>
            </a:extLst>
          </p:cNvPr>
          <p:cNvSpPr txBox="1"/>
          <p:nvPr/>
        </p:nvSpPr>
        <p:spPr>
          <a:xfrm>
            <a:off x="423256" y="376574"/>
            <a:ext cx="2286001"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REFERENCES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1419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6578D-18DC-2F41-6853-117967DBF9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C23E8F-B521-C0B7-BB29-4983AB60BC01}"/>
              </a:ext>
            </a:extLst>
          </p:cNvPr>
          <p:cNvSpPr txBox="1"/>
          <p:nvPr/>
        </p:nvSpPr>
        <p:spPr>
          <a:xfrm>
            <a:off x="586146" y="1228270"/>
            <a:ext cx="10626289" cy="4801314"/>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[5] </a:t>
            </a:r>
            <a:r>
              <a:rPr lang="en-IN" dirty="0">
                <a:latin typeface="Times New Roman" panose="02020603050405020304" pitchFamily="18" charset="0"/>
                <a:cs typeface="Times New Roman" panose="02020603050405020304" pitchFamily="18" charset="0"/>
              </a:rPr>
              <a:t>Chen, J.L., Chen, Z.Z., Chang, Y.S., Li, C.I., Kao, T.I., Lin, Y.T., Xiao, Y.Y. and Qiu, J.F., 2023, February. </a:t>
            </a:r>
            <a:r>
              <a:rPr lang="en-IN" b="1" dirty="0">
                <a:latin typeface="Times New Roman" panose="02020603050405020304" pitchFamily="18" charset="0"/>
                <a:cs typeface="Times New Roman" panose="02020603050405020304" pitchFamily="18" charset="0"/>
              </a:rPr>
              <a:t>AI-Based intrusion detection system for secure AI BOX applications</a:t>
            </a:r>
            <a:r>
              <a:rPr lang="en-IN" dirty="0">
                <a:latin typeface="Times New Roman" panose="02020603050405020304" pitchFamily="18" charset="0"/>
                <a:cs typeface="Times New Roman" panose="02020603050405020304" pitchFamily="18" charset="0"/>
              </a:rPr>
              <a:t>. In </a:t>
            </a:r>
            <a:r>
              <a:rPr lang="en-IN" i="1" dirty="0">
                <a:latin typeface="Times New Roman" panose="02020603050405020304" pitchFamily="18" charset="0"/>
                <a:cs typeface="Times New Roman" panose="02020603050405020304" pitchFamily="18" charset="0"/>
              </a:rPr>
              <a:t>2023 International Conference on Artificial Intelligence in Information and Communication (ICAIIC)</a:t>
            </a:r>
            <a:r>
              <a:rPr lang="en-IN" dirty="0">
                <a:latin typeface="Times New Roman" panose="02020603050405020304" pitchFamily="18" charset="0"/>
                <a:cs typeface="Times New Roman" panose="02020603050405020304" pitchFamily="18" charset="0"/>
              </a:rPr>
              <a:t> (pp. 360-364). IEEE.</a:t>
            </a:r>
            <a:endParaRPr lang="en-IN" i="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[6]</a:t>
            </a:r>
            <a:r>
              <a:rPr lang="en-IN" dirty="0">
                <a:latin typeface="Times New Roman" panose="02020603050405020304" pitchFamily="18" charset="0"/>
                <a:cs typeface="Times New Roman" panose="02020603050405020304" pitchFamily="18" charset="0"/>
              </a:rPr>
              <a:t> Park, C., Lee, J., Kim, Y., Park, J.G., Kim, H. and Hong, D., 2022. </a:t>
            </a:r>
            <a:r>
              <a:rPr lang="en-IN" b="1" dirty="0">
                <a:latin typeface="Times New Roman" panose="02020603050405020304" pitchFamily="18" charset="0"/>
                <a:cs typeface="Times New Roman" panose="02020603050405020304" pitchFamily="18" charset="0"/>
              </a:rPr>
              <a:t>An enhanced AI-based network intrusion detection system using generative adversarial networks.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IEEE Internet of Things Journal</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(3), pp.2330-2345.</a:t>
            </a:r>
          </a:p>
          <a:p>
            <a:endParaRPr lang="en-IN" i="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[7] </a:t>
            </a:r>
            <a:r>
              <a:rPr lang="en-US" dirty="0">
                <a:latin typeface="Times New Roman" panose="02020603050405020304" pitchFamily="18" charset="0"/>
                <a:cs typeface="Times New Roman" panose="02020603050405020304" pitchFamily="18" charset="0"/>
              </a:rPr>
              <a:t>Kim, A., Park, M. and Lee, D.H., 2020. </a:t>
            </a:r>
            <a:r>
              <a:rPr lang="en-US" b="1" dirty="0">
                <a:latin typeface="Times New Roman" panose="02020603050405020304" pitchFamily="18" charset="0"/>
                <a:cs typeface="Times New Roman" panose="02020603050405020304" pitchFamily="18" charset="0"/>
              </a:rPr>
              <a:t>AI-IDS: Application of deep learning to real-time Web intrusion detection. </a:t>
            </a:r>
            <a:r>
              <a:rPr lang="en-US" i="1" dirty="0" err="1">
                <a:latin typeface="Times New Roman" panose="02020603050405020304" pitchFamily="18" charset="0"/>
                <a:cs typeface="Times New Roman" panose="02020603050405020304" pitchFamily="18" charset="0"/>
              </a:rPr>
              <a:t>Ieee</a:t>
            </a:r>
            <a:r>
              <a:rPr lang="en-US" i="1" dirty="0">
                <a:latin typeface="Times New Roman" panose="02020603050405020304" pitchFamily="18" charset="0"/>
                <a:cs typeface="Times New Roman" panose="02020603050405020304" pitchFamily="18" charset="0"/>
              </a:rPr>
              <a:t> Access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8</a:t>
            </a:r>
            <a:r>
              <a:rPr lang="en-US" dirty="0">
                <a:latin typeface="Times New Roman" panose="02020603050405020304" pitchFamily="18" charset="0"/>
                <a:cs typeface="Times New Roman" panose="02020603050405020304" pitchFamily="18" charset="0"/>
              </a:rPr>
              <a:t>, pp.70245-70261.</a:t>
            </a:r>
          </a:p>
          <a:p>
            <a:endParaRPr lang="en-US" i="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[8]</a:t>
            </a:r>
            <a:r>
              <a:rPr lang="en-IN" dirty="0"/>
              <a:t> </a:t>
            </a:r>
            <a:r>
              <a:rPr lang="en-IN" dirty="0">
                <a:latin typeface="Times New Roman" panose="02020603050405020304" pitchFamily="18" charset="0"/>
                <a:cs typeface="Times New Roman" panose="02020603050405020304" pitchFamily="18" charset="0"/>
              </a:rPr>
              <a:t>Sharma, A., Chaudhari, B.B. and </a:t>
            </a:r>
            <a:r>
              <a:rPr lang="en-IN" dirty="0" err="1">
                <a:latin typeface="Times New Roman" panose="02020603050405020304" pitchFamily="18" charset="0"/>
                <a:cs typeface="Times New Roman" panose="02020603050405020304" pitchFamily="18" charset="0"/>
              </a:rPr>
              <a:t>Kabade</a:t>
            </a:r>
            <a:r>
              <a:rPr lang="en-IN" dirty="0">
                <a:latin typeface="Times New Roman" panose="02020603050405020304" pitchFamily="18" charset="0"/>
                <a:cs typeface="Times New Roman" panose="02020603050405020304" pitchFamily="18" charset="0"/>
              </a:rPr>
              <a:t>, S., 2025, July. </a:t>
            </a:r>
            <a:r>
              <a:rPr lang="en-IN" b="1" dirty="0">
                <a:latin typeface="Times New Roman" panose="02020603050405020304" pitchFamily="18" charset="0"/>
                <a:cs typeface="Times New Roman" panose="02020603050405020304" pitchFamily="18" charset="0"/>
              </a:rPr>
              <a:t>Artificial Intelligence-Powered Network Intrusion Detection System (IDS) with Hybrid Deep Learning Approach in Cloud Environments. </a:t>
            </a:r>
            <a:r>
              <a:rPr lang="en-IN" dirty="0">
                <a:latin typeface="Times New Roman" panose="02020603050405020304" pitchFamily="18" charset="0"/>
                <a:cs typeface="Times New Roman" panose="02020603050405020304" pitchFamily="18" charset="0"/>
              </a:rPr>
              <a:t>In </a:t>
            </a:r>
            <a:r>
              <a:rPr lang="en-IN" i="1" dirty="0">
                <a:latin typeface="Times New Roman" panose="02020603050405020304" pitchFamily="18" charset="0"/>
                <a:cs typeface="Times New Roman" panose="02020603050405020304" pitchFamily="18" charset="0"/>
              </a:rPr>
              <a:t>2025 IEEE North-East India International Energy Conversion Conference and Exhibition (NE-IECCE)</a:t>
            </a:r>
            <a:r>
              <a:rPr lang="en-IN" dirty="0">
                <a:latin typeface="Times New Roman" panose="02020603050405020304" pitchFamily="18" charset="0"/>
                <a:cs typeface="Times New Roman" panose="02020603050405020304" pitchFamily="18" charset="0"/>
              </a:rPr>
              <a:t> (pp. 1-6). IEEE.</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[9] </a:t>
            </a:r>
            <a:r>
              <a:rPr lang="en-US" dirty="0" err="1">
                <a:latin typeface="Times New Roman" panose="02020603050405020304" pitchFamily="18" charset="0"/>
                <a:cs typeface="Times New Roman" panose="02020603050405020304" pitchFamily="18" charset="0"/>
              </a:rPr>
              <a:t>Kipongo</a:t>
            </a:r>
            <a:r>
              <a:rPr lang="en-US" dirty="0">
                <a:latin typeface="Times New Roman" panose="02020603050405020304" pitchFamily="18" charset="0"/>
                <a:cs typeface="Times New Roman" panose="02020603050405020304" pitchFamily="18" charset="0"/>
              </a:rPr>
              <a:t>, J., Swart, T.G. and </a:t>
            </a:r>
            <a:r>
              <a:rPr lang="en-US" dirty="0" err="1">
                <a:latin typeface="Times New Roman" panose="02020603050405020304" pitchFamily="18" charset="0"/>
                <a:cs typeface="Times New Roman" panose="02020603050405020304" pitchFamily="18" charset="0"/>
              </a:rPr>
              <a:t>Esenogho</a:t>
            </a:r>
            <a:r>
              <a:rPr lang="en-US" dirty="0">
                <a:latin typeface="Times New Roman" panose="02020603050405020304" pitchFamily="18" charset="0"/>
                <a:cs typeface="Times New Roman" panose="02020603050405020304" pitchFamily="18" charset="0"/>
              </a:rPr>
              <a:t>, E., 2023. </a:t>
            </a:r>
            <a:r>
              <a:rPr lang="en-US" b="1" dirty="0">
                <a:latin typeface="Times New Roman" panose="02020603050405020304" pitchFamily="18" charset="0"/>
                <a:cs typeface="Times New Roman" panose="02020603050405020304" pitchFamily="18" charset="0"/>
              </a:rPr>
              <a:t>Artificial intelligence-based intrusion detection and prevention in edge-assisted SDWSN with modified honeycomb structure. </a:t>
            </a:r>
            <a:r>
              <a:rPr lang="en-US" i="1" dirty="0">
                <a:latin typeface="Times New Roman" panose="02020603050405020304" pitchFamily="18" charset="0"/>
                <a:cs typeface="Times New Roman" panose="02020603050405020304" pitchFamily="18" charset="0"/>
              </a:rPr>
              <a:t>IEEE access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12</a:t>
            </a:r>
            <a:r>
              <a:rPr lang="en-US" dirty="0">
                <a:latin typeface="Times New Roman" panose="02020603050405020304" pitchFamily="18" charset="0"/>
                <a:cs typeface="Times New Roman" panose="02020603050405020304" pitchFamily="18" charset="0"/>
              </a:rPr>
              <a:t>, pp.3140-3175.</a:t>
            </a:r>
          </a:p>
        </p:txBody>
      </p:sp>
      <p:cxnSp>
        <p:nvCxnSpPr>
          <p:cNvPr id="4" name="Straight Connector 3">
            <a:extLst>
              <a:ext uri="{FF2B5EF4-FFF2-40B4-BE49-F238E27FC236}">
                <a16:creationId xmlns:a16="http://schemas.microsoft.com/office/drawing/2014/main" id="{596A0751-FC81-CA3D-4713-09BD545A1802}"/>
              </a:ext>
            </a:extLst>
          </p:cNvPr>
          <p:cNvCxnSpPr>
            <a:cxnSpLocks/>
          </p:cNvCxnSpPr>
          <p:nvPr/>
        </p:nvCxnSpPr>
        <p:spPr>
          <a:xfrm>
            <a:off x="586146" y="1123748"/>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17836076-66D0-D431-F022-1BE5524BCB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959" b="28109"/>
          <a:stretch>
            <a:fillRect/>
          </a:stretch>
        </p:blipFill>
        <p:spPr bwMode="auto">
          <a:xfrm>
            <a:off x="9208174" y="291644"/>
            <a:ext cx="2286000" cy="63909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79BEA80-F1E1-0534-3A65-3F60FE223E3D}"/>
              </a:ext>
            </a:extLst>
          </p:cNvPr>
          <p:cNvSpPr txBox="1"/>
          <p:nvPr/>
        </p:nvSpPr>
        <p:spPr>
          <a:xfrm>
            <a:off x="275303" y="484070"/>
            <a:ext cx="262076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REFERENCES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38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262A7-2133-3309-E7E1-D85823F37D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0BAB0E-128A-7BE9-00F6-CC37145061CC}"/>
              </a:ext>
            </a:extLst>
          </p:cNvPr>
          <p:cNvSpPr txBox="1"/>
          <p:nvPr/>
        </p:nvSpPr>
        <p:spPr>
          <a:xfrm>
            <a:off x="704789" y="1592063"/>
            <a:ext cx="10626289" cy="203132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2"/>
              </a:rPr>
              <a:t>https://ieeexplore.ieee.org/Xplore/home.jsp</a:t>
            </a:r>
            <a:endParaRPr lang="en-IN" dirty="0">
              <a:latin typeface="Times New Roman" panose="02020603050405020304" pitchFamily="18" charset="0"/>
              <a:cs typeface="Times New Roman" panose="02020603050405020304" pitchFamily="18" charset="0"/>
            </a:endParaRPr>
          </a:p>
          <a:p>
            <a:r>
              <a:rPr lang="en-IN" b="1" dirty="0"/>
              <a:t>[</a:t>
            </a:r>
            <a:r>
              <a:rPr lang="en-IN" b="1" dirty="0">
                <a:latin typeface="Times New Roman" panose="02020603050405020304" pitchFamily="18" charset="0"/>
                <a:cs typeface="Times New Roman" panose="02020603050405020304" pitchFamily="18" charset="0"/>
              </a:rPr>
              <a:t>11]</a:t>
            </a:r>
            <a:r>
              <a:rPr lang="en-IN"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hlinkClick r:id="rId3"/>
              </a:rPr>
              <a:t>Canadian Institute for Cybersecurity (CIC)</a:t>
            </a:r>
            <a:r>
              <a:rPr lang="en-IN" u="sng" dirty="0">
                <a:latin typeface="Times New Roman" panose="02020603050405020304" pitchFamily="18" charset="0"/>
                <a:cs typeface="Times New Roman" panose="02020603050405020304" pitchFamily="18" charset="0"/>
                <a:hlinkClick r:id="rId3"/>
              </a:rPr>
              <a:t>, "Intrusion Detection Evaluation Dataset (CICIDS2017)," University of New Brunswick</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i="1" dirty="0"/>
          </a:p>
        </p:txBody>
      </p:sp>
      <p:cxnSp>
        <p:nvCxnSpPr>
          <p:cNvPr id="4" name="Straight Connector 3">
            <a:extLst>
              <a:ext uri="{FF2B5EF4-FFF2-40B4-BE49-F238E27FC236}">
                <a16:creationId xmlns:a16="http://schemas.microsoft.com/office/drawing/2014/main" id="{5079C8CB-436F-8A61-6293-770187F6ED03}"/>
              </a:ext>
            </a:extLst>
          </p:cNvPr>
          <p:cNvCxnSpPr>
            <a:cxnSpLocks/>
          </p:cNvCxnSpPr>
          <p:nvPr/>
        </p:nvCxnSpPr>
        <p:spPr>
          <a:xfrm>
            <a:off x="501054" y="1446247"/>
            <a:ext cx="10993120" cy="0"/>
          </a:xfrm>
          <a:prstGeom prst="line">
            <a:avLst/>
          </a:prstGeom>
          <a:ln w="38100">
            <a:solidFill>
              <a:schemeClr val="accent2">
                <a:lumMod val="75000"/>
              </a:schemeClr>
            </a:solidFill>
          </a:ln>
        </p:spPr>
        <p:style>
          <a:lnRef idx="1">
            <a:schemeClr val="accent2"/>
          </a:lnRef>
          <a:fillRef idx="0">
            <a:schemeClr val="accent2"/>
          </a:fillRef>
          <a:effectRef idx="0">
            <a:schemeClr val="accent2"/>
          </a:effectRef>
          <a:fontRef idx="minor">
            <a:schemeClr val="tx1"/>
          </a:fontRef>
        </p:style>
      </p:cxnSp>
      <p:pic>
        <p:nvPicPr>
          <p:cNvPr id="5" name="Picture 2">
            <a:extLst>
              <a:ext uri="{FF2B5EF4-FFF2-40B4-BE49-F238E27FC236}">
                <a16:creationId xmlns:a16="http://schemas.microsoft.com/office/drawing/2014/main" id="{B601E992-3856-59CE-30D5-E18070178A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4946" y="0"/>
            <a:ext cx="2286000" cy="142239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A2A16EB-ADAA-D109-246E-4974D6D4DB2C}"/>
              </a:ext>
            </a:extLst>
          </p:cNvPr>
          <p:cNvSpPr txBox="1"/>
          <p:nvPr/>
        </p:nvSpPr>
        <p:spPr>
          <a:xfrm>
            <a:off x="501054" y="680842"/>
            <a:ext cx="2286001"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REFERENCES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387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58226-FCED-E1BC-9C4E-450052F30D1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5751EBD-4734-0385-9F82-991CF51FB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840" y="2073559"/>
            <a:ext cx="2231776" cy="2494280"/>
          </a:xfrm>
          <a:prstGeom prst="rect">
            <a:avLst/>
          </a:prstGeom>
        </p:spPr>
      </p:pic>
      <p:grpSp>
        <p:nvGrpSpPr>
          <p:cNvPr id="5" name="Group 4">
            <a:extLst>
              <a:ext uri="{FF2B5EF4-FFF2-40B4-BE49-F238E27FC236}">
                <a16:creationId xmlns:a16="http://schemas.microsoft.com/office/drawing/2014/main" id="{1E9EB068-4DBB-5E22-E912-D0B896F6C1D5}"/>
              </a:ext>
            </a:extLst>
          </p:cNvPr>
          <p:cNvGrpSpPr/>
          <p:nvPr/>
        </p:nvGrpSpPr>
        <p:grpSpPr>
          <a:xfrm>
            <a:off x="864353" y="4310488"/>
            <a:ext cx="2312480" cy="1935486"/>
            <a:chOff x="0" y="0"/>
            <a:chExt cx="1066895" cy="1078155"/>
          </a:xfrm>
          <a:solidFill>
            <a:schemeClr val="accent2">
              <a:lumMod val="75000"/>
            </a:schemeClr>
          </a:solidFill>
        </p:grpSpPr>
        <p:sp>
          <p:nvSpPr>
            <p:cNvPr id="6" name="Rectangle 5">
              <a:extLst>
                <a:ext uri="{FF2B5EF4-FFF2-40B4-BE49-F238E27FC236}">
                  <a16:creationId xmlns:a16="http://schemas.microsoft.com/office/drawing/2014/main" id="{C5235E13-D370-E49C-6C97-311A5E5B0985}"/>
                </a:ext>
              </a:extLst>
            </p:cNvPr>
            <p:cNvSpPr/>
            <p:nvPr/>
          </p:nvSpPr>
          <p:spPr>
            <a:xfrm rot="5400000">
              <a:off x="510588" y="521848"/>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7" name="Rectangle 6">
              <a:extLst>
                <a:ext uri="{FF2B5EF4-FFF2-40B4-BE49-F238E27FC236}">
                  <a16:creationId xmlns:a16="http://schemas.microsoft.com/office/drawing/2014/main" id="{92114E14-07BA-96BC-C52B-773BDC0859D0}"/>
                </a:ext>
              </a:extLst>
            </p:cNvPr>
            <p:cNvSpPr/>
            <p:nvPr/>
          </p:nvSpPr>
          <p:spPr>
            <a:xfrm rot="10800000">
              <a:off x="0" y="0"/>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pSp>
      <p:grpSp>
        <p:nvGrpSpPr>
          <p:cNvPr id="8" name="Group 7">
            <a:extLst>
              <a:ext uri="{FF2B5EF4-FFF2-40B4-BE49-F238E27FC236}">
                <a16:creationId xmlns:a16="http://schemas.microsoft.com/office/drawing/2014/main" id="{E0684C9B-780F-D8E6-5119-9183F332D522}"/>
              </a:ext>
            </a:extLst>
          </p:cNvPr>
          <p:cNvGrpSpPr/>
          <p:nvPr/>
        </p:nvGrpSpPr>
        <p:grpSpPr>
          <a:xfrm flipH="1" flipV="1">
            <a:off x="9692638" y="619548"/>
            <a:ext cx="1615439" cy="1531622"/>
            <a:chOff x="0" y="0"/>
            <a:chExt cx="1066895" cy="1078155"/>
          </a:xfrm>
          <a:solidFill>
            <a:schemeClr val="accent2">
              <a:lumMod val="75000"/>
            </a:schemeClr>
          </a:solidFill>
        </p:grpSpPr>
        <p:sp>
          <p:nvSpPr>
            <p:cNvPr id="9" name="Rectangle 8">
              <a:extLst>
                <a:ext uri="{FF2B5EF4-FFF2-40B4-BE49-F238E27FC236}">
                  <a16:creationId xmlns:a16="http://schemas.microsoft.com/office/drawing/2014/main" id="{47B99BF3-B148-5D9D-EC8D-85FA444775F7}"/>
                </a:ext>
              </a:extLst>
            </p:cNvPr>
            <p:cNvSpPr/>
            <p:nvPr/>
          </p:nvSpPr>
          <p:spPr>
            <a:xfrm rot="5400000">
              <a:off x="510588" y="521848"/>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0" name="Rectangle 9">
              <a:extLst>
                <a:ext uri="{FF2B5EF4-FFF2-40B4-BE49-F238E27FC236}">
                  <a16:creationId xmlns:a16="http://schemas.microsoft.com/office/drawing/2014/main" id="{3F789878-37DC-6909-6A9F-2C7DF81B16CB}"/>
                </a:ext>
              </a:extLst>
            </p:cNvPr>
            <p:cNvSpPr/>
            <p:nvPr/>
          </p:nvSpPr>
          <p:spPr>
            <a:xfrm rot="10800000">
              <a:off x="0" y="0"/>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pSp>
      <p:sp>
        <p:nvSpPr>
          <p:cNvPr id="11" name="TextBox 10">
            <a:extLst>
              <a:ext uri="{FF2B5EF4-FFF2-40B4-BE49-F238E27FC236}">
                <a16:creationId xmlns:a16="http://schemas.microsoft.com/office/drawing/2014/main" id="{372DFAE6-B44E-F58B-3119-364131073AEF}"/>
              </a:ext>
            </a:extLst>
          </p:cNvPr>
          <p:cNvSpPr txBox="1"/>
          <p:nvPr/>
        </p:nvSpPr>
        <p:spPr>
          <a:xfrm>
            <a:off x="5200970" y="2997533"/>
            <a:ext cx="6107107"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THANK YOU! </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969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16761</TotalTime>
  <Words>5328</Words>
  <Application>Microsoft Office PowerPoint</Application>
  <PresentationFormat>Widescreen</PresentationFormat>
  <Paragraphs>557</Paragraphs>
  <Slides>49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Aptos</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Meghana P</dc:creator>
  <cp:lastModifiedBy>chaithanyashankar94@outlook.com</cp:lastModifiedBy>
  <cp:revision>122</cp:revision>
  <dcterms:created xsi:type="dcterms:W3CDTF">2025-09-17T16:17:17Z</dcterms:created>
  <dcterms:modified xsi:type="dcterms:W3CDTF">2025-12-30T04:04:58Z</dcterms:modified>
</cp:coreProperties>
</file>